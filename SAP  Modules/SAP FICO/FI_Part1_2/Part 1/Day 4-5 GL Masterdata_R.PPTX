
<file path=[Content_Types].xml><?xml version="1.0" encoding="utf-8"?>
<Types xmlns="http://schemas.openxmlformats.org/package/2006/content-types">
  <Default Extension="png" ContentType="image/png"/>
  <Default Extension="svg" ContentType="image/svg+xml"/>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0"/>
  </p:notesMasterIdLst>
  <p:handoutMasterIdLst>
    <p:handoutMasterId r:id="rId31"/>
  </p:handoutMasterIdLst>
  <p:sldIdLst>
    <p:sldId id="454" r:id="rId5"/>
    <p:sldId id="395" r:id="rId6"/>
    <p:sldId id="396" r:id="rId7"/>
    <p:sldId id="399" r:id="rId8"/>
    <p:sldId id="401" r:id="rId9"/>
    <p:sldId id="403" r:id="rId10"/>
    <p:sldId id="406" r:id="rId11"/>
    <p:sldId id="429" r:id="rId12"/>
    <p:sldId id="431" r:id="rId13"/>
    <p:sldId id="433" r:id="rId14"/>
    <p:sldId id="435" r:id="rId15"/>
    <p:sldId id="437" r:id="rId16"/>
    <p:sldId id="439" r:id="rId17"/>
    <p:sldId id="443" r:id="rId18"/>
    <p:sldId id="445" r:id="rId19"/>
    <p:sldId id="447" r:id="rId20"/>
    <p:sldId id="449" r:id="rId21"/>
    <p:sldId id="456" r:id="rId22"/>
    <p:sldId id="457" r:id="rId23"/>
    <p:sldId id="458" r:id="rId24"/>
    <p:sldId id="450" r:id="rId25"/>
    <p:sldId id="451" r:id="rId26"/>
    <p:sldId id="452" r:id="rId27"/>
    <p:sldId id="453" r:id="rId28"/>
    <p:sldId id="389" r:id="rId29"/>
  </p:sldIdLst>
  <p:sldSz cx="9144000" cy="6858000" type="screen4x3"/>
  <p:notesSz cx="6858000" cy="9144000"/>
  <p:defaultTextStyle>
    <a:defPPr>
      <a:defRPr lang="en-US"/>
    </a:defPPr>
    <a:lvl1pPr algn="l"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sz="1400" kern="1200">
        <a:solidFill>
          <a:schemeClr val="tx1"/>
        </a:solidFill>
        <a:latin typeface="Arial" charset="0"/>
        <a:ea typeface="+mn-ea"/>
        <a:cs typeface="+mn-cs"/>
      </a:defRPr>
    </a:lvl2pPr>
    <a:lvl3pPr marL="914400" algn="l" rtl="0" eaLnBrk="0" fontAlgn="base" hangingPunct="0">
      <a:spcBef>
        <a:spcPct val="0"/>
      </a:spcBef>
      <a:spcAft>
        <a:spcPct val="0"/>
      </a:spcAft>
      <a:defRPr sz="1400" kern="1200">
        <a:solidFill>
          <a:schemeClr val="tx1"/>
        </a:solidFill>
        <a:latin typeface="Arial" charset="0"/>
        <a:ea typeface="+mn-ea"/>
        <a:cs typeface="+mn-cs"/>
      </a:defRPr>
    </a:lvl3pPr>
    <a:lvl4pPr marL="1371600" algn="l" rtl="0" eaLnBrk="0" fontAlgn="base" hangingPunct="0">
      <a:spcBef>
        <a:spcPct val="0"/>
      </a:spcBef>
      <a:spcAft>
        <a:spcPct val="0"/>
      </a:spcAft>
      <a:defRPr sz="1400" kern="1200">
        <a:solidFill>
          <a:schemeClr val="tx1"/>
        </a:solidFill>
        <a:latin typeface="Arial" charset="0"/>
        <a:ea typeface="+mn-ea"/>
        <a:cs typeface="+mn-cs"/>
      </a:defRPr>
    </a:lvl4pPr>
    <a:lvl5pPr marL="1828800" algn="l" rtl="0" eaLnBrk="0" fontAlgn="base" hangingPunct="0">
      <a:spcBef>
        <a:spcPct val="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33"/>
    <a:srgbClr val="99CCFF"/>
    <a:srgbClr val="CCFFCC"/>
    <a:srgbClr val="FFCCFF"/>
    <a:srgbClr val="00FFCC"/>
    <a:srgbClr val="FFFF99"/>
    <a:srgbClr val="CCCCFF"/>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p:restoredLeft sz="5457" autoAdjust="0"/>
    <p:restoredTop sz="99834" autoAdjust="0"/>
  </p:normalViewPr>
  <p:slideViewPr>
    <p:cSldViewPr>
      <p:cViewPr varScale="1">
        <p:scale>
          <a:sx n="67" d="100"/>
          <a:sy n="67" d="100"/>
        </p:scale>
        <p:origin x="1600"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00"/>
    </p:cViewPr>
  </p:sorterViewPr>
  <p:notesViewPr>
    <p:cSldViewPr>
      <p:cViewPr varScale="1">
        <p:scale>
          <a:sx n="53" d="100"/>
          <a:sy n="53" d="100"/>
        </p:scale>
        <p:origin x="-183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idx="2"/>
          </p:nvPr>
        </p:nvSpPr>
        <p:spPr bwMode="auto">
          <a:xfrm>
            <a:off x="1149350" y="692150"/>
            <a:ext cx="4559300" cy="3416300"/>
          </a:xfrm>
          <a:prstGeom prst="rect">
            <a:avLst/>
          </a:prstGeom>
          <a:noFill/>
          <a:ln w="12700">
            <a:solidFill>
              <a:srgbClr val="000000"/>
            </a:solidFill>
            <a:miter lim="800000"/>
            <a:headEnd/>
            <a:tailEnd/>
          </a:ln>
        </p:spPr>
      </p:sp>
      <p:sp>
        <p:nvSpPr>
          <p:cNvPr id="2051" name="Rectangle 3"/>
          <p:cNvSpPr>
            <a:spLocks noGrp="1" noChangeArrowheads="1"/>
          </p:cNvSpPr>
          <p:nvPr>
            <p:ph type="body" sz="quarter" idx="3"/>
          </p:nvPr>
        </p:nvSpPr>
        <p:spPr bwMode="auto">
          <a:xfrm>
            <a:off x="914400" y="4343400"/>
            <a:ext cx="5029200" cy="4114800"/>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SAPEVENT:DOCU_LINK\GL:currency"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1643050" y="4100538"/>
            <a:ext cx="4500594" cy="4114800"/>
          </a:xfrm>
          <a:prstGeom prst="rect">
            <a:avLst/>
          </a:prstGeom>
        </p:spPr>
        <p:txBody>
          <a:bodyPr>
            <a:normAutofit fontScale="77500" lnSpcReduction="20000"/>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©2016 Capgemini. All rights reserved.</a:t>
            </a:r>
            <a:br>
              <a:rPr lang="en-US" dirty="0"/>
            </a:br>
            <a:r>
              <a:rPr lang="en-US" dirty="0"/>
              <a:t>The information contained in this document is proprietary and confidential. For Capgemini only.</a:t>
            </a:r>
          </a:p>
        </p:txBody>
      </p:sp>
      <p:sp>
        <p:nvSpPr>
          <p:cNvPr id="5" name="Slide Image Placeholder 4"/>
          <p:cNvSpPr>
            <a:spLocks noGrp="1" noRot="1" noChangeAspect="1"/>
          </p:cNvSpPr>
          <p:nvPr>
            <p:ph type="sldImg"/>
          </p:nvPr>
        </p:nvSpPr>
        <p:spPr>
          <a:xfrm>
            <a:off x="1571625" y="428625"/>
            <a:ext cx="4572000" cy="3429000"/>
          </a:xfrm>
        </p:spPr>
      </p:sp>
    </p:spTree>
    <p:extLst>
      <p:ext uri="{BB962C8B-B14F-4D97-AF65-F5344CB8AC3E}">
        <p14:creationId xmlns:p14="http://schemas.microsoft.com/office/powerpoint/2010/main" val="22197614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xfrm>
            <a:off x="1150938" y="692150"/>
            <a:ext cx="4556125" cy="3416300"/>
          </a:xfrm>
          <a:ln/>
        </p:spPr>
      </p:sp>
      <p:sp>
        <p:nvSpPr>
          <p:cNvPr id="64515"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a:xfrm>
            <a:off x="1150938" y="692150"/>
            <a:ext cx="4556125" cy="3416300"/>
          </a:xfrm>
          <a:ln/>
        </p:spPr>
      </p:sp>
      <p:sp>
        <p:nvSpPr>
          <p:cNvPr id="65539" name="Rectangle 3"/>
          <p:cNvSpPr>
            <a:spLocks noGrp="1" noChangeArrowheads="1"/>
          </p:cNvSpPr>
          <p:nvPr>
            <p:ph type="body" idx="1"/>
          </p:nvPr>
        </p:nvSpPr>
        <p:spPr>
          <a:noFill/>
          <a:ln w="9525"/>
        </p:spPr>
        <p:txBody>
          <a:bodyPr/>
          <a:lstStyle/>
          <a:p>
            <a:r>
              <a:rPr lang="en-US"/>
              <a:t>The </a:t>
            </a:r>
            <a:r>
              <a:rPr lang="en-US" b="1"/>
              <a:t>maintenance language </a:t>
            </a:r>
            <a:r>
              <a:rPr lang="en-US"/>
              <a:t>is the language in which account descriptions are maintained.</a:t>
            </a:r>
          </a:p>
          <a:p>
            <a:pPr lvl="1"/>
            <a:r>
              <a:rPr lang="en-US"/>
              <a:t>The </a:t>
            </a:r>
            <a:r>
              <a:rPr lang="en-US" b="1"/>
              <a:t>length of the G/L account number </a:t>
            </a:r>
            <a:r>
              <a:rPr lang="en-US"/>
              <a:t>can be from 1 to 10 digits.</a:t>
            </a:r>
          </a:p>
          <a:p>
            <a:pPr lvl="1"/>
            <a:r>
              <a:rPr lang="en-US"/>
              <a:t>Using the type of integration between G/L accounts and cost elements, you can control how the cost element master data is maintained when maintaining the master records of G/L accounts. You can manually maintain the cost elements, but it is also possible to have the cost elements automatically be created when creating G/L accounts. However, this is only possible if a default value has been entered for the cost element type, since the system assume that no cost element needs to be created if no default value exists.</a:t>
            </a:r>
          </a:p>
          <a:p>
            <a:r>
              <a:rPr lang="en-US"/>
              <a:t>A group account number can be entered into a G/L-account. This group account number is used for reporting across company codes which use different charts of accounts. If a </a:t>
            </a:r>
            <a:r>
              <a:rPr lang="en-US" b="1"/>
              <a:t>group chart of accounts </a:t>
            </a:r>
            <a:r>
              <a:rPr lang="en-US"/>
              <a:t>is entered into the chart of accounts, the system makes this field a required entry in the G/L master account and verifies that the group account number entered exists in the group chart of accounts.</a:t>
            </a:r>
          </a:p>
          <a:p>
            <a:r>
              <a:rPr lang="en-US"/>
              <a:t>A chart of accounts which is not yet completed can </a:t>
            </a:r>
            <a:r>
              <a:rPr lang="en-US" b="1"/>
              <a:t>be blocked </a:t>
            </a:r>
            <a:r>
              <a:rPr lang="en-US"/>
              <a:t>so that no company code can use it until ready.</a:t>
            </a:r>
          </a:p>
          <a:p>
            <a:r>
              <a:rPr lang="en-US"/>
              <a:t>You can create a directory of G/L accounts in your chart of accounts for information or</a:t>
            </a:r>
          </a:p>
          <a:p>
            <a:r>
              <a:rPr lang="en-US"/>
              <a:t>documentation purposes using the program </a:t>
            </a:r>
            <a:r>
              <a:rPr lang="en-US" b="1"/>
              <a:t>RFSKPL00</a:t>
            </a:r>
            <a:r>
              <a:rPr lang="en-US"/>
              <a:t>. The G/L chart of accounts is used to</a:t>
            </a:r>
          </a:p>
          <a:p>
            <a:r>
              <a:rPr lang="en-US"/>
              <a:t>display G/L account master records and for printing G/L account lists</a:t>
            </a:r>
          </a:p>
          <a:p>
            <a:endParaRPr lang="en-US"/>
          </a:p>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1150938" y="692150"/>
            <a:ext cx="4556125" cy="3416300"/>
          </a:xfrm>
          <a:ln/>
        </p:spPr>
      </p:sp>
      <p:sp>
        <p:nvSpPr>
          <p:cNvPr id="66563"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xfrm>
            <a:off x="1150938" y="692150"/>
            <a:ext cx="4556125" cy="3416300"/>
          </a:xfrm>
          <a:ln/>
        </p:spPr>
      </p:sp>
      <p:sp>
        <p:nvSpPr>
          <p:cNvPr id="67587"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xfrm>
            <a:off x="1150938" y="692150"/>
            <a:ext cx="4556125" cy="3416300"/>
          </a:xfrm>
          <a:ln/>
        </p:spPr>
      </p:sp>
      <p:sp>
        <p:nvSpPr>
          <p:cNvPr id="75779" name="Rectangle 3"/>
          <p:cNvSpPr>
            <a:spLocks noGrp="1" noChangeArrowheads="1"/>
          </p:cNvSpPr>
          <p:nvPr>
            <p:ph type="body" idx="1"/>
          </p:nvPr>
        </p:nvSpPr>
        <p:spPr>
          <a:noFill/>
          <a:ln w="9525"/>
        </p:spPr>
        <p:txBody>
          <a:bodyPr/>
          <a:lstStyle/>
          <a:p>
            <a:r>
              <a:rPr lang="en-US"/>
              <a:t>The GL account master record is divided into two segments: A chart of accounts segment and a company code segment.</a:t>
            </a:r>
          </a:p>
          <a:p>
            <a:r>
              <a:rPr lang="en-US"/>
              <a:t>The chart of accounts area contains the data that is valid for all company codes, such as the account number.</a:t>
            </a:r>
          </a:p>
          <a:p>
            <a:r>
              <a:rPr lang="en-US"/>
              <a:t>The company code specific area contains data that may vary from one company code to another, such as the currency in which the account may be posted.</a:t>
            </a:r>
          </a:p>
          <a:p>
            <a:r>
              <a:rPr lang="en-GB"/>
              <a:t>The result is that individual company codes can control their business processing requirements, yet the common chart of accounts provides reporting capabilities across company codes.</a:t>
            </a:r>
            <a:endParaRPr lang="en-US"/>
          </a:p>
          <a:p>
            <a:r>
              <a:rPr lang="en-US"/>
              <a:t>There are available three different transactions to create a new GL account: </a:t>
            </a:r>
          </a:p>
          <a:p>
            <a:pPr lvl="1"/>
            <a:r>
              <a:rPr lang="en-US"/>
              <a:t>FS00: centrally</a:t>
            </a:r>
          </a:p>
          <a:p>
            <a:pPr lvl="1"/>
            <a:r>
              <a:rPr lang="en-US"/>
              <a:t>FSP0: in chart of accounts (only)</a:t>
            </a:r>
          </a:p>
          <a:p>
            <a:pPr lvl="1"/>
            <a:r>
              <a:rPr lang="en-US"/>
              <a:t>FSS0: in company code</a:t>
            </a:r>
          </a:p>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xfrm>
            <a:off x="1150938" y="692150"/>
            <a:ext cx="4556125" cy="3416300"/>
          </a:xfrm>
          <a:ln/>
        </p:spPr>
      </p:sp>
      <p:sp>
        <p:nvSpPr>
          <p:cNvPr id="76803"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xfrm>
            <a:off x="1150938" y="692150"/>
            <a:ext cx="4556125" cy="3416300"/>
          </a:xfrm>
          <a:ln/>
        </p:spPr>
      </p:sp>
      <p:sp>
        <p:nvSpPr>
          <p:cNvPr id="77827" name="Rectangle 3"/>
          <p:cNvSpPr>
            <a:spLocks noGrp="1" noChangeArrowheads="1"/>
          </p:cNvSpPr>
          <p:nvPr>
            <p:ph type="body" idx="1"/>
          </p:nvPr>
        </p:nvSpPr>
        <p:spPr>
          <a:noFill/>
          <a:ln w="9525"/>
        </p:spPr>
        <p:txBody>
          <a:bodyPr/>
          <a:lstStyle/>
          <a:p>
            <a:r>
              <a:rPr lang="en-US"/>
              <a:t>Different types of accounts can be bundled into different “account groups”. Usually one account group bundles accounts with the same tasks within the general ledger</a:t>
            </a:r>
          </a:p>
          <a:p>
            <a:r>
              <a:rPr lang="en-US"/>
              <a:t> By assigning a number range to an account group, you can ensure that accounts of the same type are within the same number range. Number intervals for G/L account master records can overlap.  </a:t>
            </a:r>
          </a:p>
          <a:p>
            <a:endParaRPr lang="en-US"/>
          </a:p>
          <a:p>
            <a:endParaRPr lang="en-US"/>
          </a:p>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1150938" y="692150"/>
            <a:ext cx="4556125" cy="3416300"/>
          </a:xfrm>
          <a:ln/>
        </p:spPr>
      </p:sp>
      <p:sp>
        <p:nvSpPr>
          <p:cNvPr id="78851"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xfrm>
            <a:off x="1150938" y="692150"/>
            <a:ext cx="4556125" cy="3416300"/>
          </a:xfrm>
          <a:ln/>
        </p:spPr>
      </p:sp>
      <p:sp>
        <p:nvSpPr>
          <p:cNvPr id="79875" name="Rectangle 3"/>
          <p:cNvSpPr>
            <a:spLocks noGrp="1" noChangeArrowheads="1"/>
          </p:cNvSpPr>
          <p:nvPr>
            <p:ph type="body" idx="1"/>
          </p:nvPr>
        </p:nvSpPr>
        <p:spPr>
          <a:noFill/>
          <a:ln w="9525"/>
        </p:spPr>
        <p:txBody>
          <a:bodyPr/>
          <a:lstStyle/>
          <a:p>
            <a:r>
              <a:rPr lang="en-US"/>
              <a:t>The GL account master record is divided into two segments: A chart of accounts segment and a company code segment.</a:t>
            </a:r>
          </a:p>
          <a:p>
            <a:r>
              <a:rPr lang="en-US"/>
              <a:t>The chart of accounts area contains the data that is valid for all company codes, such as the account number.</a:t>
            </a:r>
          </a:p>
          <a:p>
            <a:r>
              <a:rPr lang="en-US"/>
              <a:t>The company code specific area contains data that may vary from one company code to another, such as the currency in which the account may be posted.</a:t>
            </a:r>
          </a:p>
          <a:p>
            <a:r>
              <a:rPr lang="en-GB"/>
              <a:t>The result is that individual company codes can control their business processing requirements, yet the common chart of accounts provides reporting capabilities across company codes.</a:t>
            </a:r>
            <a:endParaRPr lang="en-US"/>
          </a:p>
          <a:p>
            <a:r>
              <a:rPr lang="en-US"/>
              <a:t>There are available three different transactions to create a new GL account: </a:t>
            </a:r>
          </a:p>
          <a:p>
            <a:pPr lvl="1"/>
            <a:r>
              <a:rPr lang="en-US"/>
              <a:t>FS00: centrally</a:t>
            </a:r>
          </a:p>
          <a:p>
            <a:pPr lvl="1"/>
            <a:r>
              <a:rPr lang="en-US"/>
              <a:t>FSP0: in chart of accounts (only)</a:t>
            </a:r>
          </a:p>
          <a:p>
            <a:pPr lvl="1"/>
            <a:r>
              <a:rPr lang="en-US"/>
              <a:t>FSS0: in company code</a:t>
            </a:r>
          </a:p>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1150938" y="692150"/>
            <a:ext cx="4556125" cy="3416300"/>
          </a:xfrm>
          <a:ln/>
        </p:spPr>
      </p:sp>
      <p:sp>
        <p:nvSpPr>
          <p:cNvPr id="80899"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1150938" y="692150"/>
            <a:ext cx="4556125" cy="3416300"/>
          </a:xfrm>
          <a:ln/>
        </p:spPr>
      </p:sp>
      <p:sp>
        <p:nvSpPr>
          <p:cNvPr id="81923" name="Rectangle 3"/>
          <p:cNvSpPr>
            <a:spLocks noGrp="1" noChangeArrowheads="1"/>
          </p:cNvSpPr>
          <p:nvPr>
            <p:ph type="body" idx="1"/>
          </p:nvPr>
        </p:nvSpPr>
        <p:spPr>
          <a:noFill/>
          <a:ln w="9525"/>
        </p:spPr>
        <p:txBody>
          <a:bodyPr/>
          <a:lstStyle/>
          <a:p>
            <a:r>
              <a:rPr lang="en-US" b="1"/>
              <a:t>Example-Exchange Rate Difference</a:t>
            </a:r>
          </a:p>
          <a:p>
            <a:r>
              <a:rPr lang="en-US"/>
              <a:t>You could have valuation differences posted to the same P&amp;L account for all balance sheet accounts or to different accounts based on the </a:t>
            </a:r>
            <a:r>
              <a:rPr lang="en-US" b="1">
                <a:hlinkClick r:id="rId3"/>
              </a:rPr>
              <a:t>currency</a:t>
            </a:r>
            <a:r>
              <a:rPr lang="en-US"/>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1150938" y="692150"/>
            <a:ext cx="4556125" cy="3416300"/>
          </a:xfrm>
          <a:ln/>
        </p:spPr>
      </p:sp>
      <p:sp>
        <p:nvSpPr>
          <p:cNvPr id="82947"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xfrm>
            <a:off x="1150938" y="692150"/>
            <a:ext cx="4556125" cy="3416300"/>
          </a:xfrm>
          <a:ln/>
        </p:spPr>
      </p:sp>
      <p:sp>
        <p:nvSpPr>
          <p:cNvPr id="83971"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1150938" y="692150"/>
            <a:ext cx="4556125" cy="3416300"/>
          </a:xfrm>
          <a:ln/>
        </p:spPr>
      </p:sp>
      <p:sp>
        <p:nvSpPr>
          <p:cNvPr id="84995"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1150938" y="692150"/>
            <a:ext cx="4556125" cy="3416300"/>
          </a:xfrm>
          <a:ln/>
        </p:spPr>
      </p:sp>
      <p:sp>
        <p:nvSpPr>
          <p:cNvPr id="84995"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3271964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1150938" y="692150"/>
            <a:ext cx="4556125" cy="3416300"/>
          </a:xfrm>
          <a:ln/>
        </p:spPr>
      </p:sp>
      <p:sp>
        <p:nvSpPr>
          <p:cNvPr id="84995"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13465316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1150938" y="692150"/>
            <a:ext cx="4556125" cy="3416300"/>
          </a:xfrm>
          <a:ln/>
        </p:spPr>
      </p:sp>
      <p:sp>
        <p:nvSpPr>
          <p:cNvPr id="84995"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23836937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1150938" y="692150"/>
            <a:ext cx="4556125" cy="3416300"/>
          </a:xfrm>
          <a:ln/>
        </p:spPr>
      </p:sp>
      <p:sp>
        <p:nvSpPr>
          <p:cNvPr id="84995"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12345235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1150938" y="692150"/>
            <a:ext cx="4556125" cy="3416300"/>
          </a:xfrm>
          <a:ln/>
        </p:spPr>
      </p:sp>
      <p:sp>
        <p:nvSpPr>
          <p:cNvPr id="84995"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14018461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1150938" y="692150"/>
            <a:ext cx="4556125" cy="3416300"/>
          </a:xfrm>
          <a:ln/>
        </p:spPr>
      </p:sp>
      <p:sp>
        <p:nvSpPr>
          <p:cNvPr id="84995"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3370365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1150938" y="692150"/>
            <a:ext cx="4556125" cy="3416300"/>
          </a:xfrm>
          <a:ln/>
        </p:spPr>
      </p:sp>
      <p:sp>
        <p:nvSpPr>
          <p:cNvPr id="84995"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38784889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47700" y="1962150"/>
            <a:ext cx="3824288" cy="3981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4388" y="1962150"/>
            <a:ext cx="3824287" cy="3981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04038" y="436563"/>
            <a:ext cx="2182812" cy="55070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52425" y="436563"/>
            <a:ext cx="6399213" cy="55070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52425" y="436563"/>
            <a:ext cx="8734425" cy="671512"/>
          </a:xfrm>
        </p:spPr>
        <p:txBody>
          <a:bodyPr/>
          <a:lstStyle/>
          <a:p>
            <a:r>
              <a:rPr lang="en-US"/>
              <a:t>Click to edit Master title style</a:t>
            </a:r>
          </a:p>
        </p:txBody>
      </p:sp>
      <p:sp>
        <p:nvSpPr>
          <p:cNvPr id="3" name="Content Placeholder 2"/>
          <p:cNvSpPr>
            <a:spLocks noGrp="1"/>
          </p:cNvSpPr>
          <p:nvPr>
            <p:ph sz="half" idx="1"/>
          </p:nvPr>
        </p:nvSpPr>
        <p:spPr>
          <a:xfrm>
            <a:off x="647700" y="1962150"/>
            <a:ext cx="3824288" cy="3981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24388" y="1962150"/>
            <a:ext cx="3824287" cy="191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24388" y="4029075"/>
            <a:ext cx="3824287" cy="191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52425" y="436563"/>
            <a:ext cx="8734425" cy="671512"/>
          </a:xfrm>
        </p:spPr>
        <p:txBody>
          <a:bodyPr/>
          <a:lstStyle/>
          <a:p>
            <a:r>
              <a:rPr lang="en-US"/>
              <a:t>Click to edit Master title style</a:t>
            </a:r>
          </a:p>
        </p:txBody>
      </p:sp>
      <p:sp>
        <p:nvSpPr>
          <p:cNvPr id="3" name="Table Placeholder 2"/>
          <p:cNvSpPr>
            <a:spLocks noGrp="1"/>
          </p:cNvSpPr>
          <p:nvPr>
            <p:ph type="tbl" idx="1"/>
          </p:nvPr>
        </p:nvSpPr>
        <p:spPr>
          <a:xfrm>
            <a:off x="647700" y="1962150"/>
            <a:ext cx="7800975" cy="3981450"/>
          </a:xfrm>
        </p:spPr>
        <p:txBody>
          <a:bodyPr/>
          <a:lstStyle/>
          <a:p>
            <a:pPr lvl="0"/>
            <a:endParaRPr lang="en-US" noProof="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over2">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sz="1400"/>
          </a:p>
        </p:txBody>
      </p:sp>
      <p:pic>
        <p:nvPicPr>
          <p:cNvPr id="6" name="Graphic 17">
            <a:extLst>
              <a:ext uri="{FF2B5EF4-FFF2-40B4-BE49-F238E27FC236}">
                <a16:creationId xmlns:a16="http://schemas.microsoft.com/office/drawing/2014/main" id="{829BBBD1-ECF6-4131-A3B0-11EFC39DB482}"/>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 b="46599"/>
          <a:stretch/>
        </p:blipFill>
        <p:spPr>
          <a:xfrm flipH="1">
            <a:off x="2830286" y="1844825"/>
            <a:ext cx="6313715" cy="5013176"/>
          </a:xfrm>
          <a:prstGeom prst="rect">
            <a:avLst/>
          </a:prstGeom>
        </p:spPr>
      </p:pic>
      <p:pic>
        <p:nvPicPr>
          <p:cNvPr id="5" name="Graphic 9">
            <a:extLst>
              <a:ext uri="{FF2B5EF4-FFF2-40B4-BE49-F238E27FC236}">
                <a16:creationId xmlns:a16="http://schemas.microsoft.com/office/drawing/2014/main" id="{C3D2EC56-D17C-4A75-8178-C69397BC735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5991" y="404814"/>
            <a:ext cx="1714500" cy="510013"/>
          </a:xfrm>
          <a:prstGeom prst="rect">
            <a:avLst/>
          </a:prstGeom>
        </p:spPr>
      </p:pic>
      <p:sp>
        <p:nvSpPr>
          <p:cNvPr id="14" name="Text Placeholder 13">
            <a:extLst>
              <a:ext uri="{FF2B5EF4-FFF2-40B4-BE49-F238E27FC236}">
                <a16:creationId xmlns:a16="http://schemas.microsoft.com/office/drawing/2014/main" id="{4252348C-45B4-48E3-B74B-8E834575C8AA}"/>
              </a:ext>
            </a:extLst>
          </p:cNvPr>
          <p:cNvSpPr>
            <a:spLocks noGrp="1"/>
          </p:cNvSpPr>
          <p:nvPr>
            <p:ph type="body" sz="quarter" idx="10" hasCustomPrompt="1"/>
          </p:nvPr>
        </p:nvSpPr>
        <p:spPr>
          <a:xfrm>
            <a:off x="4788024" y="4157669"/>
            <a:ext cx="4049986" cy="1079500"/>
          </a:xfrm>
        </p:spPr>
        <p:txBody>
          <a:bodyPr anchor="b">
            <a:normAutofit/>
          </a:bodyPr>
          <a:lstStyle>
            <a:lvl1pPr algn="r">
              <a:lnSpc>
                <a:spcPts val="2250"/>
              </a:lnSpc>
              <a:defRPr sz="2000">
                <a:solidFill>
                  <a:schemeClr val="bg1"/>
                </a:solidFill>
              </a:defRPr>
            </a:lvl1pPr>
          </a:lstStyle>
          <a:p>
            <a:pPr lvl="0"/>
            <a:r>
              <a:rPr lang="en-US" dirty="0"/>
              <a:t>Click to insert title</a:t>
            </a:r>
          </a:p>
        </p:txBody>
      </p:sp>
      <p:sp>
        <p:nvSpPr>
          <p:cNvPr id="15" name="Text Placeholder 13">
            <a:extLst>
              <a:ext uri="{FF2B5EF4-FFF2-40B4-BE49-F238E27FC236}">
                <a16:creationId xmlns:a16="http://schemas.microsoft.com/office/drawing/2014/main" id="{97620309-84FF-4D53-AD39-936B55216B4B}"/>
              </a:ext>
            </a:extLst>
          </p:cNvPr>
          <p:cNvSpPr>
            <a:spLocks noGrp="1"/>
          </p:cNvSpPr>
          <p:nvPr>
            <p:ph type="body" sz="quarter" idx="11" hasCustomPrompt="1"/>
          </p:nvPr>
        </p:nvSpPr>
        <p:spPr>
          <a:xfrm>
            <a:off x="4787004" y="5381482"/>
            <a:ext cx="4051006" cy="1079500"/>
          </a:xfrm>
        </p:spPr>
        <p:txBody>
          <a:bodyPr anchor="t">
            <a:normAutofit/>
          </a:bodyPr>
          <a:lstStyle>
            <a:lvl1pPr marL="0" algn="r">
              <a:lnSpc>
                <a:spcPts val="1650"/>
              </a:lnSpc>
              <a:defRPr sz="1400">
                <a:solidFill>
                  <a:schemeClr val="bg1"/>
                </a:solidFill>
              </a:defRPr>
            </a:lvl1pPr>
          </a:lstStyle>
          <a:p>
            <a:pPr marL="0" lvl="0"/>
            <a:r>
              <a:rPr lang="en-US" dirty="0"/>
              <a:t>Click to insert presenter, location, and date</a:t>
            </a:r>
          </a:p>
        </p:txBody>
      </p:sp>
    </p:spTree>
    <p:extLst>
      <p:ext uri="{BB962C8B-B14F-4D97-AF65-F5344CB8AC3E}">
        <p14:creationId xmlns:p14="http://schemas.microsoft.com/office/powerpoint/2010/main" val="784440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cstate="print">
            <a:lum/>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647700" y="1962150"/>
            <a:ext cx="7800975" cy="3981450"/>
          </a:xfrm>
          <a:prstGeom prst="rect">
            <a:avLst/>
          </a:prstGeom>
          <a:noFill/>
          <a:ln w="12700">
            <a:noFill/>
            <a:miter lim="800000"/>
            <a:headEnd/>
            <a:tailEnd/>
          </a:ln>
          <a:effectLst/>
        </p:spPr>
        <p:txBody>
          <a:bodyPr vert="horz" wrap="square" lIns="0" tIns="0" rIns="0" bIns="0" numCol="1" anchor="t" anchorCtr="0" compatLnSpc="1">
            <a:prstTxWarp prst="textNoShape">
              <a:avLst/>
            </a:prstTxWarp>
          </a:bodyPr>
          <a:lstStyle/>
          <a:p>
            <a:pPr lvl="0"/>
            <a:r>
              <a:rPr lang="en-US"/>
              <a:t>Text (Arial 22)</a:t>
            </a:r>
          </a:p>
          <a:p>
            <a:pPr lvl="1"/>
            <a:r>
              <a:rPr lang="en-US"/>
              <a:t>2nd level text (Arial 18)</a:t>
            </a:r>
          </a:p>
          <a:p>
            <a:pPr lvl="2"/>
            <a:r>
              <a:rPr lang="en-US"/>
              <a:t>3rd level text (Arial 18)</a:t>
            </a:r>
          </a:p>
          <a:p>
            <a:pPr lvl="3"/>
            <a:r>
              <a:rPr lang="en-US"/>
              <a:t>4th level text (Arial 16)</a:t>
            </a:r>
          </a:p>
          <a:p>
            <a:pPr lvl="4"/>
            <a:r>
              <a:rPr lang="en-US"/>
              <a:t>5th level text (Arial 14 smallest size)</a:t>
            </a:r>
          </a:p>
        </p:txBody>
      </p:sp>
      <p:sp>
        <p:nvSpPr>
          <p:cNvPr id="1033" name="Rectangle 9"/>
          <p:cNvSpPr>
            <a:spLocks noChangeArrowheads="1"/>
          </p:cNvSpPr>
          <p:nvPr userDrawn="1"/>
        </p:nvSpPr>
        <p:spPr bwMode="auto">
          <a:xfrm>
            <a:off x="630238" y="6708775"/>
            <a:ext cx="4410075" cy="136525"/>
          </a:xfrm>
          <a:prstGeom prst="rect">
            <a:avLst/>
          </a:prstGeom>
          <a:noFill/>
          <a:ln w="12700">
            <a:noFill/>
            <a:miter lim="800000"/>
            <a:headEnd/>
            <a:tailEnd/>
          </a:ln>
          <a:effectLst/>
        </p:spPr>
        <p:txBody>
          <a:bodyPr lIns="0" tIns="0" rIns="0" bIns="0" anchor="ctr">
            <a:spAutoFit/>
          </a:bodyPr>
          <a:lstStyle/>
          <a:p>
            <a:pPr marL="95250" indent="-95250" defTabSz="762000">
              <a:lnSpc>
                <a:spcPct val="90000"/>
              </a:lnSpc>
              <a:buSzPct val="120000"/>
              <a:buFont typeface="Symbol" pitchFamily="18" charset="2"/>
              <a:buChar char="ã"/>
              <a:defRPr/>
            </a:pPr>
            <a:r>
              <a:rPr lang="en-US" sz="1000"/>
              <a:t>India SAP CoE, Slide </a:t>
            </a:r>
            <a:fld id="{0911D423-973F-4533-93A7-DF7F1439864D}" type="slidenum">
              <a:rPr lang="en-US" sz="1000"/>
              <a:pPr marL="95250" indent="-95250" defTabSz="762000">
                <a:lnSpc>
                  <a:spcPct val="90000"/>
                </a:lnSpc>
                <a:buSzPct val="120000"/>
                <a:buFont typeface="Symbol" pitchFamily="18" charset="2"/>
                <a:buChar char="ã"/>
                <a:defRPr/>
              </a:pPr>
              <a:t>‹#›</a:t>
            </a:fld>
            <a:endParaRPr lang="en-US" sz="1000"/>
          </a:p>
        </p:txBody>
      </p:sp>
      <p:sp>
        <p:nvSpPr>
          <p:cNvPr id="1034" name="Freeform 10"/>
          <p:cNvSpPr>
            <a:spLocks/>
          </p:cNvSpPr>
          <p:nvPr/>
        </p:nvSpPr>
        <p:spPr bwMode="auto">
          <a:xfrm>
            <a:off x="0" y="0"/>
            <a:ext cx="6483350" cy="276225"/>
          </a:xfrm>
          <a:custGeom>
            <a:avLst/>
            <a:gdLst/>
            <a:ahLst/>
            <a:cxnLst>
              <a:cxn ang="0">
                <a:pos x="0" y="0"/>
              </a:cxn>
              <a:cxn ang="0">
                <a:pos x="4083" y="0"/>
              </a:cxn>
              <a:cxn ang="0">
                <a:pos x="4083" y="173"/>
              </a:cxn>
              <a:cxn ang="0">
                <a:pos x="0" y="173"/>
              </a:cxn>
              <a:cxn ang="0">
                <a:pos x="0" y="0"/>
              </a:cxn>
            </a:cxnLst>
            <a:rect l="0" t="0" r="r" b="b"/>
            <a:pathLst>
              <a:path w="4084" h="174">
                <a:moveTo>
                  <a:pt x="0" y="0"/>
                </a:moveTo>
                <a:lnTo>
                  <a:pt x="4083" y="0"/>
                </a:lnTo>
                <a:lnTo>
                  <a:pt x="4083" y="173"/>
                </a:lnTo>
                <a:lnTo>
                  <a:pt x="0" y="173"/>
                </a:lnTo>
                <a:lnTo>
                  <a:pt x="0" y="0"/>
                </a:lnTo>
              </a:path>
            </a:pathLst>
          </a:custGeom>
          <a:solidFill>
            <a:srgbClr val="0019D1"/>
          </a:solidFill>
          <a:ln w="12700" cap="rnd" cmpd="sng">
            <a:noFill/>
            <a:prstDash val="solid"/>
            <a:round/>
            <a:headEnd type="none" w="med" len="med"/>
            <a:tailEnd type="none" w="med" len="med"/>
          </a:ln>
          <a:effectLst/>
        </p:spPr>
        <p:txBody>
          <a:bodyPr/>
          <a:lstStyle/>
          <a:p>
            <a:pPr>
              <a:defRPr/>
            </a:pPr>
            <a:endParaRPr lang="en-US"/>
          </a:p>
        </p:txBody>
      </p:sp>
      <p:sp>
        <p:nvSpPr>
          <p:cNvPr id="1044" name="Rectangle 20"/>
          <p:cNvSpPr>
            <a:spLocks noGrp="1" noChangeArrowheads="1"/>
          </p:cNvSpPr>
          <p:nvPr>
            <p:ph type="title"/>
          </p:nvPr>
        </p:nvSpPr>
        <p:spPr bwMode="auto">
          <a:xfrm>
            <a:off x="352425" y="436563"/>
            <a:ext cx="8734425" cy="671512"/>
          </a:xfrm>
          <a:prstGeom prst="rect">
            <a:avLst/>
          </a:prstGeom>
          <a:noFill/>
          <a:ln w="12700">
            <a:noFill/>
            <a:miter lim="800000"/>
            <a:headEnd/>
            <a:tailEnd/>
          </a:ln>
          <a:effectLst/>
        </p:spPr>
        <p:txBody>
          <a:bodyPr vert="horz" wrap="square" lIns="0" tIns="0" rIns="0" bIns="0" numCol="1" anchor="t" anchorCtr="0" compatLnSpc="1">
            <a:prstTxWarp prst="textNoShape">
              <a:avLst/>
            </a:prstTxWarp>
          </a:bodyPr>
          <a:lstStyle/>
          <a:p>
            <a:pPr lvl="0"/>
            <a:r>
              <a:rPr lang="en-US"/>
              <a:t>SAP Basics Class</a:t>
            </a:r>
          </a:p>
        </p:txBody>
      </p:sp>
      <p:pic>
        <p:nvPicPr>
          <p:cNvPr id="4102" name="Picture 21" descr="Capgemini"/>
          <p:cNvPicPr>
            <a:picLocks noChangeAspect="1" noChangeArrowheads="1"/>
          </p:cNvPicPr>
          <p:nvPr userDrawn="1"/>
        </p:nvPicPr>
        <p:blipFill>
          <a:blip r:embed="rId17" cstate="print"/>
          <a:srcRect/>
          <a:stretch>
            <a:fillRect/>
          </a:stretch>
        </p:blipFill>
        <p:spPr bwMode="auto">
          <a:xfrm>
            <a:off x="7162800" y="6324600"/>
            <a:ext cx="1697038" cy="3810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Arial" charset="0"/>
        </a:defRPr>
      </a:lvl2pPr>
      <a:lvl3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Arial" charset="0"/>
        </a:defRPr>
      </a:lvl3pPr>
      <a:lvl4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Arial" charset="0"/>
        </a:defRPr>
      </a:lvl4pPr>
      <a:lvl5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Arial" charset="0"/>
        </a:defRPr>
      </a:lvl5pPr>
      <a:lvl6pPr marL="457200"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Arial" charset="0"/>
        </a:defRPr>
      </a:lvl6pPr>
      <a:lvl7pPr marL="914400"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Arial" charset="0"/>
        </a:defRPr>
      </a:lvl7pPr>
      <a:lvl8pPr marL="1371600"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Arial" charset="0"/>
        </a:defRPr>
      </a:lvl8pPr>
      <a:lvl9pPr marL="1828800"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Arial" charset="0"/>
        </a:defRPr>
      </a:lvl9pPr>
    </p:titleStyle>
    <p:bodyStyle>
      <a:lvl1pPr marL="342900" indent="-342900" algn="l" rtl="0" eaLnBrk="0" fontAlgn="base" hangingPunct="0">
        <a:spcBef>
          <a:spcPct val="20000"/>
        </a:spcBef>
        <a:spcAft>
          <a:spcPct val="0"/>
        </a:spcAft>
        <a:buSzPct val="100000"/>
        <a:buChar char="•"/>
        <a:defRPr sz="3200" b="1">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SzPct val="100000"/>
        <a:buChar char="–"/>
        <a:defRPr sz="2800" b="1">
          <a:solidFill>
            <a:schemeClr val="tx1"/>
          </a:solidFill>
          <a:effectLst>
            <a:outerShdw blurRad="38100" dist="38100" dir="2700000" algn="tl">
              <a:srgbClr val="C0C0C0"/>
            </a:outerShdw>
          </a:effectLst>
          <a:latin typeface="+mn-lt"/>
        </a:defRPr>
      </a:lvl2pPr>
      <a:lvl3pPr marL="1143000" indent="-228600" algn="l" rtl="0" eaLnBrk="0" fontAlgn="base" hangingPunct="0">
        <a:spcBef>
          <a:spcPct val="20000"/>
        </a:spcBef>
        <a:spcAft>
          <a:spcPct val="0"/>
        </a:spcAft>
        <a:buSzPct val="100000"/>
        <a:buChar char="•"/>
        <a:defRPr sz="2400" b="1">
          <a:solidFill>
            <a:schemeClr val="tx1"/>
          </a:solidFill>
          <a:effectLst>
            <a:outerShdw blurRad="38100" dist="38100" dir="2700000" algn="tl">
              <a:srgbClr val="C0C0C0"/>
            </a:outerShdw>
          </a:effectLst>
          <a:latin typeface="+mn-lt"/>
        </a:defRPr>
      </a:lvl3pPr>
      <a:lvl4pPr marL="1600200" indent="-228600" algn="l" rtl="0" eaLnBrk="0" fontAlgn="base" hangingPunct="0">
        <a:spcBef>
          <a:spcPct val="20000"/>
        </a:spcBef>
        <a:spcAft>
          <a:spcPct val="0"/>
        </a:spcAft>
        <a:buSzPct val="100000"/>
        <a:buChar char="–"/>
        <a:defRPr sz="2000" b="1">
          <a:solidFill>
            <a:schemeClr val="tx1"/>
          </a:solidFill>
          <a:effectLst>
            <a:outerShdw blurRad="38100" dist="38100" dir="2700000" algn="tl">
              <a:srgbClr val="C0C0C0"/>
            </a:outerShdw>
          </a:effectLst>
          <a:latin typeface="+mn-lt"/>
        </a:defRPr>
      </a:lvl4pPr>
      <a:lvl5pPr marL="2057400" indent="-228600" algn="l" rtl="0" eaLnBrk="0" fontAlgn="base" hangingPunct="0">
        <a:spcBef>
          <a:spcPct val="20000"/>
        </a:spcBef>
        <a:spcAft>
          <a:spcPct val="0"/>
        </a:spcAft>
        <a:buSzPct val="100000"/>
        <a:buChar char="»"/>
        <a:defRPr sz="2000" b="1">
          <a:solidFill>
            <a:schemeClr val="tx1"/>
          </a:solidFill>
          <a:effectLst>
            <a:outerShdw blurRad="38100" dist="38100" dir="2700000" algn="tl">
              <a:srgbClr val="C0C0C0"/>
            </a:outerShdw>
          </a:effectLst>
          <a:latin typeface="+mn-lt"/>
        </a:defRPr>
      </a:lvl5pPr>
      <a:lvl6pPr marL="2514600" indent="-228600" algn="l" rtl="0" eaLnBrk="0" fontAlgn="base" hangingPunct="0">
        <a:spcBef>
          <a:spcPct val="20000"/>
        </a:spcBef>
        <a:spcAft>
          <a:spcPct val="0"/>
        </a:spcAft>
        <a:buSzPct val="100000"/>
        <a:buChar char="»"/>
        <a:defRPr sz="2000" b="1">
          <a:solidFill>
            <a:schemeClr val="tx1"/>
          </a:solidFill>
          <a:effectLst>
            <a:outerShdw blurRad="38100" dist="38100" dir="2700000" algn="tl">
              <a:srgbClr val="C0C0C0"/>
            </a:outerShdw>
          </a:effectLst>
          <a:latin typeface="+mn-lt"/>
        </a:defRPr>
      </a:lvl6pPr>
      <a:lvl7pPr marL="2971800" indent="-228600" algn="l" rtl="0" eaLnBrk="0" fontAlgn="base" hangingPunct="0">
        <a:spcBef>
          <a:spcPct val="20000"/>
        </a:spcBef>
        <a:spcAft>
          <a:spcPct val="0"/>
        </a:spcAft>
        <a:buSzPct val="100000"/>
        <a:buChar char="»"/>
        <a:defRPr sz="2000" b="1">
          <a:solidFill>
            <a:schemeClr val="tx1"/>
          </a:solidFill>
          <a:effectLst>
            <a:outerShdw blurRad="38100" dist="38100" dir="2700000" algn="tl">
              <a:srgbClr val="C0C0C0"/>
            </a:outerShdw>
          </a:effectLst>
          <a:latin typeface="+mn-lt"/>
        </a:defRPr>
      </a:lvl7pPr>
      <a:lvl8pPr marL="3429000" indent="-228600" algn="l" rtl="0" eaLnBrk="0" fontAlgn="base" hangingPunct="0">
        <a:spcBef>
          <a:spcPct val="20000"/>
        </a:spcBef>
        <a:spcAft>
          <a:spcPct val="0"/>
        </a:spcAft>
        <a:buSzPct val="100000"/>
        <a:buChar char="»"/>
        <a:defRPr sz="2000" b="1">
          <a:solidFill>
            <a:schemeClr val="tx1"/>
          </a:solidFill>
          <a:effectLst>
            <a:outerShdw blurRad="38100" dist="38100" dir="2700000" algn="tl">
              <a:srgbClr val="C0C0C0"/>
            </a:outerShdw>
          </a:effectLst>
          <a:latin typeface="+mn-lt"/>
        </a:defRPr>
      </a:lvl8pPr>
      <a:lvl9pPr marL="3886200" indent="-228600" algn="l" rtl="0" eaLnBrk="0" fontAlgn="base" hangingPunct="0">
        <a:spcBef>
          <a:spcPct val="20000"/>
        </a:spcBef>
        <a:spcAft>
          <a:spcPct val="0"/>
        </a:spcAft>
        <a:buSzPct val="100000"/>
        <a:buChar char="»"/>
        <a:defRPr sz="2000" b="1">
          <a:solidFill>
            <a:schemeClr val="tx1"/>
          </a:solidFill>
          <a:effectLst>
            <a:outerShdw blurRad="38100" dist="38100" dir="2700000" algn="tl">
              <a:srgbClr val="C0C0C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0.emf"/><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2.wmf"/><Relationship Id="rId4"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slide" Target="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0.emf"/><Relationship Id="rId4" Type="http://schemas.openxmlformats.org/officeDocument/2006/relationships/image" Target="../media/image19.emf"/></Relationships>
</file>

<file path=ppt/slides/_rels/slide20.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2.e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4.emf"/></Relationships>
</file>

<file path=ppt/slides/_rels/slide24.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4.emf"/></Relationships>
</file>

<file path=ppt/slides/_rels/slide25.xml.rels><?xml version="1.0" encoding="UTF-8" standalone="yes"?>
<Relationships xmlns="http://schemas.openxmlformats.org/package/2006/relationships"><Relationship Id="rId3" Type="http://schemas.openxmlformats.org/officeDocument/2006/relationships/hyperlink" Target="https://websmp209.sap-ag.de/" TargetMode="External"/><Relationship Id="rId2" Type="http://schemas.openxmlformats.org/officeDocument/2006/relationships/hyperlink" Target="http://help.sap.com/saphelp_47x200/helpdata/en/e1/8e51341a06084de10000009b38f83b/frameset.htm/" TargetMode="External"/><Relationship Id="rId1" Type="http://schemas.openxmlformats.org/officeDocument/2006/relationships/slideLayout" Target="../slideLayouts/slideLayout2.xml"/><Relationship Id="rId5" Type="http://schemas.openxmlformats.org/officeDocument/2006/relationships/hyperlink" Target="http://www.sapfans.com/" TargetMode="External"/><Relationship Id="rId4" Type="http://schemas.openxmlformats.org/officeDocument/2006/relationships/hyperlink" Target="http://erpgenie.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4038600" y="3390900"/>
            <a:ext cx="4049986" cy="1371600"/>
          </a:xfrm>
        </p:spPr>
        <p:txBody>
          <a:bodyPr/>
          <a:lstStyle/>
          <a:p>
            <a:pPr lvl="0" algn="ctr"/>
            <a:r>
              <a:rPr lang="en-US" dirty="0">
                <a:solidFill>
                  <a:schemeClr val="tx1"/>
                </a:solidFill>
              </a:rPr>
              <a:t>General Ledger Master Data</a:t>
            </a:r>
            <a:endParaRPr lang="en-US" sz="3200" dirty="0"/>
          </a:p>
        </p:txBody>
      </p:sp>
    </p:spTree>
    <p:extLst>
      <p:ext uri="{BB962C8B-B14F-4D97-AF65-F5344CB8AC3E}">
        <p14:creationId xmlns:p14="http://schemas.microsoft.com/office/powerpoint/2010/main" val="2480352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2800" dirty="0"/>
              <a:t>Overview </a:t>
            </a:r>
          </a:p>
        </p:txBody>
      </p:sp>
      <p:sp>
        <p:nvSpPr>
          <p:cNvPr id="3" name="Content Placeholder 2"/>
          <p:cNvSpPr>
            <a:spLocks noGrp="1"/>
          </p:cNvSpPr>
          <p:nvPr>
            <p:ph idx="1"/>
          </p:nvPr>
        </p:nvSpPr>
        <p:spPr>
          <a:xfrm>
            <a:off x="647700" y="1295400"/>
            <a:ext cx="7800975" cy="4648200"/>
          </a:xfrm>
        </p:spPr>
        <p:txBody>
          <a:bodyPr/>
          <a:lstStyle/>
          <a:p>
            <a:pPr>
              <a:buFontTx/>
              <a:buNone/>
              <a:defRPr/>
            </a:pPr>
            <a:endParaRPr lang="en-US" sz="1000" dirty="0"/>
          </a:p>
          <a:p>
            <a:pPr>
              <a:buFont typeface="Arial" pitchFamily="34" charset="0"/>
              <a:buChar char="•"/>
              <a:defRPr/>
            </a:pPr>
            <a:r>
              <a:rPr lang="en-US" sz="1800" b="0" dirty="0"/>
              <a:t>The Master record contains data that controls how business transactions are recorded and processed by the system. ( Chart of Accounts)</a:t>
            </a:r>
          </a:p>
          <a:p>
            <a:pPr>
              <a:buFont typeface="Arial" pitchFamily="34" charset="0"/>
              <a:buChar char="•"/>
              <a:defRPr/>
            </a:pPr>
            <a:r>
              <a:rPr lang="en-US" sz="1800" b="0" dirty="0"/>
              <a:t>General ledger Master data</a:t>
            </a:r>
          </a:p>
          <a:p>
            <a:pPr>
              <a:buFont typeface="Arial" pitchFamily="34" charset="0"/>
              <a:buChar char="•"/>
              <a:defRPr/>
            </a:pPr>
            <a:r>
              <a:rPr lang="en-US" sz="1800" b="0" dirty="0"/>
              <a:t>Purpose of master data creation to post the transactions using the master data</a:t>
            </a:r>
          </a:p>
          <a:p>
            <a:pPr>
              <a:buFont typeface="Arial" pitchFamily="34" charset="0"/>
              <a:buChar char="•"/>
              <a:defRPr/>
            </a:pPr>
            <a:r>
              <a:rPr lang="en-US" sz="1800" b="0" dirty="0"/>
              <a:t>Profit </a:t>
            </a:r>
            <a:r>
              <a:rPr lang="en-US" sz="1800" b="0"/>
              <a:t>Center and Segments</a:t>
            </a:r>
            <a:endParaRPr lang="en-US" sz="1800" b="0" dirty="0"/>
          </a:p>
          <a:p>
            <a:pPr marL="0" indent="0">
              <a:buNone/>
              <a:defRPr/>
            </a:pPr>
            <a:endParaRPr lang="en-US" sz="1000" dirty="0"/>
          </a:p>
          <a:p>
            <a:pPr>
              <a:defRPr/>
            </a:pPr>
            <a:endParaRPr lang="en-US" sz="1000" dirty="0"/>
          </a:p>
          <a:p>
            <a:pPr>
              <a:defRPr/>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Use</a:t>
            </a:r>
          </a:p>
        </p:txBody>
      </p:sp>
      <p:sp>
        <p:nvSpPr>
          <p:cNvPr id="3" name="Content Placeholder 2"/>
          <p:cNvSpPr>
            <a:spLocks noGrp="1"/>
          </p:cNvSpPr>
          <p:nvPr>
            <p:ph idx="1"/>
          </p:nvPr>
        </p:nvSpPr>
        <p:spPr>
          <a:xfrm>
            <a:off x="647700" y="1295400"/>
            <a:ext cx="7800975" cy="4648200"/>
          </a:xfrm>
        </p:spPr>
        <p:txBody>
          <a:bodyPr/>
          <a:lstStyle/>
          <a:p>
            <a:pPr>
              <a:buFont typeface="Arial" pitchFamily="34" charset="0"/>
              <a:buChar char="•"/>
              <a:defRPr/>
            </a:pPr>
            <a:r>
              <a:rPr lang="en-US" sz="1800" b="0" dirty="0"/>
              <a:t>Business transactions are posted and managed in the general ledger via accounts.  Each master record contains settings that control the flow of financial transactions.  The G/L accounts record the business transactions in line item and totals form.  In the standard system, all business transactions, which are posted to G/L accounts, are updated in the general ledger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682" name="Rectangle 2"/>
          <p:cNvSpPr>
            <a:spLocks noGrp="1" noChangeArrowheads="1"/>
          </p:cNvSpPr>
          <p:nvPr>
            <p:ph type="title"/>
          </p:nvPr>
        </p:nvSpPr>
        <p:spPr/>
        <p:txBody>
          <a:bodyPr/>
          <a:lstStyle/>
          <a:p>
            <a:pPr algn="ctr">
              <a:defRPr/>
            </a:pPr>
            <a:r>
              <a:rPr lang="en-US" sz="4000"/>
              <a:t>Chart of Accounts</a:t>
            </a:r>
          </a:p>
        </p:txBody>
      </p:sp>
      <p:sp>
        <p:nvSpPr>
          <p:cNvPr id="15363" name="Rectangle 3"/>
          <p:cNvSpPr>
            <a:spLocks noGrp="1" noChangeArrowheads="1"/>
          </p:cNvSpPr>
          <p:nvPr>
            <p:ph type="body" idx="1"/>
          </p:nvPr>
        </p:nvSpPr>
        <p:spPr>
          <a:xfrm>
            <a:off x="381000" y="1219200"/>
            <a:ext cx="8382000" cy="4876800"/>
          </a:xfrm>
        </p:spPr>
        <p:txBody>
          <a:bodyPr/>
          <a:lstStyle/>
          <a:p>
            <a:endParaRPr lang="en-US">
              <a:effectLst/>
            </a:endParaRPr>
          </a:p>
          <a:p>
            <a:endParaRPr lang="en-US">
              <a:effectLst/>
            </a:endParaRPr>
          </a:p>
        </p:txBody>
      </p:sp>
      <p:pic>
        <p:nvPicPr>
          <p:cNvPr id="15364" name="Picture 5"/>
          <p:cNvPicPr>
            <a:picLocks noChangeAspect="1" noChangeArrowheads="1"/>
          </p:cNvPicPr>
          <p:nvPr/>
        </p:nvPicPr>
        <p:blipFill>
          <a:blip r:embed="rId3" cstate="print"/>
          <a:srcRect/>
          <a:stretch>
            <a:fillRect/>
          </a:stretch>
        </p:blipFill>
        <p:spPr bwMode="auto">
          <a:xfrm>
            <a:off x="914400" y="2667000"/>
            <a:ext cx="6581775" cy="1219200"/>
          </a:xfrm>
          <a:prstGeom prst="rect">
            <a:avLst/>
          </a:prstGeom>
          <a:noFill/>
          <a:ln w="12700" algn="ctr">
            <a:noFill/>
            <a:miter lim="800000"/>
            <a:headEnd/>
            <a:tailEnd/>
          </a:ln>
        </p:spPr>
      </p:pic>
      <p:sp>
        <p:nvSpPr>
          <p:cNvPr id="15365" name="Rectangle 6"/>
          <p:cNvSpPr>
            <a:spLocks noChangeArrowheads="1"/>
          </p:cNvSpPr>
          <p:nvPr/>
        </p:nvSpPr>
        <p:spPr bwMode="auto">
          <a:xfrm>
            <a:off x="0" y="1295400"/>
            <a:ext cx="8839200" cy="1190625"/>
          </a:xfrm>
          <a:prstGeom prst="rect">
            <a:avLst/>
          </a:prstGeom>
          <a:noFill/>
          <a:ln w="12700" algn="ctr">
            <a:noFill/>
            <a:miter lim="800000"/>
            <a:headEnd/>
            <a:tailEnd/>
          </a:ln>
        </p:spPr>
        <p:txBody>
          <a:bodyPr>
            <a:spAutoFit/>
          </a:bodyPr>
          <a:lstStyle/>
          <a:p>
            <a:r>
              <a:rPr lang="en-US" sz="1800"/>
              <a:t>The three steps to create and use a chart of accounts :</a:t>
            </a:r>
          </a:p>
          <a:p>
            <a:pPr>
              <a:buFontTx/>
              <a:buChar char="•"/>
            </a:pPr>
            <a:r>
              <a:rPr lang="en-US" sz="1800"/>
              <a:t>	Define the chart of accounts,</a:t>
            </a:r>
          </a:p>
          <a:p>
            <a:pPr>
              <a:buFontTx/>
              <a:buChar char="•"/>
            </a:pPr>
            <a:r>
              <a:rPr lang="en-US" sz="1800"/>
              <a:t>	Define the properties of the chart of accounts,</a:t>
            </a:r>
          </a:p>
          <a:p>
            <a:pPr>
              <a:buFontTx/>
              <a:buChar char="•"/>
            </a:pPr>
            <a:r>
              <a:rPr lang="en-US" sz="1800"/>
              <a:t>	Assign the chart of accounts to company codes.</a:t>
            </a:r>
          </a:p>
        </p:txBody>
      </p:sp>
      <p:sp>
        <p:nvSpPr>
          <p:cNvPr id="15366" name="Rectangle 7"/>
          <p:cNvSpPr>
            <a:spLocks noChangeArrowheads="1"/>
          </p:cNvSpPr>
          <p:nvPr/>
        </p:nvSpPr>
        <p:spPr bwMode="auto">
          <a:xfrm>
            <a:off x="152400" y="4191000"/>
            <a:ext cx="8991600" cy="2014538"/>
          </a:xfrm>
          <a:prstGeom prst="rect">
            <a:avLst/>
          </a:prstGeom>
          <a:noFill/>
          <a:ln w="12700" algn="ctr">
            <a:noFill/>
            <a:miter lim="800000"/>
            <a:headEnd/>
            <a:tailEnd/>
          </a:ln>
        </p:spPr>
        <p:txBody>
          <a:bodyPr>
            <a:spAutoFit/>
          </a:bodyPr>
          <a:lstStyle/>
          <a:p>
            <a:pPr marL="342900" indent="-342900" algn="just">
              <a:buFontTx/>
              <a:buChar char="•"/>
            </a:pPr>
            <a:r>
              <a:rPr lang="en-US" sz="1800"/>
              <a:t>The </a:t>
            </a:r>
            <a:r>
              <a:rPr lang="en-US" sz="1800" b="1"/>
              <a:t>chart of accounts </a:t>
            </a:r>
            <a:r>
              <a:rPr lang="en-US" sz="1800"/>
              <a:t>is a variant which contains the structure and the basic information about general ledger accounts.</a:t>
            </a:r>
          </a:p>
          <a:p>
            <a:pPr marL="342900" indent="-342900" algn="just">
              <a:buFontTx/>
              <a:buChar char="•"/>
            </a:pPr>
            <a:r>
              <a:rPr lang="en-US" sz="1800"/>
              <a:t>You define the chart of accounts with a 4 character identifier.</a:t>
            </a:r>
          </a:p>
          <a:p>
            <a:pPr marL="342900" indent="-342900" algn="just">
              <a:buFontTx/>
              <a:buChar char="•"/>
            </a:pPr>
            <a:r>
              <a:rPr lang="en-US" sz="1800"/>
              <a:t>You define the components of the chart of account, e.g. language, length of the G/L account number, group chart of accounts, status.</a:t>
            </a:r>
          </a:p>
          <a:p>
            <a:pPr marL="342900" indent="-342900" algn="just">
              <a:buFontTx/>
              <a:buChar char="•"/>
            </a:pPr>
            <a:r>
              <a:rPr lang="en-US" sz="1800"/>
              <a:t>The chart of accounts has to be assigned to every company code which would like to create accounts based on the defined structure.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5730" name="Rectangle 2"/>
          <p:cNvSpPr>
            <a:spLocks noGrp="1" noChangeArrowheads="1"/>
          </p:cNvSpPr>
          <p:nvPr>
            <p:ph type="title"/>
          </p:nvPr>
        </p:nvSpPr>
        <p:spPr>
          <a:xfrm>
            <a:off x="-76200" y="700088"/>
            <a:ext cx="8734425" cy="671512"/>
          </a:xfrm>
        </p:spPr>
        <p:txBody>
          <a:bodyPr/>
          <a:lstStyle/>
          <a:p>
            <a:pPr algn="ctr">
              <a:defRPr/>
            </a:pPr>
            <a:r>
              <a:rPr lang="en-US" sz="3600" b="0" dirty="0"/>
              <a:t>Define Chart of Accounts-Transaction Code – OB13</a:t>
            </a:r>
          </a:p>
        </p:txBody>
      </p:sp>
      <p:sp>
        <p:nvSpPr>
          <p:cNvPr id="16387" name="Rectangle 3"/>
          <p:cNvSpPr>
            <a:spLocks noGrp="1" noChangeArrowheads="1"/>
          </p:cNvSpPr>
          <p:nvPr>
            <p:ph type="body" idx="1"/>
          </p:nvPr>
        </p:nvSpPr>
        <p:spPr>
          <a:xfrm>
            <a:off x="381000" y="1219200"/>
            <a:ext cx="8229600" cy="3810000"/>
          </a:xfrm>
        </p:spPr>
        <p:txBody>
          <a:bodyPr/>
          <a:lstStyle/>
          <a:p>
            <a:pPr>
              <a:buFontTx/>
              <a:buNone/>
            </a:pPr>
            <a:endParaRPr lang="en-US">
              <a:effectLst/>
            </a:endParaRPr>
          </a:p>
          <a:p>
            <a:endParaRPr lang="en-US">
              <a:effectLst/>
            </a:endParaRPr>
          </a:p>
        </p:txBody>
      </p:sp>
      <p:sp>
        <p:nvSpPr>
          <p:cNvPr id="16388" name="Rectangle 4"/>
          <p:cNvSpPr>
            <a:spLocks noChangeArrowheads="1"/>
          </p:cNvSpPr>
          <p:nvPr/>
        </p:nvSpPr>
        <p:spPr bwMode="auto">
          <a:xfrm>
            <a:off x="762000" y="1930400"/>
            <a:ext cx="7924800" cy="3937000"/>
          </a:xfrm>
          <a:prstGeom prst="rect">
            <a:avLst/>
          </a:prstGeom>
          <a:noFill/>
          <a:ln w="12700" algn="ctr">
            <a:noFill/>
            <a:miter lim="800000"/>
            <a:headEnd/>
            <a:tailEnd/>
          </a:ln>
        </p:spPr>
        <p:txBody>
          <a:bodyPr>
            <a:spAutoFit/>
          </a:bodyPr>
          <a:lstStyle/>
          <a:p>
            <a:r>
              <a:rPr lang="en-US" sz="1800" b="1" dirty="0"/>
              <a:t>The definition of a chart of accounts contains:</a:t>
            </a:r>
          </a:p>
          <a:p>
            <a:pPr lvl="1">
              <a:buFontTx/>
              <a:buChar char="•"/>
            </a:pPr>
            <a:r>
              <a:rPr lang="en-US" sz="1800" b="1" dirty="0"/>
              <a:t>Chart of accounts key</a:t>
            </a:r>
          </a:p>
          <a:p>
            <a:pPr lvl="1">
              <a:buFontTx/>
              <a:buChar char="•"/>
            </a:pPr>
            <a:r>
              <a:rPr lang="en-US" sz="1800" b="1" dirty="0"/>
              <a:t>Description</a:t>
            </a:r>
          </a:p>
          <a:p>
            <a:r>
              <a:rPr lang="en-US" sz="1800" b="1" dirty="0"/>
              <a:t>General Information</a:t>
            </a:r>
          </a:p>
          <a:p>
            <a:pPr lvl="1">
              <a:buFontTx/>
              <a:buChar char="•"/>
            </a:pPr>
            <a:r>
              <a:rPr lang="en-US" sz="1800" b="1" dirty="0"/>
              <a:t>Maintenance language</a:t>
            </a:r>
          </a:p>
          <a:p>
            <a:pPr lvl="1">
              <a:buFontTx/>
              <a:buChar char="•"/>
            </a:pPr>
            <a:r>
              <a:rPr lang="en-US" sz="1800" b="1" dirty="0"/>
              <a:t>Length of the G/L account number</a:t>
            </a:r>
          </a:p>
          <a:p>
            <a:r>
              <a:rPr lang="en-US" sz="1800" b="1" dirty="0"/>
              <a:t>Controlling Integration</a:t>
            </a:r>
          </a:p>
          <a:p>
            <a:pPr lvl="1">
              <a:buFontTx/>
              <a:buChar char="•"/>
            </a:pPr>
            <a:r>
              <a:rPr lang="en-US" sz="1800" b="1" dirty="0"/>
              <a:t>Manual or automatic creation of</a:t>
            </a:r>
          </a:p>
          <a:p>
            <a:pPr lvl="1">
              <a:buFontTx/>
              <a:buChar char="•"/>
            </a:pPr>
            <a:r>
              <a:rPr lang="en-US" sz="1800" b="1" dirty="0"/>
              <a:t>cost elements</a:t>
            </a:r>
          </a:p>
          <a:p>
            <a:r>
              <a:rPr lang="en-US" sz="1800" b="1" dirty="0"/>
              <a:t>Consolidation</a:t>
            </a:r>
          </a:p>
          <a:p>
            <a:pPr lvl="1">
              <a:buFontTx/>
              <a:buChar char="•"/>
            </a:pPr>
            <a:r>
              <a:rPr lang="en-US" sz="1800" b="1" dirty="0"/>
              <a:t>Group chart of accounts</a:t>
            </a:r>
          </a:p>
          <a:p>
            <a:r>
              <a:rPr lang="en-US" sz="1800" b="1" dirty="0"/>
              <a:t>Status</a:t>
            </a:r>
          </a:p>
          <a:p>
            <a:pPr lvl="1">
              <a:buFontTx/>
              <a:buChar char="•"/>
            </a:pPr>
            <a:r>
              <a:rPr lang="en-US" sz="1800" b="1" dirty="0"/>
              <a:t>“Blocked” indicator</a:t>
            </a:r>
          </a:p>
          <a:p>
            <a:endParaRPr lang="en-US" sz="1800" b="1" dirty="0"/>
          </a:p>
        </p:txBody>
      </p:sp>
      <p:pic>
        <p:nvPicPr>
          <p:cNvPr id="16389" name="Picture 5"/>
          <p:cNvPicPr>
            <a:picLocks noChangeAspect="1" noChangeArrowheads="1"/>
          </p:cNvPicPr>
          <p:nvPr/>
        </p:nvPicPr>
        <p:blipFill>
          <a:blip r:embed="rId3" cstate="print"/>
          <a:srcRect/>
          <a:stretch>
            <a:fillRect/>
          </a:stretch>
        </p:blipFill>
        <p:spPr bwMode="auto">
          <a:xfrm>
            <a:off x="6324600" y="2057400"/>
            <a:ext cx="2428875" cy="2857500"/>
          </a:xfrm>
          <a:prstGeom prst="rect">
            <a:avLst/>
          </a:prstGeom>
          <a:noFill/>
          <a:ln w="12700" algn="ctr">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1634" name="Rectangle 2"/>
          <p:cNvSpPr>
            <a:spLocks noGrp="1" noChangeArrowheads="1"/>
          </p:cNvSpPr>
          <p:nvPr>
            <p:ph type="title"/>
          </p:nvPr>
        </p:nvSpPr>
        <p:spPr/>
        <p:txBody>
          <a:bodyPr/>
          <a:lstStyle/>
          <a:p>
            <a:pPr>
              <a:defRPr/>
            </a:pPr>
            <a:r>
              <a:rPr lang="en-US" sz="4000" dirty="0"/>
              <a:t>Chart of Accounts</a:t>
            </a:r>
            <a:r>
              <a:rPr lang="en-US" sz="1600" dirty="0"/>
              <a:t>…</a:t>
            </a:r>
            <a:r>
              <a:rPr lang="en-US" sz="1600" dirty="0" err="1"/>
              <a:t>Contd</a:t>
            </a:r>
            <a:endParaRPr lang="en-US" sz="1600" dirty="0"/>
          </a:p>
        </p:txBody>
      </p:sp>
      <p:sp>
        <p:nvSpPr>
          <p:cNvPr id="17411" name="Rectangle 3"/>
          <p:cNvSpPr>
            <a:spLocks noGrp="1" noChangeArrowheads="1"/>
          </p:cNvSpPr>
          <p:nvPr>
            <p:ph type="body" idx="1"/>
          </p:nvPr>
        </p:nvSpPr>
        <p:spPr>
          <a:xfrm>
            <a:off x="381000" y="1219200"/>
            <a:ext cx="8382000" cy="4876800"/>
          </a:xfrm>
        </p:spPr>
        <p:txBody>
          <a:bodyPr/>
          <a:lstStyle/>
          <a:p>
            <a:endParaRPr lang="en-US" dirty="0">
              <a:effectLst/>
            </a:endParaRPr>
          </a:p>
          <a:p>
            <a:endParaRPr lang="en-US" dirty="0">
              <a:effectLst/>
            </a:endParaRPr>
          </a:p>
        </p:txBody>
      </p:sp>
      <p:sp>
        <p:nvSpPr>
          <p:cNvPr id="17412" name="Rectangle 4"/>
          <p:cNvSpPr>
            <a:spLocks noChangeArrowheads="1"/>
          </p:cNvSpPr>
          <p:nvPr/>
        </p:nvSpPr>
        <p:spPr bwMode="auto">
          <a:xfrm>
            <a:off x="457200" y="1905000"/>
            <a:ext cx="8382000" cy="3662363"/>
          </a:xfrm>
          <a:prstGeom prst="rect">
            <a:avLst/>
          </a:prstGeom>
          <a:noFill/>
          <a:ln w="12700" algn="ctr">
            <a:noFill/>
            <a:miter lim="800000"/>
            <a:headEnd/>
            <a:tailEnd/>
          </a:ln>
        </p:spPr>
        <p:txBody>
          <a:bodyPr>
            <a:spAutoFit/>
          </a:bodyPr>
          <a:lstStyle/>
          <a:p>
            <a:pPr>
              <a:buFontTx/>
              <a:buChar char="•"/>
            </a:pPr>
            <a:r>
              <a:rPr lang="en-US" sz="1800"/>
              <a:t>You can define an unlimited number of charts of accounts in the R/3 System. Many country-specific charts of accounts are included in the standard system.</a:t>
            </a:r>
          </a:p>
          <a:p>
            <a:endParaRPr lang="en-US" sz="1800"/>
          </a:p>
          <a:p>
            <a:endParaRPr lang="en-US" sz="1800"/>
          </a:p>
          <a:p>
            <a:pPr>
              <a:buFontTx/>
              <a:buChar char="•"/>
            </a:pPr>
            <a:r>
              <a:rPr lang="en-US" sz="1800"/>
              <a:t>Chart of Accounts are of three types: </a:t>
            </a:r>
          </a:p>
          <a:p>
            <a:endParaRPr lang="en-US" sz="1800"/>
          </a:p>
          <a:p>
            <a:endParaRPr lang="en-US" sz="1800"/>
          </a:p>
          <a:p>
            <a:r>
              <a:rPr lang="en-US" sz="1800"/>
              <a:t>	Operating Chart of Accounts</a:t>
            </a:r>
          </a:p>
          <a:p>
            <a:endParaRPr lang="en-US" sz="1800"/>
          </a:p>
          <a:p>
            <a:r>
              <a:rPr lang="en-US" sz="1800"/>
              <a:t>	Country Specific Chart of Accounts</a:t>
            </a:r>
          </a:p>
          <a:p>
            <a:endParaRPr lang="en-US" sz="1800"/>
          </a:p>
          <a:p>
            <a:r>
              <a:rPr lang="en-US" sz="1800"/>
              <a:t>	Group Chart of Accounts</a:t>
            </a:r>
          </a:p>
          <a:p>
            <a:endParaRPr lang="en-US"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1874" name="Rectangle 2"/>
          <p:cNvSpPr>
            <a:spLocks noGrp="1" noChangeArrowheads="1"/>
          </p:cNvSpPr>
          <p:nvPr>
            <p:ph type="title"/>
          </p:nvPr>
        </p:nvSpPr>
        <p:spPr>
          <a:xfrm>
            <a:off x="0" y="700088"/>
            <a:ext cx="8734425" cy="671512"/>
          </a:xfrm>
        </p:spPr>
        <p:txBody>
          <a:bodyPr/>
          <a:lstStyle/>
          <a:p>
            <a:pPr algn="ctr">
              <a:defRPr/>
            </a:pPr>
            <a:r>
              <a:rPr lang="en-US" sz="4000" dirty="0"/>
              <a:t>General Ledger Account Groups</a:t>
            </a:r>
          </a:p>
        </p:txBody>
      </p:sp>
      <p:sp>
        <p:nvSpPr>
          <p:cNvPr id="18435" name="Rectangle 3"/>
          <p:cNvSpPr>
            <a:spLocks noGrp="1" noChangeArrowheads="1"/>
          </p:cNvSpPr>
          <p:nvPr>
            <p:ph type="body" idx="1"/>
          </p:nvPr>
        </p:nvSpPr>
        <p:spPr>
          <a:xfrm>
            <a:off x="381000" y="1219200"/>
            <a:ext cx="8382000" cy="4876800"/>
          </a:xfrm>
        </p:spPr>
        <p:txBody>
          <a:bodyPr/>
          <a:lstStyle/>
          <a:p>
            <a:endParaRPr lang="en-US">
              <a:effectLst/>
            </a:endParaRPr>
          </a:p>
          <a:p>
            <a:endParaRPr lang="en-US">
              <a:effectLst/>
            </a:endParaRPr>
          </a:p>
        </p:txBody>
      </p:sp>
      <p:pic>
        <p:nvPicPr>
          <p:cNvPr id="18436" name="Picture 4"/>
          <p:cNvPicPr>
            <a:picLocks noChangeAspect="1" noChangeArrowheads="1"/>
          </p:cNvPicPr>
          <p:nvPr/>
        </p:nvPicPr>
        <p:blipFill>
          <a:blip r:embed="rId3" cstate="print"/>
          <a:srcRect/>
          <a:stretch>
            <a:fillRect/>
          </a:stretch>
        </p:blipFill>
        <p:spPr bwMode="auto">
          <a:xfrm>
            <a:off x="1828800" y="1295400"/>
            <a:ext cx="5410200" cy="3505200"/>
          </a:xfrm>
          <a:prstGeom prst="rect">
            <a:avLst/>
          </a:prstGeom>
          <a:noFill/>
          <a:ln w="12700" algn="ctr">
            <a:noFill/>
            <a:miter lim="800000"/>
            <a:headEnd/>
            <a:tailEnd/>
          </a:ln>
        </p:spPr>
      </p:pic>
      <p:sp>
        <p:nvSpPr>
          <p:cNvPr id="18437" name="Rectangle 5"/>
          <p:cNvSpPr>
            <a:spLocks noChangeArrowheads="1"/>
          </p:cNvSpPr>
          <p:nvPr/>
        </p:nvSpPr>
        <p:spPr bwMode="auto">
          <a:xfrm>
            <a:off x="0" y="4495800"/>
            <a:ext cx="9144000" cy="1830388"/>
          </a:xfrm>
          <a:prstGeom prst="rect">
            <a:avLst/>
          </a:prstGeom>
          <a:noFill/>
          <a:ln w="12700" algn="ctr">
            <a:noFill/>
            <a:miter lim="800000"/>
            <a:headEnd/>
            <a:tailEnd/>
          </a:ln>
        </p:spPr>
        <p:txBody>
          <a:bodyPr>
            <a:spAutoFit/>
          </a:bodyPr>
          <a:lstStyle/>
          <a:p>
            <a:pPr algn="just">
              <a:buFontTx/>
              <a:buChar char="•"/>
            </a:pPr>
            <a:r>
              <a:rPr lang="en-US" sz="1800"/>
              <a:t>In order to organize and manage a large number of G/L accounts better, they are arranged in </a:t>
            </a:r>
            <a:r>
              <a:rPr lang="en-US" sz="1800" b="1"/>
              <a:t>account groups </a:t>
            </a:r>
            <a:r>
              <a:rPr lang="en-US" sz="1800"/>
              <a:t>.</a:t>
            </a:r>
          </a:p>
          <a:p>
            <a:pPr algn="just"/>
            <a:endParaRPr lang="en-US" sz="1800"/>
          </a:p>
          <a:p>
            <a:pPr algn="just">
              <a:buFontTx/>
              <a:buChar char="•"/>
            </a:pPr>
            <a:r>
              <a:rPr lang="en-US" sz="1800"/>
              <a:t>The accounts of an account group normally have similar business functions. You could, for example, have an account group for cash accounts, one for expense accounts, one for revenue accounts, and one for other balance sheet accounts</a:t>
            </a:r>
            <a:r>
              <a:rPr lang="en-US" sz="2400"/>
              <a:t>, etc.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0674" name="Rectangle 2"/>
          <p:cNvSpPr>
            <a:spLocks noGrp="1" noChangeArrowheads="1"/>
          </p:cNvSpPr>
          <p:nvPr>
            <p:ph type="title"/>
          </p:nvPr>
        </p:nvSpPr>
        <p:spPr/>
        <p:txBody>
          <a:bodyPr/>
          <a:lstStyle/>
          <a:p>
            <a:pPr algn="ctr">
              <a:defRPr/>
            </a:pPr>
            <a:r>
              <a:rPr lang="en-US" sz="4000"/>
              <a:t>GL Master Data</a:t>
            </a:r>
          </a:p>
        </p:txBody>
      </p:sp>
      <p:sp>
        <p:nvSpPr>
          <p:cNvPr id="30723" name="Rectangle 3"/>
          <p:cNvSpPr>
            <a:spLocks noGrp="1" noChangeArrowheads="1"/>
          </p:cNvSpPr>
          <p:nvPr>
            <p:ph type="body" idx="1"/>
          </p:nvPr>
        </p:nvSpPr>
        <p:spPr>
          <a:xfrm>
            <a:off x="381000" y="1219200"/>
            <a:ext cx="8382000" cy="4876800"/>
          </a:xfrm>
        </p:spPr>
        <p:txBody>
          <a:bodyPr/>
          <a:lstStyle/>
          <a:p>
            <a:endParaRPr lang="en-US">
              <a:effectLst/>
            </a:endParaRPr>
          </a:p>
          <a:p>
            <a:endParaRPr lang="en-US">
              <a:effectLst/>
            </a:endParaRPr>
          </a:p>
        </p:txBody>
      </p:sp>
      <p:sp>
        <p:nvSpPr>
          <p:cNvPr id="540677" name="Rectangle 5"/>
          <p:cNvSpPr>
            <a:spLocks noChangeArrowheads="1"/>
          </p:cNvSpPr>
          <p:nvPr/>
        </p:nvSpPr>
        <p:spPr bwMode="auto">
          <a:xfrm>
            <a:off x="304800" y="2057400"/>
            <a:ext cx="8324850" cy="3914775"/>
          </a:xfrm>
          <a:prstGeom prst="rect">
            <a:avLst/>
          </a:prstGeom>
          <a:gradFill rotWithShape="0">
            <a:gsLst>
              <a:gs pos="0">
                <a:srgbClr val="F6BF69">
                  <a:gamma/>
                  <a:shade val="89804"/>
                  <a:invGamma/>
                </a:srgbClr>
              </a:gs>
              <a:gs pos="100000">
                <a:srgbClr val="F6BF69"/>
              </a:gs>
            </a:gsLst>
            <a:lin ang="5400000" scaled="1"/>
          </a:gradFill>
          <a:ln w="12700">
            <a:solidFill>
              <a:schemeClr val="tx1"/>
            </a:solidFill>
            <a:miter lim="800000"/>
            <a:headEnd/>
            <a:tailEnd/>
          </a:ln>
          <a:effectLst>
            <a:prstShdw prst="shdw17" dist="17961" dir="2700000">
              <a:schemeClr val="tx1">
                <a:gamma/>
                <a:shade val="60000"/>
                <a:invGamma/>
              </a:schemeClr>
            </a:prstShdw>
          </a:effectLst>
        </p:spPr>
        <p:txBody>
          <a:bodyPr wrap="none" anchor="ctr"/>
          <a:lstStyle/>
          <a:p>
            <a:pPr>
              <a:defRPr/>
            </a:pPr>
            <a:endParaRPr lang="en-US"/>
          </a:p>
        </p:txBody>
      </p:sp>
      <p:grpSp>
        <p:nvGrpSpPr>
          <p:cNvPr id="30725" name="Group 8"/>
          <p:cNvGrpSpPr>
            <a:grpSpLocks/>
          </p:cNvGrpSpPr>
          <p:nvPr/>
        </p:nvGrpSpPr>
        <p:grpSpPr bwMode="auto">
          <a:xfrm>
            <a:off x="3810000" y="1295400"/>
            <a:ext cx="1363663" cy="490538"/>
            <a:chOff x="2227" y="919"/>
            <a:chExt cx="859" cy="309"/>
          </a:xfrm>
        </p:grpSpPr>
        <p:sp>
          <p:nvSpPr>
            <p:cNvPr id="30787" name="Freeform 9"/>
            <p:cNvSpPr>
              <a:spLocks/>
            </p:cNvSpPr>
            <p:nvPr/>
          </p:nvSpPr>
          <p:spPr bwMode="auto">
            <a:xfrm>
              <a:off x="2227" y="919"/>
              <a:ext cx="859" cy="309"/>
            </a:xfrm>
            <a:custGeom>
              <a:avLst/>
              <a:gdLst>
                <a:gd name="T0" fmla="*/ 0 w 859"/>
                <a:gd name="T1" fmla="*/ 0 h 309"/>
                <a:gd name="T2" fmla="*/ 858 w 859"/>
                <a:gd name="T3" fmla="*/ 0 h 309"/>
                <a:gd name="T4" fmla="*/ 858 w 859"/>
                <a:gd name="T5" fmla="*/ 308 h 309"/>
                <a:gd name="T6" fmla="*/ 0 w 859"/>
                <a:gd name="T7" fmla="*/ 308 h 309"/>
                <a:gd name="T8" fmla="*/ 0 w 859"/>
                <a:gd name="T9" fmla="*/ 0 h 309"/>
                <a:gd name="T10" fmla="*/ 0 60000 65536"/>
                <a:gd name="T11" fmla="*/ 0 60000 65536"/>
                <a:gd name="T12" fmla="*/ 0 60000 65536"/>
                <a:gd name="T13" fmla="*/ 0 60000 65536"/>
                <a:gd name="T14" fmla="*/ 0 60000 65536"/>
                <a:gd name="T15" fmla="*/ 0 w 859"/>
                <a:gd name="T16" fmla="*/ 0 h 309"/>
                <a:gd name="T17" fmla="*/ 859 w 859"/>
                <a:gd name="T18" fmla="*/ 309 h 309"/>
              </a:gdLst>
              <a:ahLst/>
              <a:cxnLst>
                <a:cxn ang="T10">
                  <a:pos x="T0" y="T1"/>
                </a:cxn>
                <a:cxn ang="T11">
                  <a:pos x="T2" y="T3"/>
                </a:cxn>
                <a:cxn ang="T12">
                  <a:pos x="T4" y="T5"/>
                </a:cxn>
                <a:cxn ang="T13">
                  <a:pos x="T6" y="T7"/>
                </a:cxn>
                <a:cxn ang="T14">
                  <a:pos x="T8" y="T9"/>
                </a:cxn>
              </a:cxnLst>
              <a:rect l="T15" t="T16" r="T17" b="T18"/>
              <a:pathLst>
                <a:path w="859" h="309">
                  <a:moveTo>
                    <a:pt x="0" y="0"/>
                  </a:moveTo>
                  <a:lnTo>
                    <a:pt x="858" y="0"/>
                  </a:lnTo>
                  <a:lnTo>
                    <a:pt x="858" y="308"/>
                  </a:lnTo>
                  <a:lnTo>
                    <a:pt x="0" y="308"/>
                  </a:lnTo>
                  <a:lnTo>
                    <a:pt x="0" y="0"/>
                  </a:lnTo>
                </a:path>
              </a:pathLst>
            </a:custGeom>
            <a:noFill/>
            <a:ln w="25400" cap="rnd" cmpd="sng">
              <a:solidFill>
                <a:schemeClr val="tx1"/>
              </a:solidFill>
              <a:prstDash val="solid"/>
              <a:round/>
              <a:headEnd/>
              <a:tailEnd/>
            </a:ln>
          </p:spPr>
          <p:txBody>
            <a:bodyPr/>
            <a:lstStyle/>
            <a:p>
              <a:endParaRPr lang="en-US"/>
            </a:p>
          </p:txBody>
        </p:sp>
        <p:sp>
          <p:nvSpPr>
            <p:cNvPr id="30788" name="Freeform 10"/>
            <p:cNvSpPr>
              <a:spLocks/>
            </p:cNvSpPr>
            <p:nvPr/>
          </p:nvSpPr>
          <p:spPr bwMode="auto">
            <a:xfrm>
              <a:off x="2227" y="919"/>
              <a:ext cx="859" cy="309"/>
            </a:xfrm>
            <a:custGeom>
              <a:avLst/>
              <a:gdLst>
                <a:gd name="T0" fmla="*/ 0 w 859"/>
                <a:gd name="T1" fmla="*/ 0 h 309"/>
                <a:gd name="T2" fmla="*/ 858 w 859"/>
                <a:gd name="T3" fmla="*/ 0 h 309"/>
                <a:gd name="T4" fmla="*/ 858 w 859"/>
                <a:gd name="T5" fmla="*/ 308 h 309"/>
                <a:gd name="T6" fmla="*/ 0 w 859"/>
                <a:gd name="T7" fmla="*/ 308 h 309"/>
                <a:gd name="T8" fmla="*/ 0 w 859"/>
                <a:gd name="T9" fmla="*/ 0 h 309"/>
                <a:gd name="T10" fmla="*/ 0 60000 65536"/>
                <a:gd name="T11" fmla="*/ 0 60000 65536"/>
                <a:gd name="T12" fmla="*/ 0 60000 65536"/>
                <a:gd name="T13" fmla="*/ 0 60000 65536"/>
                <a:gd name="T14" fmla="*/ 0 60000 65536"/>
                <a:gd name="T15" fmla="*/ 0 w 859"/>
                <a:gd name="T16" fmla="*/ 0 h 309"/>
                <a:gd name="T17" fmla="*/ 859 w 859"/>
                <a:gd name="T18" fmla="*/ 309 h 309"/>
              </a:gdLst>
              <a:ahLst/>
              <a:cxnLst>
                <a:cxn ang="T10">
                  <a:pos x="T0" y="T1"/>
                </a:cxn>
                <a:cxn ang="T11">
                  <a:pos x="T2" y="T3"/>
                </a:cxn>
                <a:cxn ang="T12">
                  <a:pos x="T4" y="T5"/>
                </a:cxn>
                <a:cxn ang="T13">
                  <a:pos x="T6" y="T7"/>
                </a:cxn>
                <a:cxn ang="T14">
                  <a:pos x="T8" y="T9"/>
                </a:cxn>
              </a:cxnLst>
              <a:rect l="T15" t="T16" r="T17" b="T18"/>
              <a:pathLst>
                <a:path w="859" h="309">
                  <a:moveTo>
                    <a:pt x="0" y="0"/>
                  </a:moveTo>
                  <a:lnTo>
                    <a:pt x="858" y="0"/>
                  </a:lnTo>
                  <a:lnTo>
                    <a:pt x="858" y="308"/>
                  </a:lnTo>
                  <a:lnTo>
                    <a:pt x="0" y="308"/>
                  </a:lnTo>
                  <a:lnTo>
                    <a:pt x="0" y="0"/>
                  </a:lnTo>
                </a:path>
              </a:pathLst>
            </a:custGeom>
            <a:solidFill>
              <a:schemeClr val="accent2"/>
            </a:solidFill>
            <a:ln w="9525" cap="rnd">
              <a:noFill/>
              <a:round/>
              <a:headEnd/>
              <a:tailEnd/>
            </a:ln>
          </p:spPr>
          <p:txBody>
            <a:bodyPr/>
            <a:lstStyle/>
            <a:p>
              <a:endParaRPr lang="en-US"/>
            </a:p>
          </p:txBody>
        </p:sp>
        <p:sp>
          <p:nvSpPr>
            <p:cNvPr id="30789" name="Freeform 11"/>
            <p:cNvSpPr>
              <a:spLocks/>
            </p:cNvSpPr>
            <p:nvPr/>
          </p:nvSpPr>
          <p:spPr bwMode="auto">
            <a:xfrm>
              <a:off x="2227" y="919"/>
              <a:ext cx="859" cy="309"/>
            </a:xfrm>
            <a:custGeom>
              <a:avLst/>
              <a:gdLst>
                <a:gd name="T0" fmla="*/ 0 w 859"/>
                <a:gd name="T1" fmla="*/ 308 h 309"/>
                <a:gd name="T2" fmla="*/ 0 w 859"/>
                <a:gd name="T3" fmla="*/ 0 h 309"/>
                <a:gd name="T4" fmla="*/ 858 w 859"/>
                <a:gd name="T5" fmla="*/ 0 h 309"/>
                <a:gd name="T6" fmla="*/ 0 60000 65536"/>
                <a:gd name="T7" fmla="*/ 0 60000 65536"/>
                <a:gd name="T8" fmla="*/ 0 60000 65536"/>
                <a:gd name="T9" fmla="*/ 0 w 859"/>
                <a:gd name="T10" fmla="*/ 0 h 309"/>
                <a:gd name="T11" fmla="*/ 859 w 859"/>
                <a:gd name="T12" fmla="*/ 309 h 309"/>
              </a:gdLst>
              <a:ahLst/>
              <a:cxnLst>
                <a:cxn ang="T6">
                  <a:pos x="T0" y="T1"/>
                </a:cxn>
                <a:cxn ang="T7">
                  <a:pos x="T2" y="T3"/>
                </a:cxn>
                <a:cxn ang="T8">
                  <a:pos x="T4" y="T5"/>
                </a:cxn>
              </a:cxnLst>
              <a:rect l="T9" t="T10" r="T11" b="T12"/>
              <a:pathLst>
                <a:path w="859" h="309">
                  <a:moveTo>
                    <a:pt x="0" y="308"/>
                  </a:moveTo>
                  <a:lnTo>
                    <a:pt x="0" y="0"/>
                  </a:lnTo>
                  <a:lnTo>
                    <a:pt x="858" y="0"/>
                  </a:lnTo>
                </a:path>
              </a:pathLst>
            </a:custGeom>
            <a:noFill/>
            <a:ln w="12700" cap="rnd" cmpd="sng">
              <a:solidFill>
                <a:srgbClr val="FFFFFF"/>
              </a:solidFill>
              <a:prstDash val="solid"/>
              <a:round/>
              <a:headEnd type="none" w="sm" len="sm"/>
              <a:tailEnd type="none" w="sm" len="sm"/>
            </a:ln>
          </p:spPr>
          <p:txBody>
            <a:bodyPr/>
            <a:lstStyle/>
            <a:p>
              <a:endParaRPr lang="en-US"/>
            </a:p>
          </p:txBody>
        </p:sp>
        <p:sp>
          <p:nvSpPr>
            <p:cNvPr id="30790" name="Freeform 12"/>
            <p:cNvSpPr>
              <a:spLocks/>
            </p:cNvSpPr>
            <p:nvPr/>
          </p:nvSpPr>
          <p:spPr bwMode="auto">
            <a:xfrm>
              <a:off x="2227" y="919"/>
              <a:ext cx="859" cy="309"/>
            </a:xfrm>
            <a:custGeom>
              <a:avLst/>
              <a:gdLst>
                <a:gd name="T0" fmla="*/ 858 w 859"/>
                <a:gd name="T1" fmla="*/ 0 h 309"/>
                <a:gd name="T2" fmla="*/ 858 w 859"/>
                <a:gd name="T3" fmla="*/ 308 h 309"/>
                <a:gd name="T4" fmla="*/ 0 w 859"/>
                <a:gd name="T5" fmla="*/ 308 h 309"/>
                <a:gd name="T6" fmla="*/ 0 60000 65536"/>
                <a:gd name="T7" fmla="*/ 0 60000 65536"/>
                <a:gd name="T8" fmla="*/ 0 60000 65536"/>
                <a:gd name="T9" fmla="*/ 0 w 859"/>
                <a:gd name="T10" fmla="*/ 0 h 309"/>
                <a:gd name="T11" fmla="*/ 859 w 859"/>
                <a:gd name="T12" fmla="*/ 309 h 309"/>
              </a:gdLst>
              <a:ahLst/>
              <a:cxnLst>
                <a:cxn ang="T6">
                  <a:pos x="T0" y="T1"/>
                </a:cxn>
                <a:cxn ang="T7">
                  <a:pos x="T2" y="T3"/>
                </a:cxn>
                <a:cxn ang="T8">
                  <a:pos x="T4" y="T5"/>
                </a:cxn>
              </a:cxnLst>
              <a:rect l="T9" t="T10" r="T11" b="T12"/>
              <a:pathLst>
                <a:path w="859" h="309">
                  <a:moveTo>
                    <a:pt x="858" y="0"/>
                  </a:moveTo>
                  <a:lnTo>
                    <a:pt x="858" y="308"/>
                  </a:lnTo>
                  <a:lnTo>
                    <a:pt x="0" y="308"/>
                  </a:lnTo>
                </a:path>
              </a:pathLst>
            </a:custGeom>
            <a:noFill/>
            <a:ln w="12700" cap="rnd" cmpd="sng">
              <a:solidFill>
                <a:schemeClr val="tx1"/>
              </a:solidFill>
              <a:prstDash val="solid"/>
              <a:round/>
              <a:headEnd type="none" w="sm" len="sm"/>
              <a:tailEnd type="none" w="sm" len="sm"/>
            </a:ln>
          </p:spPr>
          <p:txBody>
            <a:bodyPr/>
            <a:lstStyle/>
            <a:p>
              <a:endParaRPr lang="en-US"/>
            </a:p>
          </p:txBody>
        </p:sp>
      </p:grpSp>
      <p:sp>
        <p:nvSpPr>
          <p:cNvPr id="30726" name="Rectangle 13"/>
          <p:cNvSpPr>
            <a:spLocks noChangeArrowheads="1"/>
          </p:cNvSpPr>
          <p:nvPr/>
        </p:nvSpPr>
        <p:spPr bwMode="auto">
          <a:xfrm>
            <a:off x="4114800" y="1371600"/>
            <a:ext cx="749300" cy="336550"/>
          </a:xfrm>
          <a:prstGeom prst="rect">
            <a:avLst/>
          </a:prstGeom>
          <a:noFill/>
          <a:ln w="12700" algn="ctr">
            <a:noFill/>
            <a:miter lim="800000"/>
            <a:headEnd/>
            <a:tailEnd/>
          </a:ln>
        </p:spPr>
        <p:txBody>
          <a:bodyPr wrap="none">
            <a:spAutoFit/>
          </a:bodyPr>
          <a:lstStyle/>
          <a:p>
            <a:r>
              <a:rPr lang="en-US" b="1">
                <a:solidFill>
                  <a:srgbClr val="EAEC5E"/>
                </a:solidFill>
              </a:rPr>
              <a:t>Client</a:t>
            </a:r>
          </a:p>
        </p:txBody>
      </p:sp>
      <p:sp>
        <p:nvSpPr>
          <p:cNvPr id="30727" name="Freeform 14"/>
          <p:cNvSpPr>
            <a:spLocks/>
          </p:cNvSpPr>
          <p:nvPr/>
        </p:nvSpPr>
        <p:spPr bwMode="auto">
          <a:xfrm>
            <a:off x="4343400" y="1752600"/>
            <a:ext cx="133350" cy="587375"/>
          </a:xfrm>
          <a:custGeom>
            <a:avLst/>
            <a:gdLst>
              <a:gd name="T0" fmla="*/ 128588 w 84"/>
              <a:gd name="T1" fmla="*/ 0 h 370"/>
              <a:gd name="T2" fmla="*/ 0 w 84"/>
              <a:gd name="T3" fmla="*/ 1588 h 370"/>
              <a:gd name="T4" fmla="*/ 0 w 84"/>
              <a:gd name="T5" fmla="*/ 520700 h 370"/>
              <a:gd name="T6" fmla="*/ 66675 w 84"/>
              <a:gd name="T7" fmla="*/ 585788 h 370"/>
              <a:gd name="T8" fmla="*/ 131763 w 84"/>
              <a:gd name="T9" fmla="*/ 517525 h 370"/>
              <a:gd name="T10" fmla="*/ 128588 w 84"/>
              <a:gd name="T11" fmla="*/ 0 h 370"/>
              <a:gd name="T12" fmla="*/ 0 60000 65536"/>
              <a:gd name="T13" fmla="*/ 0 60000 65536"/>
              <a:gd name="T14" fmla="*/ 0 60000 65536"/>
              <a:gd name="T15" fmla="*/ 0 60000 65536"/>
              <a:gd name="T16" fmla="*/ 0 60000 65536"/>
              <a:gd name="T17" fmla="*/ 0 60000 65536"/>
              <a:gd name="T18" fmla="*/ 0 w 84"/>
              <a:gd name="T19" fmla="*/ 0 h 370"/>
              <a:gd name="T20" fmla="*/ 84 w 84"/>
              <a:gd name="T21" fmla="*/ 370 h 370"/>
            </a:gdLst>
            <a:ahLst/>
            <a:cxnLst>
              <a:cxn ang="T12">
                <a:pos x="T0" y="T1"/>
              </a:cxn>
              <a:cxn ang="T13">
                <a:pos x="T2" y="T3"/>
              </a:cxn>
              <a:cxn ang="T14">
                <a:pos x="T4" y="T5"/>
              </a:cxn>
              <a:cxn ang="T15">
                <a:pos x="T6" y="T7"/>
              </a:cxn>
              <a:cxn ang="T16">
                <a:pos x="T8" y="T9"/>
              </a:cxn>
              <a:cxn ang="T17">
                <a:pos x="T10" y="T11"/>
              </a:cxn>
            </a:cxnLst>
            <a:rect l="T18" t="T19" r="T20" b="T21"/>
            <a:pathLst>
              <a:path w="84" h="370">
                <a:moveTo>
                  <a:pt x="81" y="0"/>
                </a:moveTo>
                <a:lnTo>
                  <a:pt x="0" y="1"/>
                </a:lnTo>
                <a:lnTo>
                  <a:pt x="0" y="328"/>
                </a:lnTo>
                <a:lnTo>
                  <a:pt x="42" y="369"/>
                </a:lnTo>
                <a:lnTo>
                  <a:pt x="83" y="326"/>
                </a:lnTo>
                <a:lnTo>
                  <a:pt x="81" y="0"/>
                </a:lnTo>
              </a:path>
            </a:pathLst>
          </a:custGeom>
          <a:gradFill rotWithShape="0">
            <a:gsLst>
              <a:gs pos="0">
                <a:srgbClr val="00CC00"/>
              </a:gs>
              <a:gs pos="50000">
                <a:srgbClr val="00FF00"/>
              </a:gs>
              <a:gs pos="100000">
                <a:srgbClr val="00CC00"/>
              </a:gs>
            </a:gsLst>
            <a:lin ang="0" scaled="1"/>
          </a:gradFill>
          <a:ln w="9525" cap="rnd">
            <a:noFill/>
            <a:round/>
            <a:headEnd/>
            <a:tailEnd/>
          </a:ln>
        </p:spPr>
        <p:txBody>
          <a:bodyPr/>
          <a:lstStyle/>
          <a:p>
            <a:endParaRPr lang="en-US"/>
          </a:p>
        </p:txBody>
      </p:sp>
      <p:sp>
        <p:nvSpPr>
          <p:cNvPr id="30728" name="Rectangle 15"/>
          <p:cNvSpPr>
            <a:spLocks noChangeArrowheads="1"/>
          </p:cNvSpPr>
          <p:nvPr/>
        </p:nvSpPr>
        <p:spPr bwMode="auto">
          <a:xfrm>
            <a:off x="2743200" y="2362200"/>
            <a:ext cx="3422650" cy="100013"/>
          </a:xfrm>
          <a:prstGeom prst="rect">
            <a:avLst/>
          </a:prstGeom>
          <a:gradFill rotWithShape="0">
            <a:gsLst>
              <a:gs pos="0">
                <a:srgbClr val="00CC00"/>
              </a:gs>
              <a:gs pos="50000">
                <a:srgbClr val="00FF00"/>
              </a:gs>
              <a:gs pos="100000">
                <a:srgbClr val="00CC00"/>
              </a:gs>
            </a:gsLst>
            <a:lin ang="5400000" scaled="1"/>
          </a:gradFill>
          <a:ln w="9525">
            <a:noFill/>
            <a:miter lim="800000"/>
            <a:headEnd/>
            <a:tailEnd/>
          </a:ln>
        </p:spPr>
        <p:txBody>
          <a:bodyPr wrap="none" anchor="ctr"/>
          <a:lstStyle/>
          <a:p>
            <a:endParaRPr lang="en-US"/>
          </a:p>
        </p:txBody>
      </p:sp>
      <p:sp>
        <p:nvSpPr>
          <p:cNvPr id="540688" name="Rectangle 16"/>
          <p:cNvSpPr>
            <a:spLocks noChangeArrowheads="1"/>
          </p:cNvSpPr>
          <p:nvPr/>
        </p:nvSpPr>
        <p:spPr bwMode="auto">
          <a:xfrm>
            <a:off x="609600" y="2209800"/>
            <a:ext cx="2182813" cy="336550"/>
          </a:xfrm>
          <a:prstGeom prst="rect">
            <a:avLst/>
          </a:prstGeom>
          <a:solidFill>
            <a:schemeClr val="bg1"/>
          </a:solidFill>
          <a:ln w="9525">
            <a:noFill/>
            <a:miter lim="800000"/>
            <a:headEnd/>
            <a:tailEnd/>
          </a:ln>
          <a:effectLst>
            <a:prstShdw prst="shdw17" dist="17961" dir="2700000">
              <a:schemeClr val="bg1">
                <a:gamma/>
                <a:shade val="60000"/>
                <a:invGamma/>
              </a:schemeClr>
            </a:prstShdw>
          </a:effectLst>
        </p:spPr>
        <p:txBody>
          <a:bodyPr wrap="none" lIns="92075" tIns="46038" rIns="92075" bIns="46038">
            <a:spAutoFit/>
          </a:bodyPr>
          <a:lstStyle/>
          <a:p>
            <a:pPr>
              <a:defRPr/>
            </a:pPr>
            <a:r>
              <a:rPr lang="en-US" b="1"/>
              <a:t>in Chart of Accounts</a:t>
            </a:r>
          </a:p>
        </p:txBody>
      </p:sp>
      <p:sp>
        <p:nvSpPr>
          <p:cNvPr id="30730" name="Freeform 17"/>
          <p:cNvSpPr>
            <a:spLocks/>
          </p:cNvSpPr>
          <p:nvPr/>
        </p:nvSpPr>
        <p:spPr bwMode="auto">
          <a:xfrm>
            <a:off x="2667000" y="2438400"/>
            <a:ext cx="103188" cy="522288"/>
          </a:xfrm>
          <a:custGeom>
            <a:avLst/>
            <a:gdLst>
              <a:gd name="T0" fmla="*/ 101600 w 65"/>
              <a:gd name="T1" fmla="*/ 511175 h 329"/>
              <a:gd name="T2" fmla="*/ 0 w 65"/>
              <a:gd name="T3" fmla="*/ 520700 h 329"/>
              <a:gd name="T4" fmla="*/ 0 w 65"/>
              <a:gd name="T5" fmla="*/ 0 h 329"/>
              <a:gd name="T6" fmla="*/ 101600 w 65"/>
              <a:gd name="T7" fmla="*/ 109538 h 329"/>
              <a:gd name="T8" fmla="*/ 101600 w 65"/>
              <a:gd name="T9" fmla="*/ 511175 h 329"/>
              <a:gd name="T10" fmla="*/ 0 60000 65536"/>
              <a:gd name="T11" fmla="*/ 0 60000 65536"/>
              <a:gd name="T12" fmla="*/ 0 60000 65536"/>
              <a:gd name="T13" fmla="*/ 0 60000 65536"/>
              <a:gd name="T14" fmla="*/ 0 60000 65536"/>
              <a:gd name="T15" fmla="*/ 0 w 65"/>
              <a:gd name="T16" fmla="*/ 0 h 329"/>
              <a:gd name="T17" fmla="*/ 65 w 65"/>
              <a:gd name="T18" fmla="*/ 329 h 329"/>
            </a:gdLst>
            <a:ahLst/>
            <a:cxnLst>
              <a:cxn ang="T10">
                <a:pos x="T0" y="T1"/>
              </a:cxn>
              <a:cxn ang="T11">
                <a:pos x="T2" y="T3"/>
              </a:cxn>
              <a:cxn ang="T12">
                <a:pos x="T4" y="T5"/>
              </a:cxn>
              <a:cxn ang="T13">
                <a:pos x="T6" y="T7"/>
              </a:cxn>
              <a:cxn ang="T14">
                <a:pos x="T8" y="T9"/>
              </a:cxn>
            </a:cxnLst>
            <a:rect l="T15" t="T16" r="T17" b="T18"/>
            <a:pathLst>
              <a:path w="65" h="329">
                <a:moveTo>
                  <a:pt x="64" y="322"/>
                </a:moveTo>
                <a:lnTo>
                  <a:pt x="0" y="328"/>
                </a:lnTo>
                <a:lnTo>
                  <a:pt x="0" y="0"/>
                </a:lnTo>
                <a:lnTo>
                  <a:pt x="64" y="69"/>
                </a:lnTo>
                <a:lnTo>
                  <a:pt x="64" y="322"/>
                </a:lnTo>
              </a:path>
            </a:pathLst>
          </a:custGeom>
          <a:gradFill rotWithShape="0">
            <a:gsLst>
              <a:gs pos="0">
                <a:srgbClr val="00CC00"/>
              </a:gs>
              <a:gs pos="50000">
                <a:srgbClr val="00FF00"/>
              </a:gs>
              <a:gs pos="100000">
                <a:srgbClr val="00CC00"/>
              </a:gs>
            </a:gsLst>
            <a:lin ang="0" scaled="1"/>
          </a:gradFill>
          <a:ln w="9525" cap="rnd">
            <a:noFill/>
            <a:round/>
            <a:headEnd/>
            <a:tailEnd/>
          </a:ln>
        </p:spPr>
        <p:txBody>
          <a:bodyPr/>
          <a:lstStyle/>
          <a:p>
            <a:endParaRPr lang="en-US"/>
          </a:p>
        </p:txBody>
      </p:sp>
      <p:sp>
        <p:nvSpPr>
          <p:cNvPr id="30731" name="Freeform 18"/>
          <p:cNvSpPr>
            <a:spLocks/>
          </p:cNvSpPr>
          <p:nvPr/>
        </p:nvSpPr>
        <p:spPr bwMode="auto">
          <a:xfrm>
            <a:off x="6096000" y="2438400"/>
            <a:ext cx="103188" cy="517525"/>
          </a:xfrm>
          <a:custGeom>
            <a:avLst/>
            <a:gdLst>
              <a:gd name="T0" fmla="*/ 0 w 65"/>
              <a:gd name="T1" fmla="*/ 506413 h 326"/>
              <a:gd name="T2" fmla="*/ 101600 w 65"/>
              <a:gd name="T3" fmla="*/ 515938 h 326"/>
              <a:gd name="T4" fmla="*/ 101600 w 65"/>
              <a:gd name="T5" fmla="*/ 0 h 326"/>
              <a:gd name="T6" fmla="*/ 0 w 65"/>
              <a:gd name="T7" fmla="*/ 101600 h 326"/>
              <a:gd name="T8" fmla="*/ 0 w 65"/>
              <a:gd name="T9" fmla="*/ 506413 h 326"/>
              <a:gd name="T10" fmla="*/ 0 60000 65536"/>
              <a:gd name="T11" fmla="*/ 0 60000 65536"/>
              <a:gd name="T12" fmla="*/ 0 60000 65536"/>
              <a:gd name="T13" fmla="*/ 0 60000 65536"/>
              <a:gd name="T14" fmla="*/ 0 60000 65536"/>
              <a:gd name="T15" fmla="*/ 0 w 65"/>
              <a:gd name="T16" fmla="*/ 0 h 326"/>
              <a:gd name="T17" fmla="*/ 65 w 65"/>
              <a:gd name="T18" fmla="*/ 326 h 326"/>
            </a:gdLst>
            <a:ahLst/>
            <a:cxnLst>
              <a:cxn ang="T10">
                <a:pos x="T0" y="T1"/>
              </a:cxn>
              <a:cxn ang="T11">
                <a:pos x="T2" y="T3"/>
              </a:cxn>
              <a:cxn ang="T12">
                <a:pos x="T4" y="T5"/>
              </a:cxn>
              <a:cxn ang="T13">
                <a:pos x="T6" y="T7"/>
              </a:cxn>
              <a:cxn ang="T14">
                <a:pos x="T8" y="T9"/>
              </a:cxn>
            </a:cxnLst>
            <a:rect l="T15" t="T16" r="T17" b="T18"/>
            <a:pathLst>
              <a:path w="65" h="326">
                <a:moveTo>
                  <a:pt x="0" y="319"/>
                </a:moveTo>
                <a:lnTo>
                  <a:pt x="64" y="325"/>
                </a:lnTo>
                <a:lnTo>
                  <a:pt x="64" y="0"/>
                </a:lnTo>
                <a:lnTo>
                  <a:pt x="0" y="64"/>
                </a:lnTo>
                <a:lnTo>
                  <a:pt x="0" y="319"/>
                </a:lnTo>
              </a:path>
            </a:pathLst>
          </a:custGeom>
          <a:gradFill rotWithShape="0">
            <a:gsLst>
              <a:gs pos="0">
                <a:srgbClr val="00CC00"/>
              </a:gs>
              <a:gs pos="50000">
                <a:srgbClr val="00FF00"/>
              </a:gs>
              <a:gs pos="100000">
                <a:srgbClr val="00CC00"/>
              </a:gs>
            </a:gsLst>
            <a:lin ang="0" scaled="1"/>
          </a:gradFill>
          <a:ln w="9525" cap="rnd">
            <a:noFill/>
            <a:round/>
            <a:headEnd/>
            <a:tailEnd/>
          </a:ln>
        </p:spPr>
        <p:txBody>
          <a:bodyPr/>
          <a:lstStyle/>
          <a:p>
            <a:endParaRPr lang="en-US"/>
          </a:p>
        </p:txBody>
      </p:sp>
      <p:grpSp>
        <p:nvGrpSpPr>
          <p:cNvPr id="30732" name="Group 19"/>
          <p:cNvGrpSpPr>
            <a:grpSpLocks/>
          </p:cNvGrpSpPr>
          <p:nvPr/>
        </p:nvGrpSpPr>
        <p:grpSpPr bwMode="auto">
          <a:xfrm>
            <a:off x="1849438" y="2878138"/>
            <a:ext cx="1751012" cy="490537"/>
            <a:chOff x="1165" y="1813"/>
            <a:chExt cx="1103" cy="309"/>
          </a:xfrm>
        </p:grpSpPr>
        <p:sp>
          <p:nvSpPr>
            <p:cNvPr id="30783" name="Freeform 20"/>
            <p:cNvSpPr>
              <a:spLocks/>
            </p:cNvSpPr>
            <p:nvPr/>
          </p:nvSpPr>
          <p:spPr bwMode="auto">
            <a:xfrm>
              <a:off x="1165" y="1813"/>
              <a:ext cx="1103" cy="309"/>
            </a:xfrm>
            <a:custGeom>
              <a:avLst/>
              <a:gdLst>
                <a:gd name="T0" fmla="*/ 0 w 1103"/>
                <a:gd name="T1" fmla="*/ 0 h 309"/>
                <a:gd name="T2" fmla="*/ 1102 w 1103"/>
                <a:gd name="T3" fmla="*/ 0 h 309"/>
                <a:gd name="T4" fmla="*/ 1102 w 1103"/>
                <a:gd name="T5" fmla="*/ 308 h 309"/>
                <a:gd name="T6" fmla="*/ 0 w 1103"/>
                <a:gd name="T7" fmla="*/ 308 h 309"/>
                <a:gd name="T8" fmla="*/ 0 w 1103"/>
                <a:gd name="T9" fmla="*/ 0 h 309"/>
                <a:gd name="T10" fmla="*/ 0 60000 65536"/>
                <a:gd name="T11" fmla="*/ 0 60000 65536"/>
                <a:gd name="T12" fmla="*/ 0 60000 65536"/>
                <a:gd name="T13" fmla="*/ 0 60000 65536"/>
                <a:gd name="T14" fmla="*/ 0 60000 65536"/>
                <a:gd name="T15" fmla="*/ 0 w 1103"/>
                <a:gd name="T16" fmla="*/ 0 h 309"/>
                <a:gd name="T17" fmla="*/ 1103 w 1103"/>
                <a:gd name="T18" fmla="*/ 309 h 309"/>
              </a:gdLst>
              <a:ahLst/>
              <a:cxnLst>
                <a:cxn ang="T10">
                  <a:pos x="T0" y="T1"/>
                </a:cxn>
                <a:cxn ang="T11">
                  <a:pos x="T2" y="T3"/>
                </a:cxn>
                <a:cxn ang="T12">
                  <a:pos x="T4" y="T5"/>
                </a:cxn>
                <a:cxn ang="T13">
                  <a:pos x="T6" y="T7"/>
                </a:cxn>
                <a:cxn ang="T14">
                  <a:pos x="T8" y="T9"/>
                </a:cxn>
              </a:cxnLst>
              <a:rect l="T15" t="T16" r="T17" b="T18"/>
              <a:pathLst>
                <a:path w="1103" h="309">
                  <a:moveTo>
                    <a:pt x="0" y="0"/>
                  </a:moveTo>
                  <a:lnTo>
                    <a:pt x="1102" y="0"/>
                  </a:lnTo>
                  <a:lnTo>
                    <a:pt x="1102" y="308"/>
                  </a:lnTo>
                  <a:lnTo>
                    <a:pt x="0" y="308"/>
                  </a:lnTo>
                  <a:lnTo>
                    <a:pt x="0" y="0"/>
                  </a:lnTo>
                </a:path>
              </a:pathLst>
            </a:custGeom>
            <a:noFill/>
            <a:ln w="25400" cap="rnd" cmpd="sng">
              <a:solidFill>
                <a:schemeClr val="tx1"/>
              </a:solidFill>
              <a:prstDash val="solid"/>
              <a:round/>
              <a:headEnd/>
              <a:tailEnd/>
            </a:ln>
          </p:spPr>
          <p:txBody>
            <a:bodyPr/>
            <a:lstStyle/>
            <a:p>
              <a:endParaRPr lang="en-US"/>
            </a:p>
          </p:txBody>
        </p:sp>
        <p:sp>
          <p:nvSpPr>
            <p:cNvPr id="30784" name="Freeform 21"/>
            <p:cNvSpPr>
              <a:spLocks/>
            </p:cNvSpPr>
            <p:nvPr/>
          </p:nvSpPr>
          <p:spPr bwMode="auto">
            <a:xfrm>
              <a:off x="1165" y="1813"/>
              <a:ext cx="1103" cy="309"/>
            </a:xfrm>
            <a:custGeom>
              <a:avLst/>
              <a:gdLst>
                <a:gd name="T0" fmla="*/ 0 w 1103"/>
                <a:gd name="T1" fmla="*/ 0 h 309"/>
                <a:gd name="T2" fmla="*/ 1102 w 1103"/>
                <a:gd name="T3" fmla="*/ 0 h 309"/>
                <a:gd name="T4" fmla="*/ 1102 w 1103"/>
                <a:gd name="T5" fmla="*/ 308 h 309"/>
                <a:gd name="T6" fmla="*/ 0 w 1103"/>
                <a:gd name="T7" fmla="*/ 308 h 309"/>
                <a:gd name="T8" fmla="*/ 0 w 1103"/>
                <a:gd name="T9" fmla="*/ 0 h 309"/>
                <a:gd name="T10" fmla="*/ 0 60000 65536"/>
                <a:gd name="T11" fmla="*/ 0 60000 65536"/>
                <a:gd name="T12" fmla="*/ 0 60000 65536"/>
                <a:gd name="T13" fmla="*/ 0 60000 65536"/>
                <a:gd name="T14" fmla="*/ 0 60000 65536"/>
                <a:gd name="T15" fmla="*/ 0 w 1103"/>
                <a:gd name="T16" fmla="*/ 0 h 309"/>
                <a:gd name="T17" fmla="*/ 1103 w 1103"/>
                <a:gd name="T18" fmla="*/ 309 h 309"/>
              </a:gdLst>
              <a:ahLst/>
              <a:cxnLst>
                <a:cxn ang="T10">
                  <a:pos x="T0" y="T1"/>
                </a:cxn>
                <a:cxn ang="T11">
                  <a:pos x="T2" y="T3"/>
                </a:cxn>
                <a:cxn ang="T12">
                  <a:pos x="T4" y="T5"/>
                </a:cxn>
                <a:cxn ang="T13">
                  <a:pos x="T6" y="T7"/>
                </a:cxn>
                <a:cxn ang="T14">
                  <a:pos x="T8" y="T9"/>
                </a:cxn>
              </a:cxnLst>
              <a:rect l="T15" t="T16" r="T17" b="T18"/>
              <a:pathLst>
                <a:path w="1103" h="309">
                  <a:moveTo>
                    <a:pt x="0" y="0"/>
                  </a:moveTo>
                  <a:lnTo>
                    <a:pt x="1102" y="0"/>
                  </a:lnTo>
                  <a:lnTo>
                    <a:pt x="1102" y="308"/>
                  </a:lnTo>
                  <a:lnTo>
                    <a:pt x="0" y="308"/>
                  </a:lnTo>
                  <a:lnTo>
                    <a:pt x="0" y="0"/>
                  </a:lnTo>
                </a:path>
              </a:pathLst>
            </a:custGeom>
            <a:solidFill>
              <a:schemeClr val="accent2"/>
            </a:solidFill>
            <a:ln w="9525" cap="rnd">
              <a:noFill/>
              <a:round/>
              <a:headEnd/>
              <a:tailEnd/>
            </a:ln>
          </p:spPr>
          <p:txBody>
            <a:bodyPr/>
            <a:lstStyle/>
            <a:p>
              <a:endParaRPr lang="en-US"/>
            </a:p>
          </p:txBody>
        </p:sp>
        <p:sp>
          <p:nvSpPr>
            <p:cNvPr id="30785" name="Freeform 22"/>
            <p:cNvSpPr>
              <a:spLocks/>
            </p:cNvSpPr>
            <p:nvPr/>
          </p:nvSpPr>
          <p:spPr bwMode="auto">
            <a:xfrm>
              <a:off x="1165" y="1813"/>
              <a:ext cx="1103" cy="309"/>
            </a:xfrm>
            <a:custGeom>
              <a:avLst/>
              <a:gdLst>
                <a:gd name="T0" fmla="*/ 0 w 1103"/>
                <a:gd name="T1" fmla="*/ 308 h 309"/>
                <a:gd name="T2" fmla="*/ 0 w 1103"/>
                <a:gd name="T3" fmla="*/ 0 h 309"/>
                <a:gd name="T4" fmla="*/ 1102 w 1103"/>
                <a:gd name="T5" fmla="*/ 0 h 309"/>
                <a:gd name="T6" fmla="*/ 0 60000 65536"/>
                <a:gd name="T7" fmla="*/ 0 60000 65536"/>
                <a:gd name="T8" fmla="*/ 0 60000 65536"/>
                <a:gd name="T9" fmla="*/ 0 w 1103"/>
                <a:gd name="T10" fmla="*/ 0 h 309"/>
                <a:gd name="T11" fmla="*/ 1103 w 1103"/>
                <a:gd name="T12" fmla="*/ 309 h 309"/>
              </a:gdLst>
              <a:ahLst/>
              <a:cxnLst>
                <a:cxn ang="T6">
                  <a:pos x="T0" y="T1"/>
                </a:cxn>
                <a:cxn ang="T7">
                  <a:pos x="T2" y="T3"/>
                </a:cxn>
                <a:cxn ang="T8">
                  <a:pos x="T4" y="T5"/>
                </a:cxn>
              </a:cxnLst>
              <a:rect l="T9" t="T10" r="T11" b="T12"/>
              <a:pathLst>
                <a:path w="1103" h="309">
                  <a:moveTo>
                    <a:pt x="0" y="308"/>
                  </a:moveTo>
                  <a:lnTo>
                    <a:pt x="0" y="0"/>
                  </a:lnTo>
                  <a:lnTo>
                    <a:pt x="1102" y="0"/>
                  </a:lnTo>
                </a:path>
              </a:pathLst>
            </a:custGeom>
            <a:noFill/>
            <a:ln w="12700" cap="rnd" cmpd="sng">
              <a:solidFill>
                <a:srgbClr val="FFFFFF"/>
              </a:solidFill>
              <a:prstDash val="solid"/>
              <a:round/>
              <a:headEnd type="none" w="sm" len="sm"/>
              <a:tailEnd type="none" w="sm" len="sm"/>
            </a:ln>
          </p:spPr>
          <p:txBody>
            <a:bodyPr/>
            <a:lstStyle/>
            <a:p>
              <a:endParaRPr lang="en-US"/>
            </a:p>
          </p:txBody>
        </p:sp>
        <p:sp>
          <p:nvSpPr>
            <p:cNvPr id="30786" name="Freeform 23"/>
            <p:cNvSpPr>
              <a:spLocks/>
            </p:cNvSpPr>
            <p:nvPr/>
          </p:nvSpPr>
          <p:spPr bwMode="auto">
            <a:xfrm>
              <a:off x="1165" y="1813"/>
              <a:ext cx="1103" cy="309"/>
            </a:xfrm>
            <a:custGeom>
              <a:avLst/>
              <a:gdLst>
                <a:gd name="T0" fmla="*/ 1102 w 1103"/>
                <a:gd name="T1" fmla="*/ 0 h 309"/>
                <a:gd name="T2" fmla="*/ 1102 w 1103"/>
                <a:gd name="T3" fmla="*/ 308 h 309"/>
                <a:gd name="T4" fmla="*/ 0 w 1103"/>
                <a:gd name="T5" fmla="*/ 308 h 309"/>
                <a:gd name="T6" fmla="*/ 0 60000 65536"/>
                <a:gd name="T7" fmla="*/ 0 60000 65536"/>
                <a:gd name="T8" fmla="*/ 0 60000 65536"/>
                <a:gd name="T9" fmla="*/ 0 w 1103"/>
                <a:gd name="T10" fmla="*/ 0 h 309"/>
                <a:gd name="T11" fmla="*/ 1103 w 1103"/>
                <a:gd name="T12" fmla="*/ 309 h 309"/>
              </a:gdLst>
              <a:ahLst/>
              <a:cxnLst>
                <a:cxn ang="T6">
                  <a:pos x="T0" y="T1"/>
                </a:cxn>
                <a:cxn ang="T7">
                  <a:pos x="T2" y="T3"/>
                </a:cxn>
                <a:cxn ang="T8">
                  <a:pos x="T4" y="T5"/>
                </a:cxn>
              </a:cxnLst>
              <a:rect l="T9" t="T10" r="T11" b="T12"/>
              <a:pathLst>
                <a:path w="1103" h="309">
                  <a:moveTo>
                    <a:pt x="1102" y="0"/>
                  </a:moveTo>
                  <a:lnTo>
                    <a:pt x="1102" y="308"/>
                  </a:lnTo>
                  <a:lnTo>
                    <a:pt x="0" y="308"/>
                  </a:lnTo>
                </a:path>
              </a:pathLst>
            </a:custGeom>
            <a:noFill/>
            <a:ln w="12700" cap="rnd" cmpd="sng">
              <a:solidFill>
                <a:schemeClr val="tx1"/>
              </a:solidFill>
              <a:prstDash val="solid"/>
              <a:round/>
              <a:headEnd type="none" w="sm" len="sm"/>
              <a:tailEnd type="none" w="sm" len="sm"/>
            </a:ln>
          </p:spPr>
          <p:txBody>
            <a:bodyPr/>
            <a:lstStyle/>
            <a:p>
              <a:endParaRPr lang="en-US"/>
            </a:p>
          </p:txBody>
        </p:sp>
      </p:grpSp>
      <p:sp>
        <p:nvSpPr>
          <p:cNvPr id="30733" name="Rectangle 29"/>
          <p:cNvSpPr>
            <a:spLocks noChangeArrowheads="1"/>
          </p:cNvSpPr>
          <p:nvPr/>
        </p:nvSpPr>
        <p:spPr bwMode="auto">
          <a:xfrm>
            <a:off x="2133600" y="2971800"/>
            <a:ext cx="1143000" cy="336550"/>
          </a:xfrm>
          <a:prstGeom prst="rect">
            <a:avLst/>
          </a:prstGeom>
          <a:noFill/>
          <a:ln w="12700" algn="ctr">
            <a:noFill/>
            <a:miter lim="800000"/>
            <a:headEnd/>
            <a:tailEnd/>
          </a:ln>
        </p:spPr>
        <p:txBody>
          <a:bodyPr>
            <a:spAutoFit/>
          </a:bodyPr>
          <a:lstStyle/>
          <a:p>
            <a:r>
              <a:rPr lang="en-US" b="1">
                <a:solidFill>
                  <a:srgbClr val="EAEC5E"/>
                </a:solidFill>
              </a:rPr>
              <a:t>COA 0010</a:t>
            </a:r>
          </a:p>
        </p:txBody>
      </p:sp>
      <p:grpSp>
        <p:nvGrpSpPr>
          <p:cNvPr id="30734" name="Group 30"/>
          <p:cNvGrpSpPr>
            <a:grpSpLocks/>
          </p:cNvGrpSpPr>
          <p:nvPr/>
        </p:nvGrpSpPr>
        <p:grpSpPr bwMode="auto">
          <a:xfrm>
            <a:off x="5257800" y="2895600"/>
            <a:ext cx="1751013" cy="490538"/>
            <a:chOff x="3159" y="1813"/>
            <a:chExt cx="1103" cy="309"/>
          </a:xfrm>
        </p:grpSpPr>
        <p:sp>
          <p:nvSpPr>
            <p:cNvPr id="30779" name="Freeform 31"/>
            <p:cNvSpPr>
              <a:spLocks/>
            </p:cNvSpPr>
            <p:nvPr/>
          </p:nvSpPr>
          <p:spPr bwMode="auto">
            <a:xfrm>
              <a:off x="3159" y="1813"/>
              <a:ext cx="1103" cy="309"/>
            </a:xfrm>
            <a:custGeom>
              <a:avLst/>
              <a:gdLst>
                <a:gd name="T0" fmla="*/ 0 w 1103"/>
                <a:gd name="T1" fmla="*/ 0 h 309"/>
                <a:gd name="T2" fmla="*/ 1102 w 1103"/>
                <a:gd name="T3" fmla="*/ 0 h 309"/>
                <a:gd name="T4" fmla="*/ 1102 w 1103"/>
                <a:gd name="T5" fmla="*/ 308 h 309"/>
                <a:gd name="T6" fmla="*/ 0 w 1103"/>
                <a:gd name="T7" fmla="*/ 308 h 309"/>
                <a:gd name="T8" fmla="*/ 0 w 1103"/>
                <a:gd name="T9" fmla="*/ 0 h 309"/>
                <a:gd name="T10" fmla="*/ 0 60000 65536"/>
                <a:gd name="T11" fmla="*/ 0 60000 65536"/>
                <a:gd name="T12" fmla="*/ 0 60000 65536"/>
                <a:gd name="T13" fmla="*/ 0 60000 65536"/>
                <a:gd name="T14" fmla="*/ 0 60000 65536"/>
                <a:gd name="T15" fmla="*/ 0 w 1103"/>
                <a:gd name="T16" fmla="*/ 0 h 309"/>
                <a:gd name="T17" fmla="*/ 1103 w 1103"/>
                <a:gd name="T18" fmla="*/ 309 h 309"/>
              </a:gdLst>
              <a:ahLst/>
              <a:cxnLst>
                <a:cxn ang="T10">
                  <a:pos x="T0" y="T1"/>
                </a:cxn>
                <a:cxn ang="T11">
                  <a:pos x="T2" y="T3"/>
                </a:cxn>
                <a:cxn ang="T12">
                  <a:pos x="T4" y="T5"/>
                </a:cxn>
                <a:cxn ang="T13">
                  <a:pos x="T6" y="T7"/>
                </a:cxn>
                <a:cxn ang="T14">
                  <a:pos x="T8" y="T9"/>
                </a:cxn>
              </a:cxnLst>
              <a:rect l="T15" t="T16" r="T17" b="T18"/>
              <a:pathLst>
                <a:path w="1103" h="309">
                  <a:moveTo>
                    <a:pt x="0" y="0"/>
                  </a:moveTo>
                  <a:lnTo>
                    <a:pt x="1102" y="0"/>
                  </a:lnTo>
                  <a:lnTo>
                    <a:pt x="1102" y="308"/>
                  </a:lnTo>
                  <a:lnTo>
                    <a:pt x="0" y="308"/>
                  </a:lnTo>
                  <a:lnTo>
                    <a:pt x="0" y="0"/>
                  </a:lnTo>
                </a:path>
              </a:pathLst>
            </a:custGeom>
            <a:noFill/>
            <a:ln w="25400" cap="rnd" cmpd="sng">
              <a:solidFill>
                <a:schemeClr val="tx1"/>
              </a:solidFill>
              <a:prstDash val="solid"/>
              <a:round/>
              <a:headEnd/>
              <a:tailEnd/>
            </a:ln>
          </p:spPr>
          <p:txBody>
            <a:bodyPr/>
            <a:lstStyle/>
            <a:p>
              <a:endParaRPr lang="en-US"/>
            </a:p>
          </p:txBody>
        </p:sp>
        <p:sp>
          <p:nvSpPr>
            <p:cNvPr id="30780" name="Freeform 32"/>
            <p:cNvSpPr>
              <a:spLocks/>
            </p:cNvSpPr>
            <p:nvPr/>
          </p:nvSpPr>
          <p:spPr bwMode="auto">
            <a:xfrm>
              <a:off x="3159" y="1813"/>
              <a:ext cx="1103" cy="309"/>
            </a:xfrm>
            <a:custGeom>
              <a:avLst/>
              <a:gdLst>
                <a:gd name="T0" fmla="*/ 0 w 1103"/>
                <a:gd name="T1" fmla="*/ 0 h 309"/>
                <a:gd name="T2" fmla="*/ 1102 w 1103"/>
                <a:gd name="T3" fmla="*/ 0 h 309"/>
                <a:gd name="T4" fmla="*/ 1102 w 1103"/>
                <a:gd name="T5" fmla="*/ 308 h 309"/>
                <a:gd name="T6" fmla="*/ 0 w 1103"/>
                <a:gd name="T7" fmla="*/ 308 h 309"/>
                <a:gd name="T8" fmla="*/ 0 w 1103"/>
                <a:gd name="T9" fmla="*/ 0 h 309"/>
                <a:gd name="T10" fmla="*/ 0 60000 65536"/>
                <a:gd name="T11" fmla="*/ 0 60000 65536"/>
                <a:gd name="T12" fmla="*/ 0 60000 65536"/>
                <a:gd name="T13" fmla="*/ 0 60000 65536"/>
                <a:gd name="T14" fmla="*/ 0 60000 65536"/>
                <a:gd name="T15" fmla="*/ 0 w 1103"/>
                <a:gd name="T16" fmla="*/ 0 h 309"/>
                <a:gd name="T17" fmla="*/ 1103 w 1103"/>
                <a:gd name="T18" fmla="*/ 309 h 309"/>
              </a:gdLst>
              <a:ahLst/>
              <a:cxnLst>
                <a:cxn ang="T10">
                  <a:pos x="T0" y="T1"/>
                </a:cxn>
                <a:cxn ang="T11">
                  <a:pos x="T2" y="T3"/>
                </a:cxn>
                <a:cxn ang="T12">
                  <a:pos x="T4" y="T5"/>
                </a:cxn>
                <a:cxn ang="T13">
                  <a:pos x="T6" y="T7"/>
                </a:cxn>
                <a:cxn ang="T14">
                  <a:pos x="T8" y="T9"/>
                </a:cxn>
              </a:cxnLst>
              <a:rect l="T15" t="T16" r="T17" b="T18"/>
              <a:pathLst>
                <a:path w="1103" h="309">
                  <a:moveTo>
                    <a:pt x="0" y="0"/>
                  </a:moveTo>
                  <a:lnTo>
                    <a:pt x="1102" y="0"/>
                  </a:lnTo>
                  <a:lnTo>
                    <a:pt x="1102" y="308"/>
                  </a:lnTo>
                  <a:lnTo>
                    <a:pt x="0" y="308"/>
                  </a:lnTo>
                  <a:lnTo>
                    <a:pt x="0" y="0"/>
                  </a:lnTo>
                </a:path>
              </a:pathLst>
            </a:custGeom>
            <a:solidFill>
              <a:schemeClr val="accent2"/>
            </a:solidFill>
            <a:ln w="9525" cap="rnd">
              <a:noFill/>
              <a:round/>
              <a:headEnd/>
              <a:tailEnd/>
            </a:ln>
          </p:spPr>
          <p:txBody>
            <a:bodyPr/>
            <a:lstStyle/>
            <a:p>
              <a:endParaRPr lang="en-US"/>
            </a:p>
          </p:txBody>
        </p:sp>
        <p:sp>
          <p:nvSpPr>
            <p:cNvPr id="30781" name="Freeform 33"/>
            <p:cNvSpPr>
              <a:spLocks/>
            </p:cNvSpPr>
            <p:nvPr/>
          </p:nvSpPr>
          <p:spPr bwMode="auto">
            <a:xfrm>
              <a:off x="3159" y="1813"/>
              <a:ext cx="1103" cy="309"/>
            </a:xfrm>
            <a:custGeom>
              <a:avLst/>
              <a:gdLst>
                <a:gd name="T0" fmla="*/ 0 w 1103"/>
                <a:gd name="T1" fmla="*/ 308 h 309"/>
                <a:gd name="T2" fmla="*/ 0 w 1103"/>
                <a:gd name="T3" fmla="*/ 0 h 309"/>
                <a:gd name="T4" fmla="*/ 1102 w 1103"/>
                <a:gd name="T5" fmla="*/ 0 h 309"/>
                <a:gd name="T6" fmla="*/ 0 60000 65536"/>
                <a:gd name="T7" fmla="*/ 0 60000 65536"/>
                <a:gd name="T8" fmla="*/ 0 60000 65536"/>
                <a:gd name="T9" fmla="*/ 0 w 1103"/>
                <a:gd name="T10" fmla="*/ 0 h 309"/>
                <a:gd name="T11" fmla="*/ 1103 w 1103"/>
                <a:gd name="T12" fmla="*/ 309 h 309"/>
              </a:gdLst>
              <a:ahLst/>
              <a:cxnLst>
                <a:cxn ang="T6">
                  <a:pos x="T0" y="T1"/>
                </a:cxn>
                <a:cxn ang="T7">
                  <a:pos x="T2" y="T3"/>
                </a:cxn>
                <a:cxn ang="T8">
                  <a:pos x="T4" y="T5"/>
                </a:cxn>
              </a:cxnLst>
              <a:rect l="T9" t="T10" r="T11" b="T12"/>
              <a:pathLst>
                <a:path w="1103" h="309">
                  <a:moveTo>
                    <a:pt x="0" y="308"/>
                  </a:moveTo>
                  <a:lnTo>
                    <a:pt x="0" y="0"/>
                  </a:lnTo>
                  <a:lnTo>
                    <a:pt x="1102" y="0"/>
                  </a:lnTo>
                </a:path>
              </a:pathLst>
            </a:custGeom>
            <a:noFill/>
            <a:ln w="12700" cap="rnd" cmpd="sng">
              <a:solidFill>
                <a:srgbClr val="FFFFFF"/>
              </a:solidFill>
              <a:prstDash val="solid"/>
              <a:round/>
              <a:headEnd type="none" w="sm" len="sm"/>
              <a:tailEnd type="none" w="sm" len="sm"/>
            </a:ln>
          </p:spPr>
          <p:txBody>
            <a:bodyPr/>
            <a:lstStyle/>
            <a:p>
              <a:endParaRPr lang="en-US"/>
            </a:p>
          </p:txBody>
        </p:sp>
        <p:sp>
          <p:nvSpPr>
            <p:cNvPr id="30782" name="Freeform 34"/>
            <p:cNvSpPr>
              <a:spLocks/>
            </p:cNvSpPr>
            <p:nvPr/>
          </p:nvSpPr>
          <p:spPr bwMode="auto">
            <a:xfrm>
              <a:off x="3159" y="1813"/>
              <a:ext cx="1103" cy="309"/>
            </a:xfrm>
            <a:custGeom>
              <a:avLst/>
              <a:gdLst>
                <a:gd name="T0" fmla="*/ 1102 w 1103"/>
                <a:gd name="T1" fmla="*/ 0 h 309"/>
                <a:gd name="T2" fmla="*/ 1102 w 1103"/>
                <a:gd name="T3" fmla="*/ 308 h 309"/>
                <a:gd name="T4" fmla="*/ 0 w 1103"/>
                <a:gd name="T5" fmla="*/ 308 h 309"/>
                <a:gd name="T6" fmla="*/ 0 60000 65536"/>
                <a:gd name="T7" fmla="*/ 0 60000 65536"/>
                <a:gd name="T8" fmla="*/ 0 60000 65536"/>
                <a:gd name="T9" fmla="*/ 0 w 1103"/>
                <a:gd name="T10" fmla="*/ 0 h 309"/>
                <a:gd name="T11" fmla="*/ 1103 w 1103"/>
                <a:gd name="T12" fmla="*/ 309 h 309"/>
              </a:gdLst>
              <a:ahLst/>
              <a:cxnLst>
                <a:cxn ang="T6">
                  <a:pos x="T0" y="T1"/>
                </a:cxn>
                <a:cxn ang="T7">
                  <a:pos x="T2" y="T3"/>
                </a:cxn>
                <a:cxn ang="T8">
                  <a:pos x="T4" y="T5"/>
                </a:cxn>
              </a:cxnLst>
              <a:rect l="T9" t="T10" r="T11" b="T12"/>
              <a:pathLst>
                <a:path w="1103" h="309">
                  <a:moveTo>
                    <a:pt x="1102" y="0"/>
                  </a:moveTo>
                  <a:lnTo>
                    <a:pt x="1102" y="308"/>
                  </a:lnTo>
                  <a:lnTo>
                    <a:pt x="0" y="308"/>
                  </a:lnTo>
                </a:path>
              </a:pathLst>
            </a:custGeom>
            <a:noFill/>
            <a:ln w="12700" cap="rnd" cmpd="sng">
              <a:solidFill>
                <a:schemeClr val="tx1"/>
              </a:solidFill>
              <a:prstDash val="solid"/>
              <a:round/>
              <a:headEnd type="none" w="sm" len="sm"/>
              <a:tailEnd type="none" w="sm" len="sm"/>
            </a:ln>
          </p:spPr>
          <p:txBody>
            <a:bodyPr/>
            <a:lstStyle/>
            <a:p>
              <a:endParaRPr lang="en-US"/>
            </a:p>
          </p:txBody>
        </p:sp>
      </p:grpSp>
      <p:sp>
        <p:nvSpPr>
          <p:cNvPr id="30735" name="Rectangle 35"/>
          <p:cNvSpPr>
            <a:spLocks noChangeArrowheads="1"/>
          </p:cNvSpPr>
          <p:nvPr/>
        </p:nvSpPr>
        <p:spPr bwMode="auto">
          <a:xfrm>
            <a:off x="5486400" y="2971800"/>
            <a:ext cx="1300163" cy="336550"/>
          </a:xfrm>
          <a:prstGeom prst="rect">
            <a:avLst/>
          </a:prstGeom>
          <a:noFill/>
          <a:ln w="12700" algn="ctr">
            <a:noFill/>
            <a:miter lim="800000"/>
            <a:headEnd/>
            <a:tailEnd/>
          </a:ln>
        </p:spPr>
        <p:txBody>
          <a:bodyPr wrap="none">
            <a:spAutoFit/>
          </a:bodyPr>
          <a:lstStyle/>
          <a:p>
            <a:r>
              <a:rPr lang="en-US" b="1">
                <a:solidFill>
                  <a:srgbClr val="EAEC5E"/>
                </a:solidFill>
              </a:rPr>
              <a:t>COA “XXX”</a:t>
            </a:r>
          </a:p>
        </p:txBody>
      </p:sp>
      <p:sp>
        <p:nvSpPr>
          <p:cNvPr id="30736" name="Freeform 36"/>
          <p:cNvSpPr>
            <a:spLocks/>
          </p:cNvSpPr>
          <p:nvPr/>
        </p:nvSpPr>
        <p:spPr bwMode="auto">
          <a:xfrm>
            <a:off x="2616200" y="3341688"/>
            <a:ext cx="106363" cy="665162"/>
          </a:xfrm>
          <a:custGeom>
            <a:avLst/>
            <a:gdLst>
              <a:gd name="T0" fmla="*/ 104775 w 67"/>
              <a:gd name="T1" fmla="*/ 0 h 419"/>
              <a:gd name="T2" fmla="*/ 0 w 67"/>
              <a:gd name="T3" fmla="*/ 7937 h 419"/>
              <a:gd name="T4" fmla="*/ 0 w 67"/>
              <a:gd name="T5" fmla="*/ 588962 h 419"/>
              <a:gd name="T6" fmla="*/ 53975 w 67"/>
              <a:gd name="T7" fmla="*/ 663575 h 419"/>
              <a:gd name="T8" fmla="*/ 104775 w 67"/>
              <a:gd name="T9" fmla="*/ 584200 h 419"/>
              <a:gd name="T10" fmla="*/ 104775 w 67"/>
              <a:gd name="T11" fmla="*/ 0 h 419"/>
              <a:gd name="T12" fmla="*/ 0 60000 65536"/>
              <a:gd name="T13" fmla="*/ 0 60000 65536"/>
              <a:gd name="T14" fmla="*/ 0 60000 65536"/>
              <a:gd name="T15" fmla="*/ 0 60000 65536"/>
              <a:gd name="T16" fmla="*/ 0 60000 65536"/>
              <a:gd name="T17" fmla="*/ 0 60000 65536"/>
              <a:gd name="T18" fmla="*/ 0 w 67"/>
              <a:gd name="T19" fmla="*/ 0 h 419"/>
              <a:gd name="T20" fmla="*/ 67 w 67"/>
              <a:gd name="T21" fmla="*/ 419 h 419"/>
            </a:gdLst>
            <a:ahLst/>
            <a:cxnLst>
              <a:cxn ang="T12">
                <a:pos x="T0" y="T1"/>
              </a:cxn>
              <a:cxn ang="T13">
                <a:pos x="T2" y="T3"/>
              </a:cxn>
              <a:cxn ang="T14">
                <a:pos x="T4" y="T5"/>
              </a:cxn>
              <a:cxn ang="T15">
                <a:pos x="T6" y="T7"/>
              </a:cxn>
              <a:cxn ang="T16">
                <a:pos x="T8" y="T9"/>
              </a:cxn>
              <a:cxn ang="T17">
                <a:pos x="T10" y="T11"/>
              </a:cxn>
            </a:cxnLst>
            <a:rect l="T18" t="T19" r="T20" b="T21"/>
            <a:pathLst>
              <a:path w="67" h="419">
                <a:moveTo>
                  <a:pt x="66" y="0"/>
                </a:moveTo>
                <a:lnTo>
                  <a:pt x="0" y="5"/>
                </a:lnTo>
                <a:lnTo>
                  <a:pt x="0" y="371"/>
                </a:lnTo>
                <a:lnTo>
                  <a:pt x="34" y="418"/>
                </a:lnTo>
                <a:lnTo>
                  <a:pt x="66" y="368"/>
                </a:lnTo>
                <a:lnTo>
                  <a:pt x="66" y="0"/>
                </a:lnTo>
              </a:path>
            </a:pathLst>
          </a:custGeom>
          <a:gradFill rotWithShape="0">
            <a:gsLst>
              <a:gs pos="0">
                <a:srgbClr val="00CC00"/>
              </a:gs>
              <a:gs pos="50000">
                <a:srgbClr val="00FF00"/>
              </a:gs>
              <a:gs pos="100000">
                <a:srgbClr val="00CC00"/>
              </a:gs>
            </a:gsLst>
            <a:lin ang="0" scaled="1"/>
          </a:gradFill>
          <a:ln w="9525" cap="rnd">
            <a:noFill/>
            <a:round/>
            <a:headEnd/>
            <a:tailEnd/>
          </a:ln>
        </p:spPr>
        <p:txBody>
          <a:bodyPr/>
          <a:lstStyle/>
          <a:p>
            <a:endParaRPr lang="en-US"/>
          </a:p>
        </p:txBody>
      </p:sp>
      <p:sp>
        <p:nvSpPr>
          <p:cNvPr id="30737" name="Freeform 37"/>
          <p:cNvSpPr>
            <a:spLocks/>
          </p:cNvSpPr>
          <p:nvPr/>
        </p:nvSpPr>
        <p:spPr bwMode="auto">
          <a:xfrm>
            <a:off x="6096000" y="3352800"/>
            <a:ext cx="103188" cy="715963"/>
          </a:xfrm>
          <a:custGeom>
            <a:avLst/>
            <a:gdLst>
              <a:gd name="T0" fmla="*/ 101600 w 65"/>
              <a:gd name="T1" fmla="*/ 12700 h 451"/>
              <a:gd name="T2" fmla="*/ 0 w 65"/>
              <a:gd name="T3" fmla="*/ 0 h 451"/>
              <a:gd name="T4" fmla="*/ 0 w 65"/>
              <a:gd name="T5" fmla="*/ 714375 h 451"/>
              <a:gd name="T6" fmla="*/ 101600 w 65"/>
              <a:gd name="T7" fmla="*/ 601663 h 451"/>
              <a:gd name="T8" fmla="*/ 101600 w 65"/>
              <a:gd name="T9" fmla="*/ 12700 h 451"/>
              <a:gd name="T10" fmla="*/ 0 60000 65536"/>
              <a:gd name="T11" fmla="*/ 0 60000 65536"/>
              <a:gd name="T12" fmla="*/ 0 60000 65536"/>
              <a:gd name="T13" fmla="*/ 0 60000 65536"/>
              <a:gd name="T14" fmla="*/ 0 60000 65536"/>
              <a:gd name="T15" fmla="*/ 0 w 65"/>
              <a:gd name="T16" fmla="*/ 0 h 451"/>
              <a:gd name="T17" fmla="*/ 65 w 65"/>
              <a:gd name="T18" fmla="*/ 451 h 451"/>
            </a:gdLst>
            <a:ahLst/>
            <a:cxnLst>
              <a:cxn ang="T10">
                <a:pos x="T0" y="T1"/>
              </a:cxn>
              <a:cxn ang="T11">
                <a:pos x="T2" y="T3"/>
              </a:cxn>
              <a:cxn ang="T12">
                <a:pos x="T4" y="T5"/>
              </a:cxn>
              <a:cxn ang="T13">
                <a:pos x="T6" y="T7"/>
              </a:cxn>
              <a:cxn ang="T14">
                <a:pos x="T8" y="T9"/>
              </a:cxn>
            </a:cxnLst>
            <a:rect l="T15" t="T16" r="T17" b="T18"/>
            <a:pathLst>
              <a:path w="65" h="451">
                <a:moveTo>
                  <a:pt x="64" y="8"/>
                </a:moveTo>
                <a:lnTo>
                  <a:pt x="0" y="0"/>
                </a:lnTo>
                <a:lnTo>
                  <a:pt x="0" y="450"/>
                </a:lnTo>
                <a:lnTo>
                  <a:pt x="64" y="379"/>
                </a:lnTo>
                <a:lnTo>
                  <a:pt x="64" y="8"/>
                </a:lnTo>
              </a:path>
            </a:pathLst>
          </a:custGeom>
          <a:gradFill rotWithShape="0">
            <a:gsLst>
              <a:gs pos="0">
                <a:srgbClr val="00CC00"/>
              </a:gs>
              <a:gs pos="50000">
                <a:srgbClr val="00FF00"/>
              </a:gs>
              <a:gs pos="100000">
                <a:srgbClr val="00CC00"/>
              </a:gs>
            </a:gsLst>
            <a:lin ang="0" scaled="1"/>
          </a:gradFill>
          <a:ln w="9525" cap="rnd">
            <a:noFill/>
            <a:round/>
            <a:headEnd/>
            <a:tailEnd/>
          </a:ln>
        </p:spPr>
        <p:txBody>
          <a:bodyPr/>
          <a:lstStyle/>
          <a:p>
            <a:endParaRPr lang="en-US"/>
          </a:p>
        </p:txBody>
      </p:sp>
      <p:sp>
        <p:nvSpPr>
          <p:cNvPr id="540710" name="Rectangle 38"/>
          <p:cNvSpPr>
            <a:spLocks noChangeArrowheads="1"/>
          </p:cNvSpPr>
          <p:nvPr/>
        </p:nvSpPr>
        <p:spPr bwMode="auto">
          <a:xfrm>
            <a:off x="381000" y="2133600"/>
            <a:ext cx="7793038" cy="1530350"/>
          </a:xfrm>
          <a:prstGeom prst="rect">
            <a:avLst/>
          </a:prstGeom>
          <a:noFill/>
          <a:ln w="25400">
            <a:solidFill>
              <a:schemeClr val="tx1"/>
            </a:solidFill>
            <a:miter lim="800000"/>
            <a:headEnd/>
            <a:tailEnd/>
          </a:ln>
          <a:effectLst>
            <a:prstShdw prst="shdw17" dist="17961" dir="2700000">
              <a:schemeClr val="tx1">
                <a:gamma/>
                <a:shade val="60000"/>
                <a:invGamma/>
              </a:schemeClr>
            </a:prstShdw>
          </a:effectLst>
        </p:spPr>
        <p:txBody>
          <a:bodyPr wrap="none" anchor="ctr"/>
          <a:lstStyle/>
          <a:p>
            <a:pPr>
              <a:defRPr/>
            </a:pPr>
            <a:endParaRPr lang="en-US"/>
          </a:p>
        </p:txBody>
      </p:sp>
      <p:sp>
        <p:nvSpPr>
          <p:cNvPr id="30739" name="Rectangle 39"/>
          <p:cNvSpPr>
            <a:spLocks noChangeArrowheads="1"/>
          </p:cNvSpPr>
          <p:nvPr/>
        </p:nvSpPr>
        <p:spPr bwMode="auto">
          <a:xfrm>
            <a:off x="1627188" y="3963988"/>
            <a:ext cx="2198687" cy="74612"/>
          </a:xfrm>
          <a:prstGeom prst="rect">
            <a:avLst/>
          </a:prstGeom>
          <a:gradFill rotWithShape="0">
            <a:gsLst>
              <a:gs pos="0">
                <a:srgbClr val="00CC00"/>
              </a:gs>
              <a:gs pos="50000">
                <a:srgbClr val="00FF00"/>
              </a:gs>
              <a:gs pos="100000">
                <a:srgbClr val="00CC00"/>
              </a:gs>
            </a:gsLst>
            <a:lin ang="5400000" scaled="1"/>
          </a:gradFill>
          <a:ln w="9525">
            <a:noFill/>
            <a:miter lim="800000"/>
            <a:headEnd/>
            <a:tailEnd/>
          </a:ln>
        </p:spPr>
        <p:txBody>
          <a:bodyPr wrap="none" anchor="ctr"/>
          <a:lstStyle/>
          <a:p>
            <a:endParaRPr lang="en-US"/>
          </a:p>
        </p:txBody>
      </p:sp>
      <p:sp>
        <p:nvSpPr>
          <p:cNvPr id="30740" name="Freeform 40"/>
          <p:cNvSpPr>
            <a:spLocks/>
          </p:cNvSpPr>
          <p:nvPr/>
        </p:nvSpPr>
        <p:spPr bwMode="auto">
          <a:xfrm>
            <a:off x="6096000" y="3962400"/>
            <a:ext cx="1539875" cy="109538"/>
          </a:xfrm>
          <a:custGeom>
            <a:avLst/>
            <a:gdLst>
              <a:gd name="T0" fmla="*/ 9525 w 970"/>
              <a:gd name="T1" fmla="*/ 104775 h 69"/>
              <a:gd name="T2" fmla="*/ 0 w 970"/>
              <a:gd name="T3" fmla="*/ 0 h 69"/>
              <a:gd name="T4" fmla="*/ 1538288 w 970"/>
              <a:gd name="T5" fmla="*/ 0 h 69"/>
              <a:gd name="T6" fmla="*/ 1439863 w 970"/>
              <a:gd name="T7" fmla="*/ 107950 h 69"/>
              <a:gd name="T8" fmla="*/ 9525 w 970"/>
              <a:gd name="T9" fmla="*/ 104775 h 69"/>
              <a:gd name="T10" fmla="*/ 0 60000 65536"/>
              <a:gd name="T11" fmla="*/ 0 60000 65536"/>
              <a:gd name="T12" fmla="*/ 0 60000 65536"/>
              <a:gd name="T13" fmla="*/ 0 60000 65536"/>
              <a:gd name="T14" fmla="*/ 0 60000 65536"/>
              <a:gd name="T15" fmla="*/ 0 w 970"/>
              <a:gd name="T16" fmla="*/ 0 h 69"/>
              <a:gd name="T17" fmla="*/ 970 w 970"/>
              <a:gd name="T18" fmla="*/ 69 h 69"/>
            </a:gdLst>
            <a:ahLst/>
            <a:cxnLst>
              <a:cxn ang="T10">
                <a:pos x="T0" y="T1"/>
              </a:cxn>
              <a:cxn ang="T11">
                <a:pos x="T2" y="T3"/>
              </a:cxn>
              <a:cxn ang="T12">
                <a:pos x="T4" y="T5"/>
              </a:cxn>
              <a:cxn ang="T13">
                <a:pos x="T6" y="T7"/>
              </a:cxn>
              <a:cxn ang="T14">
                <a:pos x="T8" y="T9"/>
              </a:cxn>
            </a:cxnLst>
            <a:rect l="T15" t="T16" r="T17" b="T18"/>
            <a:pathLst>
              <a:path w="970" h="69">
                <a:moveTo>
                  <a:pt x="6" y="66"/>
                </a:moveTo>
                <a:lnTo>
                  <a:pt x="0" y="0"/>
                </a:lnTo>
                <a:lnTo>
                  <a:pt x="969" y="0"/>
                </a:lnTo>
                <a:lnTo>
                  <a:pt x="907" y="68"/>
                </a:lnTo>
                <a:lnTo>
                  <a:pt x="6" y="66"/>
                </a:lnTo>
              </a:path>
            </a:pathLst>
          </a:custGeom>
          <a:gradFill rotWithShape="0">
            <a:gsLst>
              <a:gs pos="0">
                <a:srgbClr val="00CC00"/>
              </a:gs>
              <a:gs pos="50000">
                <a:srgbClr val="00FF00"/>
              </a:gs>
              <a:gs pos="100000">
                <a:srgbClr val="00CC00"/>
              </a:gs>
            </a:gsLst>
            <a:lin ang="5400000" scaled="1"/>
          </a:gradFill>
          <a:ln w="9525" cap="rnd">
            <a:noFill/>
            <a:round/>
            <a:headEnd/>
            <a:tailEnd/>
          </a:ln>
        </p:spPr>
        <p:txBody>
          <a:bodyPr/>
          <a:lstStyle/>
          <a:p>
            <a:endParaRPr lang="en-US"/>
          </a:p>
        </p:txBody>
      </p:sp>
      <p:sp>
        <p:nvSpPr>
          <p:cNvPr id="30741" name="Freeform 41"/>
          <p:cNvSpPr>
            <a:spLocks/>
          </p:cNvSpPr>
          <p:nvPr/>
        </p:nvSpPr>
        <p:spPr bwMode="auto">
          <a:xfrm>
            <a:off x="3709988" y="3943350"/>
            <a:ext cx="114300" cy="1085850"/>
          </a:xfrm>
          <a:custGeom>
            <a:avLst/>
            <a:gdLst>
              <a:gd name="T0" fmla="*/ 112713 w 72"/>
              <a:gd name="T1" fmla="*/ 977900 h 684"/>
              <a:gd name="T2" fmla="*/ 3175 w 72"/>
              <a:gd name="T3" fmla="*/ 1084263 h 684"/>
              <a:gd name="T4" fmla="*/ 0 w 72"/>
              <a:gd name="T5" fmla="*/ 47625 h 684"/>
              <a:gd name="T6" fmla="*/ 53975 w 72"/>
              <a:gd name="T7" fmla="*/ 0 h 684"/>
              <a:gd name="T8" fmla="*/ 112713 w 72"/>
              <a:gd name="T9" fmla="*/ 47625 h 684"/>
              <a:gd name="T10" fmla="*/ 112713 w 72"/>
              <a:gd name="T11" fmla="*/ 977900 h 684"/>
              <a:gd name="T12" fmla="*/ 0 60000 65536"/>
              <a:gd name="T13" fmla="*/ 0 60000 65536"/>
              <a:gd name="T14" fmla="*/ 0 60000 65536"/>
              <a:gd name="T15" fmla="*/ 0 60000 65536"/>
              <a:gd name="T16" fmla="*/ 0 60000 65536"/>
              <a:gd name="T17" fmla="*/ 0 60000 65536"/>
              <a:gd name="T18" fmla="*/ 0 w 72"/>
              <a:gd name="T19" fmla="*/ 0 h 684"/>
              <a:gd name="T20" fmla="*/ 72 w 72"/>
              <a:gd name="T21" fmla="*/ 684 h 684"/>
            </a:gdLst>
            <a:ahLst/>
            <a:cxnLst>
              <a:cxn ang="T12">
                <a:pos x="T0" y="T1"/>
              </a:cxn>
              <a:cxn ang="T13">
                <a:pos x="T2" y="T3"/>
              </a:cxn>
              <a:cxn ang="T14">
                <a:pos x="T4" y="T5"/>
              </a:cxn>
              <a:cxn ang="T15">
                <a:pos x="T6" y="T7"/>
              </a:cxn>
              <a:cxn ang="T16">
                <a:pos x="T8" y="T9"/>
              </a:cxn>
              <a:cxn ang="T17">
                <a:pos x="T10" y="T11"/>
              </a:cxn>
            </a:cxnLst>
            <a:rect l="T18" t="T19" r="T20" b="T21"/>
            <a:pathLst>
              <a:path w="72" h="684">
                <a:moveTo>
                  <a:pt x="71" y="616"/>
                </a:moveTo>
                <a:lnTo>
                  <a:pt x="2" y="683"/>
                </a:lnTo>
                <a:lnTo>
                  <a:pt x="0" y="30"/>
                </a:lnTo>
                <a:lnTo>
                  <a:pt x="34" y="0"/>
                </a:lnTo>
                <a:lnTo>
                  <a:pt x="71" y="30"/>
                </a:lnTo>
                <a:lnTo>
                  <a:pt x="71" y="616"/>
                </a:lnTo>
              </a:path>
            </a:pathLst>
          </a:custGeom>
          <a:gradFill rotWithShape="0">
            <a:gsLst>
              <a:gs pos="0">
                <a:srgbClr val="00CC00"/>
              </a:gs>
              <a:gs pos="50000">
                <a:srgbClr val="00FF00"/>
              </a:gs>
              <a:gs pos="100000">
                <a:srgbClr val="00CC00"/>
              </a:gs>
            </a:gsLst>
            <a:lin ang="0" scaled="1"/>
          </a:gradFill>
          <a:ln w="9525" cap="rnd">
            <a:noFill/>
            <a:round/>
            <a:headEnd/>
            <a:tailEnd/>
          </a:ln>
        </p:spPr>
        <p:txBody>
          <a:bodyPr/>
          <a:lstStyle/>
          <a:p>
            <a:endParaRPr lang="en-US"/>
          </a:p>
        </p:txBody>
      </p:sp>
      <p:sp>
        <p:nvSpPr>
          <p:cNvPr id="30742" name="Freeform 42"/>
          <p:cNvSpPr>
            <a:spLocks/>
          </p:cNvSpPr>
          <p:nvPr/>
        </p:nvSpPr>
        <p:spPr bwMode="auto">
          <a:xfrm>
            <a:off x="7543800" y="3962400"/>
            <a:ext cx="109538" cy="1081088"/>
          </a:xfrm>
          <a:custGeom>
            <a:avLst/>
            <a:gdLst>
              <a:gd name="T0" fmla="*/ 0 w 69"/>
              <a:gd name="T1" fmla="*/ 103188 h 681"/>
              <a:gd name="T2" fmla="*/ 107950 w 69"/>
              <a:gd name="T3" fmla="*/ 0 h 681"/>
              <a:gd name="T4" fmla="*/ 107950 w 69"/>
              <a:gd name="T5" fmla="*/ 958850 h 681"/>
              <a:gd name="T6" fmla="*/ 55563 w 69"/>
              <a:gd name="T7" fmla="*/ 1079500 h 681"/>
              <a:gd name="T8" fmla="*/ 0 w 69"/>
              <a:gd name="T9" fmla="*/ 955675 h 681"/>
              <a:gd name="T10" fmla="*/ 0 w 69"/>
              <a:gd name="T11" fmla="*/ 103188 h 681"/>
              <a:gd name="T12" fmla="*/ 0 60000 65536"/>
              <a:gd name="T13" fmla="*/ 0 60000 65536"/>
              <a:gd name="T14" fmla="*/ 0 60000 65536"/>
              <a:gd name="T15" fmla="*/ 0 60000 65536"/>
              <a:gd name="T16" fmla="*/ 0 60000 65536"/>
              <a:gd name="T17" fmla="*/ 0 60000 65536"/>
              <a:gd name="T18" fmla="*/ 0 w 69"/>
              <a:gd name="T19" fmla="*/ 0 h 681"/>
              <a:gd name="T20" fmla="*/ 69 w 69"/>
              <a:gd name="T21" fmla="*/ 681 h 681"/>
            </a:gdLst>
            <a:ahLst/>
            <a:cxnLst>
              <a:cxn ang="T12">
                <a:pos x="T0" y="T1"/>
              </a:cxn>
              <a:cxn ang="T13">
                <a:pos x="T2" y="T3"/>
              </a:cxn>
              <a:cxn ang="T14">
                <a:pos x="T4" y="T5"/>
              </a:cxn>
              <a:cxn ang="T15">
                <a:pos x="T6" y="T7"/>
              </a:cxn>
              <a:cxn ang="T16">
                <a:pos x="T8" y="T9"/>
              </a:cxn>
              <a:cxn ang="T17">
                <a:pos x="T10" y="T11"/>
              </a:cxn>
            </a:cxnLst>
            <a:rect l="T18" t="T19" r="T20" b="T21"/>
            <a:pathLst>
              <a:path w="69" h="681">
                <a:moveTo>
                  <a:pt x="0" y="65"/>
                </a:moveTo>
                <a:lnTo>
                  <a:pt x="68" y="0"/>
                </a:lnTo>
                <a:lnTo>
                  <a:pt x="68" y="604"/>
                </a:lnTo>
                <a:lnTo>
                  <a:pt x="35" y="680"/>
                </a:lnTo>
                <a:lnTo>
                  <a:pt x="0" y="602"/>
                </a:lnTo>
                <a:lnTo>
                  <a:pt x="0" y="65"/>
                </a:lnTo>
              </a:path>
            </a:pathLst>
          </a:custGeom>
          <a:gradFill rotWithShape="0">
            <a:gsLst>
              <a:gs pos="0">
                <a:srgbClr val="00CC00"/>
              </a:gs>
              <a:gs pos="50000">
                <a:srgbClr val="00FF00"/>
              </a:gs>
              <a:gs pos="100000">
                <a:srgbClr val="00CC00"/>
              </a:gs>
            </a:gsLst>
            <a:lin ang="0" scaled="1"/>
          </a:gradFill>
          <a:ln w="9525" cap="rnd">
            <a:noFill/>
            <a:round/>
            <a:headEnd/>
            <a:tailEnd/>
          </a:ln>
        </p:spPr>
        <p:txBody>
          <a:bodyPr/>
          <a:lstStyle/>
          <a:p>
            <a:endParaRPr lang="en-US"/>
          </a:p>
        </p:txBody>
      </p:sp>
      <p:sp>
        <p:nvSpPr>
          <p:cNvPr id="540715" name="Rectangle 43"/>
          <p:cNvSpPr>
            <a:spLocks noChangeArrowheads="1"/>
          </p:cNvSpPr>
          <p:nvPr/>
        </p:nvSpPr>
        <p:spPr bwMode="auto">
          <a:xfrm>
            <a:off x="457200" y="4267200"/>
            <a:ext cx="7793038" cy="1539875"/>
          </a:xfrm>
          <a:prstGeom prst="rect">
            <a:avLst/>
          </a:prstGeom>
          <a:noFill/>
          <a:ln w="25400">
            <a:solidFill>
              <a:schemeClr val="tx1"/>
            </a:solidFill>
            <a:miter lim="800000"/>
            <a:headEnd/>
            <a:tailEnd/>
          </a:ln>
          <a:effectLst>
            <a:prstShdw prst="shdw17" dist="17961" dir="2700000">
              <a:schemeClr val="tx1">
                <a:gamma/>
                <a:shade val="60000"/>
                <a:invGamma/>
              </a:schemeClr>
            </a:prstShdw>
          </a:effectLst>
        </p:spPr>
        <p:txBody>
          <a:bodyPr wrap="none" anchor="ctr"/>
          <a:lstStyle/>
          <a:p>
            <a:pPr>
              <a:defRPr/>
            </a:pPr>
            <a:endParaRPr lang="en-US"/>
          </a:p>
        </p:txBody>
      </p:sp>
      <p:sp>
        <p:nvSpPr>
          <p:cNvPr id="30744" name="Freeform 44"/>
          <p:cNvSpPr>
            <a:spLocks/>
          </p:cNvSpPr>
          <p:nvPr/>
        </p:nvSpPr>
        <p:spPr bwMode="auto">
          <a:xfrm>
            <a:off x="1625600" y="3937000"/>
            <a:ext cx="109538" cy="1081088"/>
          </a:xfrm>
          <a:custGeom>
            <a:avLst/>
            <a:gdLst>
              <a:gd name="T0" fmla="*/ 107950 w 69"/>
              <a:gd name="T1" fmla="*/ 103188 h 681"/>
              <a:gd name="T2" fmla="*/ 0 w 69"/>
              <a:gd name="T3" fmla="*/ 0 h 681"/>
              <a:gd name="T4" fmla="*/ 0 w 69"/>
              <a:gd name="T5" fmla="*/ 958850 h 681"/>
              <a:gd name="T6" fmla="*/ 52388 w 69"/>
              <a:gd name="T7" fmla="*/ 1079500 h 681"/>
              <a:gd name="T8" fmla="*/ 107950 w 69"/>
              <a:gd name="T9" fmla="*/ 955675 h 681"/>
              <a:gd name="T10" fmla="*/ 107950 w 69"/>
              <a:gd name="T11" fmla="*/ 103188 h 681"/>
              <a:gd name="T12" fmla="*/ 0 60000 65536"/>
              <a:gd name="T13" fmla="*/ 0 60000 65536"/>
              <a:gd name="T14" fmla="*/ 0 60000 65536"/>
              <a:gd name="T15" fmla="*/ 0 60000 65536"/>
              <a:gd name="T16" fmla="*/ 0 60000 65536"/>
              <a:gd name="T17" fmla="*/ 0 60000 65536"/>
              <a:gd name="T18" fmla="*/ 0 w 69"/>
              <a:gd name="T19" fmla="*/ 0 h 681"/>
              <a:gd name="T20" fmla="*/ 69 w 69"/>
              <a:gd name="T21" fmla="*/ 681 h 681"/>
            </a:gdLst>
            <a:ahLst/>
            <a:cxnLst>
              <a:cxn ang="T12">
                <a:pos x="T0" y="T1"/>
              </a:cxn>
              <a:cxn ang="T13">
                <a:pos x="T2" y="T3"/>
              </a:cxn>
              <a:cxn ang="T14">
                <a:pos x="T4" y="T5"/>
              </a:cxn>
              <a:cxn ang="T15">
                <a:pos x="T6" y="T7"/>
              </a:cxn>
              <a:cxn ang="T16">
                <a:pos x="T8" y="T9"/>
              </a:cxn>
              <a:cxn ang="T17">
                <a:pos x="T10" y="T11"/>
              </a:cxn>
            </a:cxnLst>
            <a:rect l="T18" t="T19" r="T20" b="T21"/>
            <a:pathLst>
              <a:path w="69" h="681">
                <a:moveTo>
                  <a:pt x="68" y="65"/>
                </a:moveTo>
                <a:lnTo>
                  <a:pt x="0" y="0"/>
                </a:lnTo>
                <a:lnTo>
                  <a:pt x="0" y="604"/>
                </a:lnTo>
                <a:lnTo>
                  <a:pt x="33" y="680"/>
                </a:lnTo>
                <a:lnTo>
                  <a:pt x="68" y="602"/>
                </a:lnTo>
                <a:lnTo>
                  <a:pt x="68" y="65"/>
                </a:lnTo>
              </a:path>
            </a:pathLst>
          </a:custGeom>
          <a:gradFill rotWithShape="0">
            <a:gsLst>
              <a:gs pos="0">
                <a:srgbClr val="00CC00"/>
              </a:gs>
              <a:gs pos="50000">
                <a:srgbClr val="00FF00"/>
              </a:gs>
              <a:gs pos="100000">
                <a:srgbClr val="00CC00"/>
              </a:gs>
            </a:gsLst>
            <a:lin ang="0" scaled="1"/>
          </a:gradFill>
          <a:ln w="9525" cap="rnd">
            <a:noFill/>
            <a:round/>
            <a:headEnd/>
            <a:tailEnd/>
          </a:ln>
        </p:spPr>
        <p:txBody>
          <a:bodyPr/>
          <a:lstStyle/>
          <a:p>
            <a:endParaRPr lang="en-US"/>
          </a:p>
        </p:txBody>
      </p:sp>
      <p:sp>
        <p:nvSpPr>
          <p:cNvPr id="540718" name="Rectangle 46"/>
          <p:cNvSpPr>
            <a:spLocks noChangeArrowheads="1"/>
          </p:cNvSpPr>
          <p:nvPr/>
        </p:nvSpPr>
        <p:spPr bwMode="auto">
          <a:xfrm>
            <a:off x="533400" y="4419600"/>
            <a:ext cx="1909763" cy="336550"/>
          </a:xfrm>
          <a:prstGeom prst="rect">
            <a:avLst/>
          </a:prstGeom>
          <a:solidFill>
            <a:schemeClr val="bg1"/>
          </a:solidFill>
          <a:ln w="9525">
            <a:noFill/>
            <a:miter lim="800000"/>
            <a:headEnd/>
            <a:tailEnd/>
          </a:ln>
          <a:effectLst>
            <a:prstShdw prst="shdw17" dist="17961" dir="2700000">
              <a:schemeClr val="bg1">
                <a:gamma/>
                <a:shade val="60000"/>
                <a:invGamma/>
              </a:schemeClr>
            </a:prstShdw>
          </a:effectLst>
        </p:spPr>
        <p:txBody>
          <a:bodyPr wrap="none" lIns="92075" tIns="46038" rIns="92075" bIns="46038">
            <a:spAutoFit/>
          </a:bodyPr>
          <a:lstStyle/>
          <a:p>
            <a:pPr>
              <a:defRPr/>
            </a:pPr>
            <a:r>
              <a:rPr lang="en-US" b="1"/>
              <a:t>in Company Code</a:t>
            </a:r>
          </a:p>
        </p:txBody>
      </p:sp>
      <p:grpSp>
        <p:nvGrpSpPr>
          <p:cNvPr id="30746" name="Group 48"/>
          <p:cNvGrpSpPr>
            <a:grpSpLocks/>
          </p:cNvGrpSpPr>
          <p:nvPr/>
        </p:nvGrpSpPr>
        <p:grpSpPr bwMode="auto">
          <a:xfrm>
            <a:off x="685800" y="4876800"/>
            <a:ext cx="1617663" cy="677863"/>
            <a:chOff x="360" y="3027"/>
            <a:chExt cx="1019" cy="427"/>
          </a:xfrm>
        </p:grpSpPr>
        <p:sp>
          <p:nvSpPr>
            <p:cNvPr id="30775" name="Freeform 49"/>
            <p:cNvSpPr>
              <a:spLocks/>
            </p:cNvSpPr>
            <p:nvPr/>
          </p:nvSpPr>
          <p:spPr bwMode="auto">
            <a:xfrm>
              <a:off x="360" y="3027"/>
              <a:ext cx="1019" cy="427"/>
            </a:xfrm>
            <a:custGeom>
              <a:avLst/>
              <a:gdLst>
                <a:gd name="T0" fmla="*/ 0 w 1019"/>
                <a:gd name="T1" fmla="*/ 0 h 427"/>
                <a:gd name="T2" fmla="*/ 1018 w 1019"/>
                <a:gd name="T3" fmla="*/ 0 h 427"/>
                <a:gd name="T4" fmla="*/ 1018 w 1019"/>
                <a:gd name="T5" fmla="*/ 426 h 427"/>
                <a:gd name="T6" fmla="*/ 0 w 1019"/>
                <a:gd name="T7" fmla="*/ 426 h 427"/>
                <a:gd name="T8" fmla="*/ 0 w 1019"/>
                <a:gd name="T9" fmla="*/ 0 h 427"/>
                <a:gd name="T10" fmla="*/ 0 60000 65536"/>
                <a:gd name="T11" fmla="*/ 0 60000 65536"/>
                <a:gd name="T12" fmla="*/ 0 60000 65536"/>
                <a:gd name="T13" fmla="*/ 0 60000 65536"/>
                <a:gd name="T14" fmla="*/ 0 60000 65536"/>
                <a:gd name="T15" fmla="*/ 0 w 1019"/>
                <a:gd name="T16" fmla="*/ 0 h 427"/>
                <a:gd name="T17" fmla="*/ 1019 w 1019"/>
                <a:gd name="T18" fmla="*/ 427 h 427"/>
              </a:gdLst>
              <a:ahLst/>
              <a:cxnLst>
                <a:cxn ang="T10">
                  <a:pos x="T0" y="T1"/>
                </a:cxn>
                <a:cxn ang="T11">
                  <a:pos x="T2" y="T3"/>
                </a:cxn>
                <a:cxn ang="T12">
                  <a:pos x="T4" y="T5"/>
                </a:cxn>
                <a:cxn ang="T13">
                  <a:pos x="T6" y="T7"/>
                </a:cxn>
                <a:cxn ang="T14">
                  <a:pos x="T8" y="T9"/>
                </a:cxn>
              </a:cxnLst>
              <a:rect l="T15" t="T16" r="T17" b="T18"/>
              <a:pathLst>
                <a:path w="1019" h="427">
                  <a:moveTo>
                    <a:pt x="0" y="0"/>
                  </a:moveTo>
                  <a:lnTo>
                    <a:pt x="1018" y="0"/>
                  </a:lnTo>
                  <a:lnTo>
                    <a:pt x="1018" y="426"/>
                  </a:lnTo>
                  <a:lnTo>
                    <a:pt x="0" y="426"/>
                  </a:lnTo>
                  <a:lnTo>
                    <a:pt x="0" y="0"/>
                  </a:lnTo>
                </a:path>
              </a:pathLst>
            </a:custGeom>
            <a:noFill/>
            <a:ln w="25400" cap="rnd" cmpd="sng">
              <a:solidFill>
                <a:schemeClr val="tx1"/>
              </a:solidFill>
              <a:prstDash val="solid"/>
              <a:round/>
              <a:headEnd/>
              <a:tailEnd/>
            </a:ln>
          </p:spPr>
          <p:txBody>
            <a:bodyPr/>
            <a:lstStyle/>
            <a:p>
              <a:endParaRPr lang="en-US"/>
            </a:p>
          </p:txBody>
        </p:sp>
        <p:sp>
          <p:nvSpPr>
            <p:cNvPr id="30776" name="Freeform 50"/>
            <p:cNvSpPr>
              <a:spLocks/>
            </p:cNvSpPr>
            <p:nvPr/>
          </p:nvSpPr>
          <p:spPr bwMode="auto">
            <a:xfrm>
              <a:off x="360" y="3027"/>
              <a:ext cx="1019" cy="427"/>
            </a:xfrm>
            <a:custGeom>
              <a:avLst/>
              <a:gdLst>
                <a:gd name="T0" fmla="*/ 0 w 1019"/>
                <a:gd name="T1" fmla="*/ 0 h 427"/>
                <a:gd name="T2" fmla="*/ 1018 w 1019"/>
                <a:gd name="T3" fmla="*/ 0 h 427"/>
                <a:gd name="T4" fmla="*/ 1018 w 1019"/>
                <a:gd name="T5" fmla="*/ 426 h 427"/>
                <a:gd name="T6" fmla="*/ 0 w 1019"/>
                <a:gd name="T7" fmla="*/ 426 h 427"/>
                <a:gd name="T8" fmla="*/ 0 w 1019"/>
                <a:gd name="T9" fmla="*/ 0 h 427"/>
                <a:gd name="T10" fmla="*/ 0 60000 65536"/>
                <a:gd name="T11" fmla="*/ 0 60000 65536"/>
                <a:gd name="T12" fmla="*/ 0 60000 65536"/>
                <a:gd name="T13" fmla="*/ 0 60000 65536"/>
                <a:gd name="T14" fmla="*/ 0 60000 65536"/>
                <a:gd name="T15" fmla="*/ 0 w 1019"/>
                <a:gd name="T16" fmla="*/ 0 h 427"/>
                <a:gd name="T17" fmla="*/ 1019 w 1019"/>
                <a:gd name="T18" fmla="*/ 427 h 427"/>
              </a:gdLst>
              <a:ahLst/>
              <a:cxnLst>
                <a:cxn ang="T10">
                  <a:pos x="T0" y="T1"/>
                </a:cxn>
                <a:cxn ang="T11">
                  <a:pos x="T2" y="T3"/>
                </a:cxn>
                <a:cxn ang="T12">
                  <a:pos x="T4" y="T5"/>
                </a:cxn>
                <a:cxn ang="T13">
                  <a:pos x="T6" y="T7"/>
                </a:cxn>
                <a:cxn ang="T14">
                  <a:pos x="T8" y="T9"/>
                </a:cxn>
              </a:cxnLst>
              <a:rect l="T15" t="T16" r="T17" b="T18"/>
              <a:pathLst>
                <a:path w="1019" h="427">
                  <a:moveTo>
                    <a:pt x="0" y="0"/>
                  </a:moveTo>
                  <a:lnTo>
                    <a:pt x="1018" y="0"/>
                  </a:lnTo>
                  <a:lnTo>
                    <a:pt x="1018" y="426"/>
                  </a:lnTo>
                  <a:lnTo>
                    <a:pt x="0" y="426"/>
                  </a:lnTo>
                  <a:lnTo>
                    <a:pt x="0" y="0"/>
                  </a:lnTo>
                </a:path>
              </a:pathLst>
            </a:custGeom>
            <a:solidFill>
              <a:schemeClr val="accent2"/>
            </a:solidFill>
            <a:ln w="9525" cap="rnd">
              <a:noFill/>
              <a:round/>
              <a:headEnd/>
              <a:tailEnd/>
            </a:ln>
          </p:spPr>
          <p:txBody>
            <a:bodyPr/>
            <a:lstStyle/>
            <a:p>
              <a:endParaRPr lang="en-US"/>
            </a:p>
          </p:txBody>
        </p:sp>
        <p:sp>
          <p:nvSpPr>
            <p:cNvPr id="30777" name="Freeform 51"/>
            <p:cNvSpPr>
              <a:spLocks/>
            </p:cNvSpPr>
            <p:nvPr/>
          </p:nvSpPr>
          <p:spPr bwMode="auto">
            <a:xfrm>
              <a:off x="360" y="3027"/>
              <a:ext cx="1019" cy="427"/>
            </a:xfrm>
            <a:custGeom>
              <a:avLst/>
              <a:gdLst>
                <a:gd name="T0" fmla="*/ 0 w 1019"/>
                <a:gd name="T1" fmla="*/ 426 h 427"/>
                <a:gd name="T2" fmla="*/ 0 w 1019"/>
                <a:gd name="T3" fmla="*/ 0 h 427"/>
                <a:gd name="T4" fmla="*/ 1018 w 1019"/>
                <a:gd name="T5" fmla="*/ 0 h 427"/>
                <a:gd name="T6" fmla="*/ 0 60000 65536"/>
                <a:gd name="T7" fmla="*/ 0 60000 65536"/>
                <a:gd name="T8" fmla="*/ 0 60000 65536"/>
                <a:gd name="T9" fmla="*/ 0 w 1019"/>
                <a:gd name="T10" fmla="*/ 0 h 427"/>
                <a:gd name="T11" fmla="*/ 1019 w 1019"/>
                <a:gd name="T12" fmla="*/ 427 h 427"/>
              </a:gdLst>
              <a:ahLst/>
              <a:cxnLst>
                <a:cxn ang="T6">
                  <a:pos x="T0" y="T1"/>
                </a:cxn>
                <a:cxn ang="T7">
                  <a:pos x="T2" y="T3"/>
                </a:cxn>
                <a:cxn ang="T8">
                  <a:pos x="T4" y="T5"/>
                </a:cxn>
              </a:cxnLst>
              <a:rect l="T9" t="T10" r="T11" b="T12"/>
              <a:pathLst>
                <a:path w="1019" h="427">
                  <a:moveTo>
                    <a:pt x="0" y="426"/>
                  </a:moveTo>
                  <a:lnTo>
                    <a:pt x="0" y="0"/>
                  </a:lnTo>
                  <a:lnTo>
                    <a:pt x="1018" y="0"/>
                  </a:lnTo>
                </a:path>
              </a:pathLst>
            </a:custGeom>
            <a:noFill/>
            <a:ln w="12700" cap="rnd" cmpd="sng">
              <a:solidFill>
                <a:srgbClr val="FFFFFF"/>
              </a:solidFill>
              <a:prstDash val="solid"/>
              <a:round/>
              <a:headEnd type="none" w="sm" len="sm"/>
              <a:tailEnd type="none" w="sm" len="sm"/>
            </a:ln>
          </p:spPr>
          <p:txBody>
            <a:bodyPr/>
            <a:lstStyle/>
            <a:p>
              <a:endParaRPr lang="en-US"/>
            </a:p>
          </p:txBody>
        </p:sp>
        <p:sp>
          <p:nvSpPr>
            <p:cNvPr id="30778" name="Freeform 52"/>
            <p:cNvSpPr>
              <a:spLocks/>
            </p:cNvSpPr>
            <p:nvPr/>
          </p:nvSpPr>
          <p:spPr bwMode="auto">
            <a:xfrm>
              <a:off x="360" y="3027"/>
              <a:ext cx="1019" cy="427"/>
            </a:xfrm>
            <a:custGeom>
              <a:avLst/>
              <a:gdLst>
                <a:gd name="T0" fmla="*/ 1018 w 1019"/>
                <a:gd name="T1" fmla="*/ 0 h 427"/>
                <a:gd name="T2" fmla="*/ 1018 w 1019"/>
                <a:gd name="T3" fmla="*/ 426 h 427"/>
                <a:gd name="T4" fmla="*/ 0 w 1019"/>
                <a:gd name="T5" fmla="*/ 426 h 427"/>
                <a:gd name="T6" fmla="*/ 0 60000 65536"/>
                <a:gd name="T7" fmla="*/ 0 60000 65536"/>
                <a:gd name="T8" fmla="*/ 0 60000 65536"/>
                <a:gd name="T9" fmla="*/ 0 w 1019"/>
                <a:gd name="T10" fmla="*/ 0 h 427"/>
                <a:gd name="T11" fmla="*/ 1019 w 1019"/>
                <a:gd name="T12" fmla="*/ 427 h 427"/>
              </a:gdLst>
              <a:ahLst/>
              <a:cxnLst>
                <a:cxn ang="T6">
                  <a:pos x="T0" y="T1"/>
                </a:cxn>
                <a:cxn ang="T7">
                  <a:pos x="T2" y="T3"/>
                </a:cxn>
                <a:cxn ang="T8">
                  <a:pos x="T4" y="T5"/>
                </a:cxn>
              </a:cxnLst>
              <a:rect l="T9" t="T10" r="T11" b="T12"/>
              <a:pathLst>
                <a:path w="1019" h="427">
                  <a:moveTo>
                    <a:pt x="1018" y="0"/>
                  </a:moveTo>
                  <a:lnTo>
                    <a:pt x="1018" y="426"/>
                  </a:lnTo>
                  <a:lnTo>
                    <a:pt x="0" y="426"/>
                  </a:lnTo>
                </a:path>
              </a:pathLst>
            </a:custGeom>
            <a:noFill/>
            <a:ln w="12700" cap="rnd" cmpd="sng">
              <a:solidFill>
                <a:schemeClr val="tx1"/>
              </a:solidFill>
              <a:prstDash val="solid"/>
              <a:round/>
              <a:headEnd type="none" w="sm" len="sm"/>
              <a:tailEnd type="none" w="sm" len="sm"/>
            </a:ln>
          </p:spPr>
          <p:txBody>
            <a:bodyPr/>
            <a:lstStyle/>
            <a:p>
              <a:endParaRPr lang="en-US"/>
            </a:p>
          </p:txBody>
        </p:sp>
      </p:grpSp>
      <p:sp>
        <p:nvSpPr>
          <p:cNvPr id="30747" name="Rectangle 53"/>
          <p:cNvSpPr>
            <a:spLocks noChangeArrowheads="1"/>
          </p:cNvSpPr>
          <p:nvPr/>
        </p:nvSpPr>
        <p:spPr bwMode="auto">
          <a:xfrm>
            <a:off x="685800" y="4876800"/>
            <a:ext cx="1671638" cy="336550"/>
          </a:xfrm>
          <a:prstGeom prst="rect">
            <a:avLst/>
          </a:prstGeom>
          <a:noFill/>
          <a:ln w="12700" algn="ctr">
            <a:noFill/>
            <a:miter lim="800000"/>
            <a:headEnd/>
            <a:tailEnd/>
          </a:ln>
        </p:spPr>
        <p:txBody>
          <a:bodyPr wrap="none">
            <a:spAutoFit/>
          </a:bodyPr>
          <a:lstStyle/>
          <a:p>
            <a:r>
              <a:rPr lang="en-US" b="1">
                <a:solidFill>
                  <a:srgbClr val="EAEC5E"/>
                </a:solidFill>
              </a:rPr>
              <a:t>Company Code</a:t>
            </a:r>
          </a:p>
        </p:txBody>
      </p:sp>
      <p:sp>
        <p:nvSpPr>
          <p:cNvPr id="30748" name="Rectangle 54"/>
          <p:cNvSpPr>
            <a:spLocks noChangeArrowheads="1"/>
          </p:cNvSpPr>
          <p:nvPr/>
        </p:nvSpPr>
        <p:spPr bwMode="auto">
          <a:xfrm>
            <a:off x="838200" y="5127625"/>
            <a:ext cx="1273175" cy="336550"/>
          </a:xfrm>
          <a:prstGeom prst="rect">
            <a:avLst/>
          </a:prstGeom>
          <a:noFill/>
          <a:ln w="9525">
            <a:noFill/>
            <a:miter lim="800000"/>
            <a:headEnd/>
            <a:tailEnd/>
          </a:ln>
        </p:spPr>
        <p:txBody>
          <a:bodyPr lIns="92075" tIns="46038" rIns="92075" bIns="46038" anchor="ctr" anchorCtr="1">
            <a:spAutoFit/>
          </a:bodyPr>
          <a:lstStyle/>
          <a:p>
            <a:r>
              <a:rPr lang="en-US" b="1">
                <a:solidFill>
                  <a:schemeClr val="bg2"/>
                </a:solidFill>
              </a:rPr>
              <a:t>     0010</a:t>
            </a:r>
          </a:p>
        </p:txBody>
      </p:sp>
      <p:grpSp>
        <p:nvGrpSpPr>
          <p:cNvPr id="30749" name="Group 55"/>
          <p:cNvGrpSpPr>
            <a:grpSpLocks/>
          </p:cNvGrpSpPr>
          <p:nvPr/>
        </p:nvGrpSpPr>
        <p:grpSpPr bwMode="auto">
          <a:xfrm>
            <a:off x="838200" y="5181600"/>
            <a:ext cx="1312863" cy="239713"/>
            <a:chOff x="457" y="3255"/>
            <a:chExt cx="827" cy="151"/>
          </a:xfrm>
        </p:grpSpPr>
        <p:sp>
          <p:nvSpPr>
            <p:cNvPr id="30773" name="Freeform 56"/>
            <p:cNvSpPr>
              <a:spLocks/>
            </p:cNvSpPr>
            <p:nvPr/>
          </p:nvSpPr>
          <p:spPr bwMode="auto">
            <a:xfrm>
              <a:off x="457" y="3255"/>
              <a:ext cx="827" cy="151"/>
            </a:xfrm>
            <a:custGeom>
              <a:avLst/>
              <a:gdLst>
                <a:gd name="T0" fmla="*/ 0 w 827"/>
                <a:gd name="T1" fmla="*/ 150 h 151"/>
                <a:gd name="T2" fmla="*/ 0 w 827"/>
                <a:gd name="T3" fmla="*/ 0 h 151"/>
                <a:gd name="T4" fmla="*/ 826 w 827"/>
                <a:gd name="T5" fmla="*/ 0 h 151"/>
                <a:gd name="T6" fmla="*/ 0 60000 65536"/>
                <a:gd name="T7" fmla="*/ 0 60000 65536"/>
                <a:gd name="T8" fmla="*/ 0 60000 65536"/>
                <a:gd name="T9" fmla="*/ 0 w 827"/>
                <a:gd name="T10" fmla="*/ 0 h 151"/>
                <a:gd name="T11" fmla="*/ 827 w 827"/>
                <a:gd name="T12" fmla="*/ 151 h 151"/>
              </a:gdLst>
              <a:ahLst/>
              <a:cxnLst>
                <a:cxn ang="T6">
                  <a:pos x="T0" y="T1"/>
                </a:cxn>
                <a:cxn ang="T7">
                  <a:pos x="T2" y="T3"/>
                </a:cxn>
                <a:cxn ang="T8">
                  <a:pos x="T4" y="T5"/>
                </a:cxn>
              </a:cxnLst>
              <a:rect l="T9" t="T10" r="T11" b="T12"/>
              <a:pathLst>
                <a:path w="827" h="151">
                  <a:moveTo>
                    <a:pt x="0" y="150"/>
                  </a:moveTo>
                  <a:lnTo>
                    <a:pt x="0" y="0"/>
                  </a:lnTo>
                  <a:lnTo>
                    <a:pt x="826" y="0"/>
                  </a:lnTo>
                </a:path>
              </a:pathLst>
            </a:custGeom>
            <a:noFill/>
            <a:ln w="12700" cap="rnd" cmpd="sng">
              <a:solidFill>
                <a:schemeClr val="tx1"/>
              </a:solidFill>
              <a:prstDash val="solid"/>
              <a:round/>
              <a:headEnd type="none" w="sm" len="sm"/>
              <a:tailEnd type="none" w="sm" len="sm"/>
            </a:ln>
          </p:spPr>
          <p:txBody>
            <a:bodyPr/>
            <a:lstStyle/>
            <a:p>
              <a:endParaRPr lang="en-US"/>
            </a:p>
          </p:txBody>
        </p:sp>
        <p:sp>
          <p:nvSpPr>
            <p:cNvPr id="30774" name="Freeform 57"/>
            <p:cNvSpPr>
              <a:spLocks/>
            </p:cNvSpPr>
            <p:nvPr/>
          </p:nvSpPr>
          <p:spPr bwMode="auto">
            <a:xfrm>
              <a:off x="457" y="3255"/>
              <a:ext cx="827" cy="151"/>
            </a:xfrm>
            <a:custGeom>
              <a:avLst/>
              <a:gdLst>
                <a:gd name="T0" fmla="*/ 826 w 827"/>
                <a:gd name="T1" fmla="*/ 0 h 151"/>
                <a:gd name="T2" fmla="*/ 826 w 827"/>
                <a:gd name="T3" fmla="*/ 150 h 151"/>
                <a:gd name="T4" fmla="*/ 0 w 827"/>
                <a:gd name="T5" fmla="*/ 150 h 151"/>
                <a:gd name="T6" fmla="*/ 0 60000 65536"/>
                <a:gd name="T7" fmla="*/ 0 60000 65536"/>
                <a:gd name="T8" fmla="*/ 0 60000 65536"/>
                <a:gd name="T9" fmla="*/ 0 w 827"/>
                <a:gd name="T10" fmla="*/ 0 h 151"/>
                <a:gd name="T11" fmla="*/ 827 w 827"/>
                <a:gd name="T12" fmla="*/ 151 h 151"/>
              </a:gdLst>
              <a:ahLst/>
              <a:cxnLst>
                <a:cxn ang="T6">
                  <a:pos x="T0" y="T1"/>
                </a:cxn>
                <a:cxn ang="T7">
                  <a:pos x="T2" y="T3"/>
                </a:cxn>
                <a:cxn ang="T8">
                  <a:pos x="T4" y="T5"/>
                </a:cxn>
              </a:cxnLst>
              <a:rect l="T9" t="T10" r="T11" b="T12"/>
              <a:pathLst>
                <a:path w="827" h="151">
                  <a:moveTo>
                    <a:pt x="826" y="0"/>
                  </a:moveTo>
                  <a:lnTo>
                    <a:pt x="826" y="150"/>
                  </a:lnTo>
                  <a:lnTo>
                    <a:pt x="0" y="150"/>
                  </a:lnTo>
                </a:path>
              </a:pathLst>
            </a:custGeom>
            <a:noFill/>
            <a:ln w="12700" cap="rnd" cmpd="sng">
              <a:solidFill>
                <a:srgbClr val="FFFFFF"/>
              </a:solidFill>
              <a:prstDash val="solid"/>
              <a:round/>
              <a:headEnd type="none" w="sm" len="sm"/>
              <a:tailEnd type="none" w="sm" len="sm"/>
            </a:ln>
          </p:spPr>
          <p:txBody>
            <a:bodyPr/>
            <a:lstStyle/>
            <a:p>
              <a:endParaRPr lang="en-US"/>
            </a:p>
          </p:txBody>
        </p:sp>
      </p:grpSp>
      <p:grpSp>
        <p:nvGrpSpPr>
          <p:cNvPr id="30750" name="Group 58"/>
          <p:cNvGrpSpPr>
            <a:grpSpLocks/>
          </p:cNvGrpSpPr>
          <p:nvPr/>
        </p:nvGrpSpPr>
        <p:grpSpPr bwMode="auto">
          <a:xfrm>
            <a:off x="2941638" y="4819650"/>
            <a:ext cx="1617662" cy="677863"/>
            <a:chOff x="1416" y="3027"/>
            <a:chExt cx="1019" cy="427"/>
          </a:xfrm>
        </p:grpSpPr>
        <p:sp>
          <p:nvSpPr>
            <p:cNvPr id="30769" name="Freeform 59"/>
            <p:cNvSpPr>
              <a:spLocks/>
            </p:cNvSpPr>
            <p:nvPr/>
          </p:nvSpPr>
          <p:spPr bwMode="auto">
            <a:xfrm>
              <a:off x="1416" y="3027"/>
              <a:ext cx="1019" cy="427"/>
            </a:xfrm>
            <a:custGeom>
              <a:avLst/>
              <a:gdLst>
                <a:gd name="T0" fmla="*/ 0 w 1019"/>
                <a:gd name="T1" fmla="*/ 0 h 427"/>
                <a:gd name="T2" fmla="*/ 1018 w 1019"/>
                <a:gd name="T3" fmla="*/ 0 h 427"/>
                <a:gd name="T4" fmla="*/ 1018 w 1019"/>
                <a:gd name="T5" fmla="*/ 426 h 427"/>
                <a:gd name="T6" fmla="*/ 0 w 1019"/>
                <a:gd name="T7" fmla="*/ 426 h 427"/>
                <a:gd name="T8" fmla="*/ 0 w 1019"/>
                <a:gd name="T9" fmla="*/ 0 h 427"/>
                <a:gd name="T10" fmla="*/ 0 60000 65536"/>
                <a:gd name="T11" fmla="*/ 0 60000 65536"/>
                <a:gd name="T12" fmla="*/ 0 60000 65536"/>
                <a:gd name="T13" fmla="*/ 0 60000 65536"/>
                <a:gd name="T14" fmla="*/ 0 60000 65536"/>
                <a:gd name="T15" fmla="*/ 0 w 1019"/>
                <a:gd name="T16" fmla="*/ 0 h 427"/>
                <a:gd name="T17" fmla="*/ 1019 w 1019"/>
                <a:gd name="T18" fmla="*/ 427 h 427"/>
              </a:gdLst>
              <a:ahLst/>
              <a:cxnLst>
                <a:cxn ang="T10">
                  <a:pos x="T0" y="T1"/>
                </a:cxn>
                <a:cxn ang="T11">
                  <a:pos x="T2" y="T3"/>
                </a:cxn>
                <a:cxn ang="T12">
                  <a:pos x="T4" y="T5"/>
                </a:cxn>
                <a:cxn ang="T13">
                  <a:pos x="T6" y="T7"/>
                </a:cxn>
                <a:cxn ang="T14">
                  <a:pos x="T8" y="T9"/>
                </a:cxn>
              </a:cxnLst>
              <a:rect l="T15" t="T16" r="T17" b="T18"/>
              <a:pathLst>
                <a:path w="1019" h="427">
                  <a:moveTo>
                    <a:pt x="0" y="0"/>
                  </a:moveTo>
                  <a:lnTo>
                    <a:pt x="1018" y="0"/>
                  </a:lnTo>
                  <a:lnTo>
                    <a:pt x="1018" y="426"/>
                  </a:lnTo>
                  <a:lnTo>
                    <a:pt x="0" y="426"/>
                  </a:lnTo>
                  <a:lnTo>
                    <a:pt x="0" y="0"/>
                  </a:lnTo>
                </a:path>
              </a:pathLst>
            </a:custGeom>
            <a:noFill/>
            <a:ln w="25400" cap="rnd" cmpd="sng">
              <a:solidFill>
                <a:schemeClr val="tx1"/>
              </a:solidFill>
              <a:prstDash val="solid"/>
              <a:round/>
              <a:headEnd/>
              <a:tailEnd/>
            </a:ln>
          </p:spPr>
          <p:txBody>
            <a:bodyPr/>
            <a:lstStyle/>
            <a:p>
              <a:endParaRPr lang="en-US"/>
            </a:p>
          </p:txBody>
        </p:sp>
        <p:sp>
          <p:nvSpPr>
            <p:cNvPr id="30770" name="Freeform 60"/>
            <p:cNvSpPr>
              <a:spLocks/>
            </p:cNvSpPr>
            <p:nvPr/>
          </p:nvSpPr>
          <p:spPr bwMode="auto">
            <a:xfrm>
              <a:off x="1416" y="3027"/>
              <a:ext cx="1019" cy="427"/>
            </a:xfrm>
            <a:custGeom>
              <a:avLst/>
              <a:gdLst>
                <a:gd name="T0" fmla="*/ 0 w 1019"/>
                <a:gd name="T1" fmla="*/ 0 h 427"/>
                <a:gd name="T2" fmla="*/ 1018 w 1019"/>
                <a:gd name="T3" fmla="*/ 0 h 427"/>
                <a:gd name="T4" fmla="*/ 1018 w 1019"/>
                <a:gd name="T5" fmla="*/ 426 h 427"/>
                <a:gd name="T6" fmla="*/ 0 w 1019"/>
                <a:gd name="T7" fmla="*/ 426 h 427"/>
                <a:gd name="T8" fmla="*/ 0 w 1019"/>
                <a:gd name="T9" fmla="*/ 0 h 427"/>
                <a:gd name="T10" fmla="*/ 0 60000 65536"/>
                <a:gd name="T11" fmla="*/ 0 60000 65536"/>
                <a:gd name="T12" fmla="*/ 0 60000 65536"/>
                <a:gd name="T13" fmla="*/ 0 60000 65536"/>
                <a:gd name="T14" fmla="*/ 0 60000 65536"/>
                <a:gd name="T15" fmla="*/ 0 w 1019"/>
                <a:gd name="T16" fmla="*/ 0 h 427"/>
                <a:gd name="T17" fmla="*/ 1019 w 1019"/>
                <a:gd name="T18" fmla="*/ 427 h 427"/>
              </a:gdLst>
              <a:ahLst/>
              <a:cxnLst>
                <a:cxn ang="T10">
                  <a:pos x="T0" y="T1"/>
                </a:cxn>
                <a:cxn ang="T11">
                  <a:pos x="T2" y="T3"/>
                </a:cxn>
                <a:cxn ang="T12">
                  <a:pos x="T4" y="T5"/>
                </a:cxn>
                <a:cxn ang="T13">
                  <a:pos x="T6" y="T7"/>
                </a:cxn>
                <a:cxn ang="T14">
                  <a:pos x="T8" y="T9"/>
                </a:cxn>
              </a:cxnLst>
              <a:rect l="T15" t="T16" r="T17" b="T18"/>
              <a:pathLst>
                <a:path w="1019" h="427">
                  <a:moveTo>
                    <a:pt x="0" y="0"/>
                  </a:moveTo>
                  <a:lnTo>
                    <a:pt x="1018" y="0"/>
                  </a:lnTo>
                  <a:lnTo>
                    <a:pt x="1018" y="426"/>
                  </a:lnTo>
                  <a:lnTo>
                    <a:pt x="0" y="426"/>
                  </a:lnTo>
                  <a:lnTo>
                    <a:pt x="0" y="0"/>
                  </a:lnTo>
                </a:path>
              </a:pathLst>
            </a:custGeom>
            <a:solidFill>
              <a:schemeClr val="accent2"/>
            </a:solidFill>
            <a:ln w="9525" cap="rnd">
              <a:noFill/>
              <a:round/>
              <a:headEnd/>
              <a:tailEnd/>
            </a:ln>
          </p:spPr>
          <p:txBody>
            <a:bodyPr/>
            <a:lstStyle/>
            <a:p>
              <a:endParaRPr lang="en-US"/>
            </a:p>
          </p:txBody>
        </p:sp>
        <p:sp>
          <p:nvSpPr>
            <p:cNvPr id="30771" name="Freeform 61"/>
            <p:cNvSpPr>
              <a:spLocks/>
            </p:cNvSpPr>
            <p:nvPr/>
          </p:nvSpPr>
          <p:spPr bwMode="auto">
            <a:xfrm>
              <a:off x="1416" y="3027"/>
              <a:ext cx="1019" cy="427"/>
            </a:xfrm>
            <a:custGeom>
              <a:avLst/>
              <a:gdLst>
                <a:gd name="T0" fmla="*/ 0 w 1019"/>
                <a:gd name="T1" fmla="*/ 426 h 427"/>
                <a:gd name="T2" fmla="*/ 0 w 1019"/>
                <a:gd name="T3" fmla="*/ 0 h 427"/>
                <a:gd name="T4" fmla="*/ 1018 w 1019"/>
                <a:gd name="T5" fmla="*/ 0 h 427"/>
                <a:gd name="T6" fmla="*/ 0 60000 65536"/>
                <a:gd name="T7" fmla="*/ 0 60000 65536"/>
                <a:gd name="T8" fmla="*/ 0 60000 65536"/>
                <a:gd name="T9" fmla="*/ 0 w 1019"/>
                <a:gd name="T10" fmla="*/ 0 h 427"/>
                <a:gd name="T11" fmla="*/ 1019 w 1019"/>
                <a:gd name="T12" fmla="*/ 427 h 427"/>
              </a:gdLst>
              <a:ahLst/>
              <a:cxnLst>
                <a:cxn ang="T6">
                  <a:pos x="T0" y="T1"/>
                </a:cxn>
                <a:cxn ang="T7">
                  <a:pos x="T2" y="T3"/>
                </a:cxn>
                <a:cxn ang="T8">
                  <a:pos x="T4" y="T5"/>
                </a:cxn>
              </a:cxnLst>
              <a:rect l="T9" t="T10" r="T11" b="T12"/>
              <a:pathLst>
                <a:path w="1019" h="427">
                  <a:moveTo>
                    <a:pt x="0" y="426"/>
                  </a:moveTo>
                  <a:lnTo>
                    <a:pt x="0" y="0"/>
                  </a:lnTo>
                  <a:lnTo>
                    <a:pt x="1018" y="0"/>
                  </a:lnTo>
                </a:path>
              </a:pathLst>
            </a:custGeom>
            <a:noFill/>
            <a:ln w="12700" cap="rnd" cmpd="sng">
              <a:solidFill>
                <a:srgbClr val="FFFFFF"/>
              </a:solidFill>
              <a:prstDash val="solid"/>
              <a:round/>
              <a:headEnd type="none" w="sm" len="sm"/>
              <a:tailEnd type="none" w="sm" len="sm"/>
            </a:ln>
          </p:spPr>
          <p:txBody>
            <a:bodyPr/>
            <a:lstStyle/>
            <a:p>
              <a:endParaRPr lang="en-US"/>
            </a:p>
          </p:txBody>
        </p:sp>
        <p:sp>
          <p:nvSpPr>
            <p:cNvPr id="30772" name="Freeform 62"/>
            <p:cNvSpPr>
              <a:spLocks/>
            </p:cNvSpPr>
            <p:nvPr/>
          </p:nvSpPr>
          <p:spPr bwMode="auto">
            <a:xfrm>
              <a:off x="1416" y="3027"/>
              <a:ext cx="1019" cy="427"/>
            </a:xfrm>
            <a:custGeom>
              <a:avLst/>
              <a:gdLst>
                <a:gd name="T0" fmla="*/ 1018 w 1019"/>
                <a:gd name="T1" fmla="*/ 0 h 427"/>
                <a:gd name="T2" fmla="*/ 1018 w 1019"/>
                <a:gd name="T3" fmla="*/ 426 h 427"/>
                <a:gd name="T4" fmla="*/ 0 w 1019"/>
                <a:gd name="T5" fmla="*/ 426 h 427"/>
                <a:gd name="T6" fmla="*/ 0 60000 65536"/>
                <a:gd name="T7" fmla="*/ 0 60000 65536"/>
                <a:gd name="T8" fmla="*/ 0 60000 65536"/>
                <a:gd name="T9" fmla="*/ 0 w 1019"/>
                <a:gd name="T10" fmla="*/ 0 h 427"/>
                <a:gd name="T11" fmla="*/ 1019 w 1019"/>
                <a:gd name="T12" fmla="*/ 427 h 427"/>
              </a:gdLst>
              <a:ahLst/>
              <a:cxnLst>
                <a:cxn ang="T6">
                  <a:pos x="T0" y="T1"/>
                </a:cxn>
                <a:cxn ang="T7">
                  <a:pos x="T2" y="T3"/>
                </a:cxn>
                <a:cxn ang="T8">
                  <a:pos x="T4" y="T5"/>
                </a:cxn>
              </a:cxnLst>
              <a:rect l="T9" t="T10" r="T11" b="T12"/>
              <a:pathLst>
                <a:path w="1019" h="427">
                  <a:moveTo>
                    <a:pt x="1018" y="0"/>
                  </a:moveTo>
                  <a:lnTo>
                    <a:pt x="1018" y="426"/>
                  </a:lnTo>
                  <a:lnTo>
                    <a:pt x="0" y="426"/>
                  </a:lnTo>
                </a:path>
              </a:pathLst>
            </a:custGeom>
            <a:noFill/>
            <a:ln w="12700" cap="rnd" cmpd="sng">
              <a:solidFill>
                <a:schemeClr val="tx1"/>
              </a:solidFill>
              <a:prstDash val="solid"/>
              <a:round/>
              <a:headEnd type="none" w="sm" len="sm"/>
              <a:tailEnd type="none" w="sm" len="sm"/>
            </a:ln>
          </p:spPr>
          <p:txBody>
            <a:bodyPr/>
            <a:lstStyle/>
            <a:p>
              <a:endParaRPr lang="en-US"/>
            </a:p>
          </p:txBody>
        </p:sp>
      </p:grpSp>
      <p:grpSp>
        <p:nvGrpSpPr>
          <p:cNvPr id="30751" name="Group 63"/>
          <p:cNvGrpSpPr>
            <a:grpSpLocks/>
          </p:cNvGrpSpPr>
          <p:nvPr/>
        </p:nvGrpSpPr>
        <p:grpSpPr bwMode="auto">
          <a:xfrm>
            <a:off x="2801938" y="4814888"/>
            <a:ext cx="1838325" cy="639762"/>
            <a:chOff x="1337" y="3033"/>
            <a:chExt cx="1158" cy="403"/>
          </a:xfrm>
        </p:grpSpPr>
        <p:sp>
          <p:nvSpPr>
            <p:cNvPr id="30767" name="Rectangle 64"/>
            <p:cNvSpPr>
              <a:spLocks noChangeArrowheads="1"/>
            </p:cNvSpPr>
            <p:nvPr/>
          </p:nvSpPr>
          <p:spPr bwMode="auto">
            <a:xfrm>
              <a:off x="1337" y="3033"/>
              <a:ext cx="1158" cy="224"/>
            </a:xfrm>
            <a:prstGeom prst="rect">
              <a:avLst/>
            </a:prstGeom>
            <a:noFill/>
            <a:ln w="9525">
              <a:noFill/>
              <a:miter lim="800000"/>
              <a:headEnd/>
              <a:tailEnd/>
            </a:ln>
          </p:spPr>
          <p:txBody>
            <a:bodyPr lIns="92075" tIns="46038" rIns="92075" bIns="46038" anchor="ctr" anchorCtr="1"/>
            <a:lstStyle/>
            <a:p>
              <a:r>
                <a:rPr lang="en-US" b="1">
                  <a:solidFill>
                    <a:srgbClr val="EAEC5E"/>
                  </a:solidFill>
                </a:rPr>
                <a:t>Company Code</a:t>
              </a:r>
            </a:p>
          </p:txBody>
        </p:sp>
        <p:sp>
          <p:nvSpPr>
            <p:cNvPr id="30768" name="Rectangle 65"/>
            <p:cNvSpPr>
              <a:spLocks noChangeArrowheads="1"/>
            </p:cNvSpPr>
            <p:nvPr/>
          </p:nvSpPr>
          <p:spPr bwMode="auto">
            <a:xfrm>
              <a:off x="1469" y="3224"/>
              <a:ext cx="802" cy="212"/>
            </a:xfrm>
            <a:prstGeom prst="rect">
              <a:avLst/>
            </a:prstGeom>
            <a:noFill/>
            <a:ln w="9525">
              <a:noFill/>
              <a:miter lim="800000"/>
              <a:headEnd/>
              <a:tailEnd/>
            </a:ln>
          </p:spPr>
          <p:txBody>
            <a:bodyPr lIns="92075" tIns="46038" rIns="92075" bIns="46038" anchor="ctr" anchorCtr="1">
              <a:spAutoFit/>
            </a:bodyPr>
            <a:lstStyle/>
            <a:p>
              <a:r>
                <a:rPr lang="en-US" b="1">
                  <a:solidFill>
                    <a:schemeClr val="bg2"/>
                  </a:solidFill>
                </a:rPr>
                <a:t>  0020</a:t>
              </a:r>
            </a:p>
          </p:txBody>
        </p:sp>
      </p:grpSp>
      <p:grpSp>
        <p:nvGrpSpPr>
          <p:cNvPr id="30752" name="Group 66"/>
          <p:cNvGrpSpPr>
            <a:grpSpLocks/>
          </p:cNvGrpSpPr>
          <p:nvPr/>
        </p:nvGrpSpPr>
        <p:grpSpPr bwMode="auto">
          <a:xfrm>
            <a:off x="3062288" y="5148263"/>
            <a:ext cx="1312862" cy="239712"/>
            <a:chOff x="1501" y="3243"/>
            <a:chExt cx="827" cy="151"/>
          </a:xfrm>
        </p:grpSpPr>
        <p:sp>
          <p:nvSpPr>
            <p:cNvPr id="30765" name="Freeform 67"/>
            <p:cNvSpPr>
              <a:spLocks/>
            </p:cNvSpPr>
            <p:nvPr/>
          </p:nvSpPr>
          <p:spPr bwMode="auto">
            <a:xfrm>
              <a:off x="1501" y="3243"/>
              <a:ext cx="827" cy="151"/>
            </a:xfrm>
            <a:custGeom>
              <a:avLst/>
              <a:gdLst>
                <a:gd name="T0" fmla="*/ 0 w 827"/>
                <a:gd name="T1" fmla="*/ 150 h 151"/>
                <a:gd name="T2" fmla="*/ 0 w 827"/>
                <a:gd name="T3" fmla="*/ 0 h 151"/>
                <a:gd name="T4" fmla="*/ 826 w 827"/>
                <a:gd name="T5" fmla="*/ 0 h 151"/>
                <a:gd name="T6" fmla="*/ 0 60000 65536"/>
                <a:gd name="T7" fmla="*/ 0 60000 65536"/>
                <a:gd name="T8" fmla="*/ 0 60000 65536"/>
                <a:gd name="T9" fmla="*/ 0 w 827"/>
                <a:gd name="T10" fmla="*/ 0 h 151"/>
                <a:gd name="T11" fmla="*/ 827 w 827"/>
                <a:gd name="T12" fmla="*/ 151 h 151"/>
              </a:gdLst>
              <a:ahLst/>
              <a:cxnLst>
                <a:cxn ang="T6">
                  <a:pos x="T0" y="T1"/>
                </a:cxn>
                <a:cxn ang="T7">
                  <a:pos x="T2" y="T3"/>
                </a:cxn>
                <a:cxn ang="T8">
                  <a:pos x="T4" y="T5"/>
                </a:cxn>
              </a:cxnLst>
              <a:rect l="T9" t="T10" r="T11" b="T12"/>
              <a:pathLst>
                <a:path w="827" h="151">
                  <a:moveTo>
                    <a:pt x="0" y="150"/>
                  </a:moveTo>
                  <a:lnTo>
                    <a:pt x="0" y="0"/>
                  </a:lnTo>
                  <a:lnTo>
                    <a:pt x="826" y="0"/>
                  </a:lnTo>
                </a:path>
              </a:pathLst>
            </a:custGeom>
            <a:noFill/>
            <a:ln w="12700" cap="rnd" cmpd="sng">
              <a:solidFill>
                <a:schemeClr val="tx1"/>
              </a:solidFill>
              <a:prstDash val="solid"/>
              <a:round/>
              <a:headEnd type="none" w="sm" len="sm"/>
              <a:tailEnd type="none" w="sm" len="sm"/>
            </a:ln>
          </p:spPr>
          <p:txBody>
            <a:bodyPr/>
            <a:lstStyle/>
            <a:p>
              <a:endParaRPr lang="en-US"/>
            </a:p>
          </p:txBody>
        </p:sp>
        <p:sp>
          <p:nvSpPr>
            <p:cNvPr id="30766" name="Freeform 68"/>
            <p:cNvSpPr>
              <a:spLocks/>
            </p:cNvSpPr>
            <p:nvPr/>
          </p:nvSpPr>
          <p:spPr bwMode="auto">
            <a:xfrm>
              <a:off x="1501" y="3243"/>
              <a:ext cx="827" cy="151"/>
            </a:xfrm>
            <a:custGeom>
              <a:avLst/>
              <a:gdLst>
                <a:gd name="T0" fmla="*/ 826 w 827"/>
                <a:gd name="T1" fmla="*/ 0 h 151"/>
                <a:gd name="T2" fmla="*/ 826 w 827"/>
                <a:gd name="T3" fmla="*/ 150 h 151"/>
                <a:gd name="T4" fmla="*/ 0 w 827"/>
                <a:gd name="T5" fmla="*/ 150 h 151"/>
                <a:gd name="T6" fmla="*/ 0 60000 65536"/>
                <a:gd name="T7" fmla="*/ 0 60000 65536"/>
                <a:gd name="T8" fmla="*/ 0 60000 65536"/>
                <a:gd name="T9" fmla="*/ 0 w 827"/>
                <a:gd name="T10" fmla="*/ 0 h 151"/>
                <a:gd name="T11" fmla="*/ 827 w 827"/>
                <a:gd name="T12" fmla="*/ 151 h 151"/>
              </a:gdLst>
              <a:ahLst/>
              <a:cxnLst>
                <a:cxn ang="T6">
                  <a:pos x="T0" y="T1"/>
                </a:cxn>
                <a:cxn ang="T7">
                  <a:pos x="T2" y="T3"/>
                </a:cxn>
                <a:cxn ang="T8">
                  <a:pos x="T4" y="T5"/>
                </a:cxn>
              </a:cxnLst>
              <a:rect l="T9" t="T10" r="T11" b="T12"/>
              <a:pathLst>
                <a:path w="827" h="151">
                  <a:moveTo>
                    <a:pt x="826" y="0"/>
                  </a:moveTo>
                  <a:lnTo>
                    <a:pt x="826" y="150"/>
                  </a:lnTo>
                  <a:lnTo>
                    <a:pt x="0" y="150"/>
                  </a:lnTo>
                </a:path>
              </a:pathLst>
            </a:custGeom>
            <a:noFill/>
            <a:ln w="12700" cap="rnd" cmpd="sng">
              <a:solidFill>
                <a:srgbClr val="FFFFFF"/>
              </a:solidFill>
              <a:prstDash val="solid"/>
              <a:round/>
              <a:headEnd type="none" w="sm" len="sm"/>
              <a:tailEnd type="none" w="sm" len="sm"/>
            </a:ln>
          </p:spPr>
          <p:txBody>
            <a:bodyPr/>
            <a:lstStyle/>
            <a:p>
              <a:endParaRPr lang="en-US"/>
            </a:p>
          </p:txBody>
        </p:sp>
      </p:grpSp>
      <p:grpSp>
        <p:nvGrpSpPr>
          <p:cNvPr id="30753" name="Group 69"/>
          <p:cNvGrpSpPr>
            <a:grpSpLocks/>
          </p:cNvGrpSpPr>
          <p:nvPr/>
        </p:nvGrpSpPr>
        <p:grpSpPr bwMode="auto">
          <a:xfrm>
            <a:off x="6477000" y="4800600"/>
            <a:ext cx="1617663" cy="677863"/>
            <a:chOff x="4184" y="3027"/>
            <a:chExt cx="1019" cy="427"/>
          </a:xfrm>
        </p:grpSpPr>
        <p:sp>
          <p:nvSpPr>
            <p:cNvPr id="30761" name="Freeform 70"/>
            <p:cNvSpPr>
              <a:spLocks/>
            </p:cNvSpPr>
            <p:nvPr/>
          </p:nvSpPr>
          <p:spPr bwMode="auto">
            <a:xfrm>
              <a:off x="4184" y="3027"/>
              <a:ext cx="1019" cy="427"/>
            </a:xfrm>
            <a:custGeom>
              <a:avLst/>
              <a:gdLst>
                <a:gd name="T0" fmla="*/ 0 w 1019"/>
                <a:gd name="T1" fmla="*/ 0 h 427"/>
                <a:gd name="T2" fmla="*/ 1018 w 1019"/>
                <a:gd name="T3" fmla="*/ 0 h 427"/>
                <a:gd name="T4" fmla="*/ 1018 w 1019"/>
                <a:gd name="T5" fmla="*/ 426 h 427"/>
                <a:gd name="T6" fmla="*/ 0 w 1019"/>
                <a:gd name="T7" fmla="*/ 426 h 427"/>
                <a:gd name="T8" fmla="*/ 0 w 1019"/>
                <a:gd name="T9" fmla="*/ 0 h 427"/>
                <a:gd name="T10" fmla="*/ 0 60000 65536"/>
                <a:gd name="T11" fmla="*/ 0 60000 65536"/>
                <a:gd name="T12" fmla="*/ 0 60000 65536"/>
                <a:gd name="T13" fmla="*/ 0 60000 65536"/>
                <a:gd name="T14" fmla="*/ 0 60000 65536"/>
                <a:gd name="T15" fmla="*/ 0 w 1019"/>
                <a:gd name="T16" fmla="*/ 0 h 427"/>
                <a:gd name="T17" fmla="*/ 1019 w 1019"/>
                <a:gd name="T18" fmla="*/ 427 h 427"/>
              </a:gdLst>
              <a:ahLst/>
              <a:cxnLst>
                <a:cxn ang="T10">
                  <a:pos x="T0" y="T1"/>
                </a:cxn>
                <a:cxn ang="T11">
                  <a:pos x="T2" y="T3"/>
                </a:cxn>
                <a:cxn ang="T12">
                  <a:pos x="T4" y="T5"/>
                </a:cxn>
                <a:cxn ang="T13">
                  <a:pos x="T6" y="T7"/>
                </a:cxn>
                <a:cxn ang="T14">
                  <a:pos x="T8" y="T9"/>
                </a:cxn>
              </a:cxnLst>
              <a:rect l="T15" t="T16" r="T17" b="T18"/>
              <a:pathLst>
                <a:path w="1019" h="427">
                  <a:moveTo>
                    <a:pt x="0" y="0"/>
                  </a:moveTo>
                  <a:lnTo>
                    <a:pt x="1018" y="0"/>
                  </a:lnTo>
                  <a:lnTo>
                    <a:pt x="1018" y="426"/>
                  </a:lnTo>
                  <a:lnTo>
                    <a:pt x="0" y="426"/>
                  </a:lnTo>
                  <a:lnTo>
                    <a:pt x="0" y="0"/>
                  </a:lnTo>
                </a:path>
              </a:pathLst>
            </a:custGeom>
            <a:noFill/>
            <a:ln w="25400" cap="rnd" cmpd="sng">
              <a:solidFill>
                <a:schemeClr val="tx1"/>
              </a:solidFill>
              <a:prstDash val="solid"/>
              <a:round/>
              <a:headEnd/>
              <a:tailEnd/>
            </a:ln>
          </p:spPr>
          <p:txBody>
            <a:bodyPr/>
            <a:lstStyle/>
            <a:p>
              <a:endParaRPr lang="en-US"/>
            </a:p>
          </p:txBody>
        </p:sp>
        <p:sp>
          <p:nvSpPr>
            <p:cNvPr id="30762" name="Freeform 71"/>
            <p:cNvSpPr>
              <a:spLocks/>
            </p:cNvSpPr>
            <p:nvPr/>
          </p:nvSpPr>
          <p:spPr bwMode="auto">
            <a:xfrm>
              <a:off x="4184" y="3027"/>
              <a:ext cx="1019" cy="427"/>
            </a:xfrm>
            <a:custGeom>
              <a:avLst/>
              <a:gdLst>
                <a:gd name="T0" fmla="*/ 0 w 1019"/>
                <a:gd name="T1" fmla="*/ 0 h 427"/>
                <a:gd name="T2" fmla="*/ 1018 w 1019"/>
                <a:gd name="T3" fmla="*/ 0 h 427"/>
                <a:gd name="T4" fmla="*/ 1018 w 1019"/>
                <a:gd name="T5" fmla="*/ 426 h 427"/>
                <a:gd name="T6" fmla="*/ 0 w 1019"/>
                <a:gd name="T7" fmla="*/ 426 h 427"/>
                <a:gd name="T8" fmla="*/ 0 w 1019"/>
                <a:gd name="T9" fmla="*/ 0 h 427"/>
                <a:gd name="T10" fmla="*/ 0 60000 65536"/>
                <a:gd name="T11" fmla="*/ 0 60000 65536"/>
                <a:gd name="T12" fmla="*/ 0 60000 65536"/>
                <a:gd name="T13" fmla="*/ 0 60000 65536"/>
                <a:gd name="T14" fmla="*/ 0 60000 65536"/>
                <a:gd name="T15" fmla="*/ 0 w 1019"/>
                <a:gd name="T16" fmla="*/ 0 h 427"/>
                <a:gd name="T17" fmla="*/ 1019 w 1019"/>
                <a:gd name="T18" fmla="*/ 427 h 427"/>
              </a:gdLst>
              <a:ahLst/>
              <a:cxnLst>
                <a:cxn ang="T10">
                  <a:pos x="T0" y="T1"/>
                </a:cxn>
                <a:cxn ang="T11">
                  <a:pos x="T2" y="T3"/>
                </a:cxn>
                <a:cxn ang="T12">
                  <a:pos x="T4" y="T5"/>
                </a:cxn>
                <a:cxn ang="T13">
                  <a:pos x="T6" y="T7"/>
                </a:cxn>
                <a:cxn ang="T14">
                  <a:pos x="T8" y="T9"/>
                </a:cxn>
              </a:cxnLst>
              <a:rect l="T15" t="T16" r="T17" b="T18"/>
              <a:pathLst>
                <a:path w="1019" h="427">
                  <a:moveTo>
                    <a:pt x="0" y="0"/>
                  </a:moveTo>
                  <a:lnTo>
                    <a:pt x="1018" y="0"/>
                  </a:lnTo>
                  <a:lnTo>
                    <a:pt x="1018" y="426"/>
                  </a:lnTo>
                  <a:lnTo>
                    <a:pt x="0" y="426"/>
                  </a:lnTo>
                  <a:lnTo>
                    <a:pt x="0" y="0"/>
                  </a:lnTo>
                </a:path>
              </a:pathLst>
            </a:custGeom>
            <a:solidFill>
              <a:schemeClr val="accent2"/>
            </a:solidFill>
            <a:ln w="9525" cap="rnd">
              <a:noFill/>
              <a:round/>
              <a:headEnd/>
              <a:tailEnd/>
            </a:ln>
          </p:spPr>
          <p:txBody>
            <a:bodyPr/>
            <a:lstStyle/>
            <a:p>
              <a:endParaRPr lang="en-US"/>
            </a:p>
          </p:txBody>
        </p:sp>
        <p:sp>
          <p:nvSpPr>
            <p:cNvPr id="30763" name="Freeform 72"/>
            <p:cNvSpPr>
              <a:spLocks/>
            </p:cNvSpPr>
            <p:nvPr/>
          </p:nvSpPr>
          <p:spPr bwMode="auto">
            <a:xfrm>
              <a:off x="4184" y="3027"/>
              <a:ext cx="1019" cy="427"/>
            </a:xfrm>
            <a:custGeom>
              <a:avLst/>
              <a:gdLst>
                <a:gd name="T0" fmla="*/ 0 w 1019"/>
                <a:gd name="T1" fmla="*/ 426 h 427"/>
                <a:gd name="T2" fmla="*/ 0 w 1019"/>
                <a:gd name="T3" fmla="*/ 0 h 427"/>
                <a:gd name="T4" fmla="*/ 1018 w 1019"/>
                <a:gd name="T5" fmla="*/ 0 h 427"/>
                <a:gd name="T6" fmla="*/ 0 60000 65536"/>
                <a:gd name="T7" fmla="*/ 0 60000 65536"/>
                <a:gd name="T8" fmla="*/ 0 60000 65536"/>
                <a:gd name="T9" fmla="*/ 0 w 1019"/>
                <a:gd name="T10" fmla="*/ 0 h 427"/>
                <a:gd name="T11" fmla="*/ 1019 w 1019"/>
                <a:gd name="T12" fmla="*/ 427 h 427"/>
              </a:gdLst>
              <a:ahLst/>
              <a:cxnLst>
                <a:cxn ang="T6">
                  <a:pos x="T0" y="T1"/>
                </a:cxn>
                <a:cxn ang="T7">
                  <a:pos x="T2" y="T3"/>
                </a:cxn>
                <a:cxn ang="T8">
                  <a:pos x="T4" y="T5"/>
                </a:cxn>
              </a:cxnLst>
              <a:rect l="T9" t="T10" r="T11" b="T12"/>
              <a:pathLst>
                <a:path w="1019" h="427">
                  <a:moveTo>
                    <a:pt x="0" y="426"/>
                  </a:moveTo>
                  <a:lnTo>
                    <a:pt x="0" y="0"/>
                  </a:lnTo>
                  <a:lnTo>
                    <a:pt x="1018" y="0"/>
                  </a:lnTo>
                </a:path>
              </a:pathLst>
            </a:custGeom>
            <a:noFill/>
            <a:ln w="12700" cap="rnd" cmpd="sng">
              <a:solidFill>
                <a:srgbClr val="FFFFFF"/>
              </a:solidFill>
              <a:prstDash val="solid"/>
              <a:round/>
              <a:headEnd type="none" w="sm" len="sm"/>
              <a:tailEnd type="none" w="sm" len="sm"/>
            </a:ln>
          </p:spPr>
          <p:txBody>
            <a:bodyPr/>
            <a:lstStyle/>
            <a:p>
              <a:endParaRPr lang="en-US"/>
            </a:p>
          </p:txBody>
        </p:sp>
        <p:sp>
          <p:nvSpPr>
            <p:cNvPr id="30764" name="Freeform 73"/>
            <p:cNvSpPr>
              <a:spLocks/>
            </p:cNvSpPr>
            <p:nvPr/>
          </p:nvSpPr>
          <p:spPr bwMode="auto">
            <a:xfrm>
              <a:off x="4184" y="3027"/>
              <a:ext cx="1019" cy="427"/>
            </a:xfrm>
            <a:custGeom>
              <a:avLst/>
              <a:gdLst>
                <a:gd name="T0" fmla="*/ 1018 w 1019"/>
                <a:gd name="T1" fmla="*/ 0 h 427"/>
                <a:gd name="T2" fmla="*/ 1018 w 1019"/>
                <a:gd name="T3" fmla="*/ 426 h 427"/>
                <a:gd name="T4" fmla="*/ 0 w 1019"/>
                <a:gd name="T5" fmla="*/ 426 h 427"/>
                <a:gd name="T6" fmla="*/ 0 60000 65536"/>
                <a:gd name="T7" fmla="*/ 0 60000 65536"/>
                <a:gd name="T8" fmla="*/ 0 60000 65536"/>
                <a:gd name="T9" fmla="*/ 0 w 1019"/>
                <a:gd name="T10" fmla="*/ 0 h 427"/>
                <a:gd name="T11" fmla="*/ 1019 w 1019"/>
                <a:gd name="T12" fmla="*/ 427 h 427"/>
              </a:gdLst>
              <a:ahLst/>
              <a:cxnLst>
                <a:cxn ang="T6">
                  <a:pos x="T0" y="T1"/>
                </a:cxn>
                <a:cxn ang="T7">
                  <a:pos x="T2" y="T3"/>
                </a:cxn>
                <a:cxn ang="T8">
                  <a:pos x="T4" y="T5"/>
                </a:cxn>
              </a:cxnLst>
              <a:rect l="T9" t="T10" r="T11" b="T12"/>
              <a:pathLst>
                <a:path w="1019" h="427">
                  <a:moveTo>
                    <a:pt x="1018" y="0"/>
                  </a:moveTo>
                  <a:lnTo>
                    <a:pt x="1018" y="426"/>
                  </a:lnTo>
                  <a:lnTo>
                    <a:pt x="0" y="426"/>
                  </a:lnTo>
                </a:path>
              </a:pathLst>
            </a:custGeom>
            <a:noFill/>
            <a:ln w="12700" cap="rnd" cmpd="sng">
              <a:solidFill>
                <a:schemeClr val="tx1"/>
              </a:solidFill>
              <a:prstDash val="solid"/>
              <a:round/>
              <a:headEnd type="none" w="sm" len="sm"/>
              <a:tailEnd type="none" w="sm" len="sm"/>
            </a:ln>
          </p:spPr>
          <p:txBody>
            <a:bodyPr/>
            <a:lstStyle/>
            <a:p>
              <a:endParaRPr lang="en-US"/>
            </a:p>
          </p:txBody>
        </p:sp>
      </p:grpSp>
      <p:sp>
        <p:nvSpPr>
          <p:cNvPr id="30754" name="Rectangle 74"/>
          <p:cNvSpPr>
            <a:spLocks noChangeArrowheads="1"/>
          </p:cNvSpPr>
          <p:nvPr/>
        </p:nvSpPr>
        <p:spPr bwMode="auto">
          <a:xfrm>
            <a:off x="6324600" y="4800600"/>
            <a:ext cx="1831975" cy="355600"/>
          </a:xfrm>
          <a:prstGeom prst="rect">
            <a:avLst/>
          </a:prstGeom>
          <a:noFill/>
          <a:ln w="9525">
            <a:noFill/>
            <a:miter lim="800000"/>
            <a:headEnd/>
            <a:tailEnd/>
          </a:ln>
        </p:spPr>
        <p:txBody>
          <a:bodyPr lIns="92075" tIns="46038" rIns="92075" bIns="46038" anchor="ctr" anchorCtr="1"/>
          <a:lstStyle/>
          <a:p>
            <a:r>
              <a:rPr lang="en-US" b="1">
                <a:solidFill>
                  <a:srgbClr val="EAEC5E"/>
                </a:solidFill>
              </a:rPr>
              <a:t>Company Code</a:t>
            </a:r>
          </a:p>
        </p:txBody>
      </p:sp>
      <p:grpSp>
        <p:nvGrpSpPr>
          <p:cNvPr id="30755" name="Group 75"/>
          <p:cNvGrpSpPr>
            <a:grpSpLocks/>
          </p:cNvGrpSpPr>
          <p:nvPr/>
        </p:nvGrpSpPr>
        <p:grpSpPr bwMode="auto">
          <a:xfrm>
            <a:off x="6629400" y="5105400"/>
            <a:ext cx="1312863" cy="239713"/>
            <a:chOff x="4281" y="3243"/>
            <a:chExt cx="827" cy="151"/>
          </a:xfrm>
        </p:grpSpPr>
        <p:sp>
          <p:nvSpPr>
            <p:cNvPr id="30759" name="Freeform 76"/>
            <p:cNvSpPr>
              <a:spLocks/>
            </p:cNvSpPr>
            <p:nvPr/>
          </p:nvSpPr>
          <p:spPr bwMode="auto">
            <a:xfrm>
              <a:off x="4281" y="3243"/>
              <a:ext cx="827" cy="151"/>
            </a:xfrm>
            <a:custGeom>
              <a:avLst/>
              <a:gdLst>
                <a:gd name="T0" fmla="*/ 0 w 827"/>
                <a:gd name="T1" fmla="*/ 150 h 151"/>
                <a:gd name="T2" fmla="*/ 0 w 827"/>
                <a:gd name="T3" fmla="*/ 0 h 151"/>
                <a:gd name="T4" fmla="*/ 826 w 827"/>
                <a:gd name="T5" fmla="*/ 0 h 151"/>
                <a:gd name="T6" fmla="*/ 0 60000 65536"/>
                <a:gd name="T7" fmla="*/ 0 60000 65536"/>
                <a:gd name="T8" fmla="*/ 0 60000 65536"/>
                <a:gd name="T9" fmla="*/ 0 w 827"/>
                <a:gd name="T10" fmla="*/ 0 h 151"/>
                <a:gd name="T11" fmla="*/ 827 w 827"/>
                <a:gd name="T12" fmla="*/ 151 h 151"/>
              </a:gdLst>
              <a:ahLst/>
              <a:cxnLst>
                <a:cxn ang="T6">
                  <a:pos x="T0" y="T1"/>
                </a:cxn>
                <a:cxn ang="T7">
                  <a:pos x="T2" y="T3"/>
                </a:cxn>
                <a:cxn ang="T8">
                  <a:pos x="T4" y="T5"/>
                </a:cxn>
              </a:cxnLst>
              <a:rect l="T9" t="T10" r="T11" b="T12"/>
              <a:pathLst>
                <a:path w="827" h="151">
                  <a:moveTo>
                    <a:pt x="0" y="150"/>
                  </a:moveTo>
                  <a:lnTo>
                    <a:pt x="0" y="0"/>
                  </a:lnTo>
                  <a:lnTo>
                    <a:pt x="826" y="0"/>
                  </a:lnTo>
                </a:path>
              </a:pathLst>
            </a:custGeom>
            <a:noFill/>
            <a:ln w="12700" cap="rnd" cmpd="sng">
              <a:solidFill>
                <a:schemeClr val="tx1"/>
              </a:solidFill>
              <a:prstDash val="solid"/>
              <a:round/>
              <a:headEnd type="none" w="sm" len="sm"/>
              <a:tailEnd type="none" w="sm" len="sm"/>
            </a:ln>
          </p:spPr>
          <p:txBody>
            <a:bodyPr/>
            <a:lstStyle/>
            <a:p>
              <a:endParaRPr lang="en-US"/>
            </a:p>
          </p:txBody>
        </p:sp>
        <p:sp>
          <p:nvSpPr>
            <p:cNvPr id="30760" name="Freeform 77"/>
            <p:cNvSpPr>
              <a:spLocks/>
            </p:cNvSpPr>
            <p:nvPr/>
          </p:nvSpPr>
          <p:spPr bwMode="auto">
            <a:xfrm>
              <a:off x="4281" y="3243"/>
              <a:ext cx="827" cy="151"/>
            </a:xfrm>
            <a:custGeom>
              <a:avLst/>
              <a:gdLst>
                <a:gd name="T0" fmla="*/ 826 w 827"/>
                <a:gd name="T1" fmla="*/ 0 h 151"/>
                <a:gd name="T2" fmla="*/ 826 w 827"/>
                <a:gd name="T3" fmla="*/ 150 h 151"/>
                <a:gd name="T4" fmla="*/ 0 w 827"/>
                <a:gd name="T5" fmla="*/ 150 h 151"/>
                <a:gd name="T6" fmla="*/ 0 60000 65536"/>
                <a:gd name="T7" fmla="*/ 0 60000 65536"/>
                <a:gd name="T8" fmla="*/ 0 60000 65536"/>
                <a:gd name="T9" fmla="*/ 0 w 827"/>
                <a:gd name="T10" fmla="*/ 0 h 151"/>
                <a:gd name="T11" fmla="*/ 827 w 827"/>
                <a:gd name="T12" fmla="*/ 151 h 151"/>
              </a:gdLst>
              <a:ahLst/>
              <a:cxnLst>
                <a:cxn ang="T6">
                  <a:pos x="T0" y="T1"/>
                </a:cxn>
                <a:cxn ang="T7">
                  <a:pos x="T2" y="T3"/>
                </a:cxn>
                <a:cxn ang="T8">
                  <a:pos x="T4" y="T5"/>
                </a:cxn>
              </a:cxnLst>
              <a:rect l="T9" t="T10" r="T11" b="T12"/>
              <a:pathLst>
                <a:path w="827" h="151">
                  <a:moveTo>
                    <a:pt x="826" y="0"/>
                  </a:moveTo>
                  <a:lnTo>
                    <a:pt x="826" y="150"/>
                  </a:lnTo>
                  <a:lnTo>
                    <a:pt x="0" y="150"/>
                  </a:lnTo>
                </a:path>
              </a:pathLst>
            </a:custGeom>
            <a:noFill/>
            <a:ln w="12700" cap="rnd" cmpd="sng">
              <a:solidFill>
                <a:srgbClr val="FFFFFF"/>
              </a:solidFill>
              <a:prstDash val="solid"/>
              <a:round/>
              <a:headEnd type="none" w="sm" len="sm"/>
              <a:tailEnd type="none" w="sm" len="sm"/>
            </a:ln>
          </p:spPr>
          <p:txBody>
            <a:bodyPr/>
            <a:lstStyle/>
            <a:p>
              <a:endParaRPr lang="en-US"/>
            </a:p>
          </p:txBody>
        </p:sp>
      </p:grpSp>
      <p:sp>
        <p:nvSpPr>
          <p:cNvPr id="30756" name="Rectangle 78"/>
          <p:cNvSpPr>
            <a:spLocks noChangeArrowheads="1"/>
          </p:cNvSpPr>
          <p:nvPr/>
        </p:nvSpPr>
        <p:spPr bwMode="auto">
          <a:xfrm>
            <a:off x="6553200" y="5105400"/>
            <a:ext cx="1273175" cy="336550"/>
          </a:xfrm>
          <a:prstGeom prst="rect">
            <a:avLst/>
          </a:prstGeom>
          <a:noFill/>
          <a:ln w="9525">
            <a:noFill/>
            <a:miter lim="800000"/>
            <a:headEnd/>
            <a:tailEnd/>
          </a:ln>
        </p:spPr>
        <p:txBody>
          <a:bodyPr lIns="92075" tIns="46038" rIns="92075" bIns="46038" anchor="ctr" anchorCtr="1">
            <a:spAutoFit/>
          </a:bodyPr>
          <a:lstStyle/>
          <a:p>
            <a:r>
              <a:rPr lang="en-US" b="1">
                <a:solidFill>
                  <a:schemeClr val="bg2"/>
                </a:solidFill>
              </a:rPr>
              <a:t>XXXX</a:t>
            </a:r>
          </a:p>
        </p:txBody>
      </p:sp>
      <p:sp>
        <p:nvSpPr>
          <p:cNvPr id="30757" name="Rectangle 79"/>
          <p:cNvSpPr>
            <a:spLocks noChangeArrowheads="1"/>
          </p:cNvSpPr>
          <p:nvPr/>
        </p:nvSpPr>
        <p:spPr bwMode="auto">
          <a:xfrm>
            <a:off x="8305800" y="2971800"/>
            <a:ext cx="320675" cy="2305050"/>
          </a:xfrm>
          <a:prstGeom prst="rect">
            <a:avLst/>
          </a:prstGeom>
          <a:solidFill>
            <a:schemeClr val="bg1"/>
          </a:solidFill>
          <a:ln w="12700">
            <a:solidFill>
              <a:srgbClr val="030382"/>
            </a:solidFill>
            <a:miter lim="800000"/>
            <a:headEnd/>
            <a:tailEnd/>
          </a:ln>
          <a:effectLst>
            <a:prstShdw prst="shdw17" dist="17961" dir="2700000">
              <a:srgbClr val="02024E"/>
            </a:prstShdw>
          </a:effectLst>
        </p:spPr>
        <p:txBody>
          <a:bodyPr wrap="none" lIns="92075" tIns="46038" rIns="92075" bIns="46038">
            <a:spAutoFit/>
          </a:bodyPr>
          <a:lstStyle/>
          <a:p>
            <a:r>
              <a:rPr lang="en-US" b="1"/>
              <a:t>c</a:t>
            </a:r>
          </a:p>
          <a:p>
            <a:r>
              <a:rPr lang="en-US" b="1"/>
              <a:t>e</a:t>
            </a:r>
          </a:p>
          <a:p>
            <a:r>
              <a:rPr lang="en-US" b="1"/>
              <a:t>n</a:t>
            </a:r>
          </a:p>
          <a:p>
            <a:r>
              <a:rPr lang="en-US" b="1"/>
              <a:t>t</a:t>
            </a:r>
          </a:p>
          <a:p>
            <a:r>
              <a:rPr lang="en-US" b="1"/>
              <a:t>r</a:t>
            </a:r>
          </a:p>
          <a:p>
            <a:r>
              <a:rPr lang="en-US" b="1"/>
              <a:t>a</a:t>
            </a:r>
          </a:p>
          <a:p>
            <a:r>
              <a:rPr lang="en-US" b="1"/>
              <a:t>l</a:t>
            </a:r>
          </a:p>
          <a:p>
            <a:r>
              <a:rPr lang="en-US" b="1"/>
              <a:t>l</a:t>
            </a:r>
          </a:p>
          <a:p>
            <a:r>
              <a:rPr lang="en-US" b="1"/>
              <a: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3602" name="Rectangle 2"/>
          <p:cNvSpPr>
            <a:spLocks noGrp="1" noChangeArrowheads="1"/>
          </p:cNvSpPr>
          <p:nvPr>
            <p:ph type="title"/>
          </p:nvPr>
        </p:nvSpPr>
        <p:spPr>
          <a:xfrm>
            <a:off x="381000" y="381000"/>
            <a:ext cx="7620000" cy="671513"/>
          </a:xfrm>
        </p:spPr>
        <p:txBody>
          <a:bodyPr/>
          <a:lstStyle/>
          <a:p>
            <a:pPr algn="ctr">
              <a:defRPr/>
            </a:pPr>
            <a:r>
              <a:rPr lang="en-US" sz="4000" b="0"/>
              <a:t>G/L Master Data</a:t>
            </a:r>
          </a:p>
        </p:txBody>
      </p:sp>
      <p:sp>
        <p:nvSpPr>
          <p:cNvPr id="31747" name="Rectangle 4"/>
          <p:cNvSpPr>
            <a:spLocks noChangeArrowheads="1"/>
          </p:cNvSpPr>
          <p:nvPr/>
        </p:nvSpPr>
        <p:spPr bwMode="auto">
          <a:xfrm>
            <a:off x="914400" y="1447800"/>
            <a:ext cx="7620000" cy="3387725"/>
          </a:xfrm>
          <a:prstGeom prst="rect">
            <a:avLst/>
          </a:prstGeom>
          <a:noFill/>
          <a:ln w="12700" algn="ctr">
            <a:noFill/>
            <a:miter lim="800000"/>
            <a:headEnd/>
            <a:tailEnd/>
          </a:ln>
        </p:spPr>
        <p:txBody>
          <a:bodyPr>
            <a:spAutoFit/>
          </a:bodyPr>
          <a:lstStyle/>
          <a:p>
            <a:pPr>
              <a:buFontTx/>
              <a:buChar char="•"/>
            </a:pPr>
            <a:r>
              <a:rPr lang="en-AU" sz="1800"/>
              <a:t>Account Groups – Transaction Code OBD4</a:t>
            </a:r>
          </a:p>
          <a:p>
            <a:endParaRPr lang="en-AU" sz="1800"/>
          </a:p>
          <a:p>
            <a:pPr>
              <a:buFontTx/>
              <a:buChar char="•"/>
            </a:pPr>
            <a:r>
              <a:rPr lang="en-AU" sz="1800"/>
              <a:t>Maintenance</a:t>
            </a:r>
          </a:p>
          <a:p>
            <a:pPr lvl="1">
              <a:buFont typeface="Wingdings" pitchFamily="2" charset="2"/>
              <a:buChar char="ü"/>
            </a:pPr>
            <a:r>
              <a:rPr lang="en-AU" sz="1800"/>
              <a:t>Creation at 2 Levels</a:t>
            </a:r>
          </a:p>
          <a:p>
            <a:pPr lvl="2">
              <a:buFont typeface="Wingdings" pitchFamily="2" charset="2"/>
              <a:buChar char="§"/>
            </a:pPr>
            <a:r>
              <a:rPr lang="en-AU" sz="1800"/>
              <a:t>Chart of Accounts Data</a:t>
            </a:r>
          </a:p>
          <a:p>
            <a:pPr lvl="2">
              <a:buFont typeface="Wingdings" pitchFamily="2" charset="2"/>
              <a:buChar char="§"/>
            </a:pPr>
            <a:r>
              <a:rPr lang="en-AU" sz="1800"/>
              <a:t>Company Code Data</a:t>
            </a:r>
          </a:p>
          <a:p>
            <a:pPr lvl="1">
              <a:buFont typeface="Wingdings" pitchFamily="2" charset="2"/>
              <a:buChar char="ü"/>
            </a:pPr>
            <a:r>
              <a:rPr lang="en-AU" sz="1800"/>
              <a:t>Change</a:t>
            </a:r>
          </a:p>
          <a:p>
            <a:pPr lvl="1">
              <a:buFont typeface="Wingdings" pitchFamily="2" charset="2"/>
              <a:buChar char="ü"/>
            </a:pPr>
            <a:r>
              <a:rPr lang="en-AU" sz="1800"/>
              <a:t>Block</a:t>
            </a:r>
          </a:p>
          <a:p>
            <a:pPr lvl="1">
              <a:buFont typeface="Wingdings" pitchFamily="2" charset="2"/>
              <a:buChar char="ü"/>
            </a:pPr>
            <a:r>
              <a:rPr lang="en-AU" sz="1800"/>
              <a:t>Delete</a:t>
            </a:r>
          </a:p>
          <a:p>
            <a:pPr lvl="1">
              <a:buFont typeface="Wingdings" pitchFamily="2" charset="2"/>
              <a:buNone/>
            </a:pPr>
            <a:endParaRPr lang="en-AU" sz="1800"/>
          </a:p>
          <a:p>
            <a:pPr>
              <a:buFontTx/>
              <a:buChar char="•"/>
            </a:pPr>
            <a:r>
              <a:rPr lang="en-AU" sz="1800"/>
              <a:t>Cost Elements</a:t>
            </a:r>
          </a:p>
          <a:p>
            <a:pPr lvl="1">
              <a:buFont typeface="Wingdings" pitchFamily="2" charset="2"/>
              <a:buChar char="ü"/>
            </a:pPr>
            <a:r>
              <a:rPr lang="en-AU" sz="1800"/>
              <a:t>Creation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03842" name="Rectangle 2"/>
          <p:cNvSpPr>
            <a:spLocks noGrp="1" noChangeArrowheads="1"/>
          </p:cNvSpPr>
          <p:nvPr>
            <p:ph type="title"/>
          </p:nvPr>
        </p:nvSpPr>
        <p:spPr>
          <a:xfrm>
            <a:off x="0" y="228600"/>
            <a:ext cx="9144000" cy="671513"/>
          </a:xfrm>
        </p:spPr>
        <p:txBody>
          <a:bodyPr/>
          <a:lstStyle/>
          <a:p>
            <a:pPr algn="ctr">
              <a:defRPr/>
            </a:pPr>
            <a:r>
              <a:rPr lang="en-US"/>
              <a:t>GL Account Groups</a:t>
            </a:r>
          </a:p>
        </p:txBody>
      </p:sp>
      <p:graphicFrame>
        <p:nvGraphicFramePr>
          <p:cNvPr id="1026" name="Object 2"/>
          <p:cNvGraphicFramePr>
            <a:graphicFrameLocks noChangeAspect="1"/>
          </p:cNvGraphicFramePr>
          <p:nvPr/>
        </p:nvGraphicFramePr>
        <p:xfrm>
          <a:off x="1295400" y="2438400"/>
          <a:ext cx="6515100" cy="2717800"/>
        </p:xfrm>
        <a:graphic>
          <a:graphicData uri="http://schemas.openxmlformats.org/presentationml/2006/ole">
            <mc:AlternateContent xmlns:mc="http://schemas.openxmlformats.org/markup-compatibility/2006">
              <mc:Choice xmlns:v="urn:schemas-microsoft-com:vml" Requires="v">
                <p:oleObj spid="_x0000_s1064" name="Worksheet" r:id="rId4" imgW="4791185" imgH="2000329" progId="">
                  <p:embed/>
                </p:oleObj>
              </mc:Choice>
              <mc:Fallback>
                <p:oleObj name="Worksheet" r:id="rId4" imgW="4791185" imgH="2000329" progId="">
                  <p:embed/>
                  <p:pic>
                    <p:nvPicPr>
                      <p:cNvPr id="0" name="Picture 3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5400" y="2438400"/>
                        <a:ext cx="6515100" cy="271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8" name="Rectangle 4"/>
          <p:cNvSpPr>
            <a:spLocks noChangeArrowheads="1"/>
          </p:cNvSpPr>
          <p:nvPr/>
        </p:nvSpPr>
        <p:spPr bwMode="auto">
          <a:xfrm>
            <a:off x="1524000" y="1371600"/>
            <a:ext cx="2282825" cy="379413"/>
          </a:xfrm>
          <a:prstGeom prst="rect">
            <a:avLst/>
          </a:prstGeom>
          <a:solidFill>
            <a:srgbClr val="0066CC"/>
          </a:solidFill>
          <a:ln w="12700">
            <a:solidFill>
              <a:srgbClr val="0066CC"/>
            </a:solidFill>
            <a:miter lim="800000"/>
            <a:headEnd/>
            <a:tailEnd/>
          </a:ln>
        </p:spPr>
        <p:txBody>
          <a:bodyPr anchor="ctr">
            <a:spAutoFit/>
          </a:bodyPr>
          <a:lstStyle/>
          <a:p>
            <a:r>
              <a:rPr lang="en-US" sz="1800" b="1">
                <a:solidFill>
                  <a:schemeClr val="bg1"/>
                </a:solidFill>
                <a:cs typeface="Times New Roman (Arabic)" charset="-78"/>
              </a:rPr>
              <a:t>A Grp COA</a:t>
            </a:r>
          </a:p>
        </p:txBody>
      </p:sp>
      <p:sp>
        <p:nvSpPr>
          <p:cNvPr id="1029" name="Rectangle 5"/>
          <p:cNvSpPr>
            <a:spLocks noChangeArrowheads="1"/>
          </p:cNvSpPr>
          <p:nvPr/>
        </p:nvSpPr>
        <p:spPr bwMode="auto">
          <a:xfrm>
            <a:off x="3048000" y="5867400"/>
            <a:ext cx="2282825" cy="404813"/>
          </a:xfrm>
          <a:prstGeom prst="rect">
            <a:avLst/>
          </a:prstGeom>
          <a:solidFill>
            <a:srgbClr val="0066CC"/>
          </a:solidFill>
          <a:ln w="38100">
            <a:solidFill>
              <a:srgbClr val="0000FF"/>
            </a:solidFill>
            <a:miter lim="800000"/>
            <a:headEnd/>
            <a:tailEnd/>
          </a:ln>
        </p:spPr>
        <p:txBody>
          <a:bodyPr anchor="ctr">
            <a:spAutoFit/>
          </a:bodyPr>
          <a:lstStyle/>
          <a:p>
            <a:r>
              <a:rPr lang="en-US" sz="1800" b="1">
                <a:solidFill>
                  <a:schemeClr val="bg1"/>
                </a:solidFill>
                <a:cs typeface="Times New Roman (Arabic)" charset="-78"/>
              </a:rPr>
              <a:t>Account Groups</a:t>
            </a:r>
          </a:p>
        </p:txBody>
      </p:sp>
      <p:sp>
        <p:nvSpPr>
          <p:cNvPr id="1030" name="Rectangle 6"/>
          <p:cNvSpPr>
            <a:spLocks noChangeArrowheads="1"/>
          </p:cNvSpPr>
          <p:nvPr/>
        </p:nvSpPr>
        <p:spPr bwMode="auto">
          <a:xfrm>
            <a:off x="5181600" y="1371600"/>
            <a:ext cx="2282825" cy="379413"/>
          </a:xfrm>
          <a:prstGeom prst="rect">
            <a:avLst/>
          </a:prstGeom>
          <a:solidFill>
            <a:srgbClr val="0066CC"/>
          </a:solidFill>
          <a:ln w="12700">
            <a:solidFill>
              <a:srgbClr val="0066CC"/>
            </a:solidFill>
            <a:miter lim="800000"/>
            <a:headEnd/>
            <a:tailEnd/>
          </a:ln>
        </p:spPr>
        <p:txBody>
          <a:bodyPr anchor="ctr">
            <a:spAutoFit/>
          </a:bodyPr>
          <a:lstStyle/>
          <a:p>
            <a:r>
              <a:rPr lang="en-US" sz="1800" b="1">
                <a:solidFill>
                  <a:schemeClr val="bg1"/>
                </a:solidFill>
                <a:cs typeface="Times New Roman (Arabic)" charset="-78"/>
              </a:rPr>
              <a:t>Number Interval</a:t>
            </a:r>
          </a:p>
        </p:txBody>
      </p:sp>
      <p:cxnSp>
        <p:nvCxnSpPr>
          <p:cNvPr id="1031" name="AutoShape 7"/>
          <p:cNvCxnSpPr>
            <a:cxnSpLocks noChangeShapeType="1"/>
            <a:stCxn id="1028" idx="1"/>
          </p:cNvCxnSpPr>
          <p:nvPr/>
        </p:nvCxnSpPr>
        <p:spPr bwMode="auto">
          <a:xfrm rot="10800000" flipV="1">
            <a:off x="1295400" y="1562100"/>
            <a:ext cx="228600" cy="2235200"/>
          </a:xfrm>
          <a:prstGeom prst="bentConnector3">
            <a:avLst>
              <a:gd name="adj1" fmla="val 200000"/>
            </a:avLst>
          </a:prstGeom>
          <a:noFill/>
          <a:ln w="38100">
            <a:solidFill>
              <a:srgbClr val="0000FF"/>
            </a:solidFill>
            <a:miter lim="800000"/>
            <a:headEnd/>
            <a:tailEnd type="triangle" w="med" len="med"/>
          </a:ln>
        </p:spPr>
      </p:cxnSp>
      <p:cxnSp>
        <p:nvCxnSpPr>
          <p:cNvPr id="1032" name="AutoShape 8"/>
          <p:cNvCxnSpPr>
            <a:cxnSpLocks noChangeShapeType="1"/>
            <a:stCxn id="1030" idx="2"/>
          </p:cNvCxnSpPr>
          <p:nvPr/>
        </p:nvCxnSpPr>
        <p:spPr bwMode="auto">
          <a:xfrm rot="5400000">
            <a:off x="5094288" y="1209675"/>
            <a:ext cx="687387" cy="1770063"/>
          </a:xfrm>
          <a:prstGeom prst="bentConnector3">
            <a:avLst>
              <a:gd name="adj1" fmla="val 49884"/>
            </a:avLst>
          </a:prstGeom>
          <a:noFill/>
          <a:ln w="38100">
            <a:solidFill>
              <a:srgbClr val="0000FF"/>
            </a:solidFill>
            <a:miter lim="800000"/>
            <a:headEnd/>
            <a:tailEnd type="triangle" w="med" len="med"/>
          </a:ln>
        </p:spPr>
      </p:cxnSp>
      <p:cxnSp>
        <p:nvCxnSpPr>
          <p:cNvPr id="1033" name="AutoShape 9"/>
          <p:cNvCxnSpPr>
            <a:cxnSpLocks noChangeShapeType="1"/>
            <a:stCxn id="1029" idx="1"/>
          </p:cNvCxnSpPr>
          <p:nvPr/>
        </p:nvCxnSpPr>
        <p:spPr bwMode="auto">
          <a:xfrm rot="10800000">
            <a:off x="2363788" y="4572000"/>
            <a:ext cx="665162" cy="1498600"/>
          </a:xfrm>
          <a:prstGeom prst="bentConnector2">
            <a:avLst/>
          </a:prstGeom>
          <a:noFill/>
          <a:ln w="38100">
            <a:solidFill>
              <a:srgbClr val="0000FF"/>
            </a:solidFill>
            <a:miter lim="800000"/>
            <a:headEnd/>
            <a:tailEnd type="triangl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5650" name="Rectangle 2"/>
          <p:cNvSpPr>
            <a:spLocks noGrp="1" noChangeArrowheads="1"/>
          </p:cNvSpPr>
          <p:nvPr>
            <p:ph type="title"/>
          </p:nvPr>
        </p:nvSpPr>
        <p:spPr>
          <a:xfrm>
            <a:off x="-228600" y="319088"/>
            <a:ext cx="9144000" cy="671512"/>
          </a:xfrm>
        </p:spPr>
        <p:txBody>
          <a:bodyPr/>
          <a:lstStyle/>
          <a:p>
            <a:pPr algn="ctr">
              <a:defRPr/>
            </a:pPr>
            <a:r>
              <a:rPr lang="en-US" sz="3200" b="0" dirty="0"/>
              <a:t>FI-SL: Assignment of GL accounts </a:t>
            </a:r>
            <a:br>
              <a:rPr lang="en-US" sz="3200" b="0" dirty="0"/>
            </a:br>
            <a:r>
              <a:rPr lang="en-US" sz="3200" b="0" dirty="0"/>
              <a:t>to Group Accounts-Transaction Code FS00</a:t>
            </a:r>
          </a:p>
        </p:txBody>
      </p:sp>
      <p:pic>
        <p:nvPicPr>
          <p:cNvPr id="32771" name="Picture 3"/>
          <p:cNvPicPr>
            <a:picLocks noChangeAspect="1" noChangeArrowheads="1"/>
          </p:cNvPicPr>
          <p:nvPr/>
        </p:nvPicPr>
        <p:blipFill>
          <a:blip r:embed="rId3" cstate="print"/>
          <a:srcRect/>
          <a:stretch>
            <a:fillRect/>
          </a:stretch>
        </p:blipFill>
        <p:spPr bwMode="auto">
          <a:xfrm>
            <a:off x="914400" y="1690688"/>
            <a:ext cx="7848600" cy="4481512"/>
          </a:xfrm>
          <a:prstGeom prst="rect">
            <a:avLst/>
          </a:prstGeom>
          <a:noFill/>
          <a:ln w="12700" algn="ctr">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9746" name="Rectangle 2"/>
          <p:cNvSpPr>
            <a:spLocks noGrp="1" noChangeArrowheads="1"/>
          </p:cNvSpPr>
          <p:nvPr>
            <p:ph type="title"/>
          </p:nvPr>
        </p:nvSpPr>
        <p:spPr>
          <a:xfrm>
            <a:off x="-76200" y="381000"/>
            <a:ext cx="8534400" cy="671513"/>
          </a:xfrm>
        </p:spPr>
        <p:txBody>
          <a:bodyPr/>
          <a:lstStyle/>
          <a:p>
            <a:pPr algn="ctr">
              <a:defRPr/>
            </a:pPr>
            <a:r>
              <a:rPr lang="en-US" sz="4000" dirty="0"/>
              <a:t>GL Account Master Record</a:t>
            </a:r>
          </a:p>
        </p:txBody>
      </p:sp>
      <p:sp>
        <p:nvSpPr>
          <p:cNvPr id="799747" name="AutoShape 3"/>
          <p:cNvSpPr>
            <a:spLocks noChangeArrowheads="1"/>
          </p:cNvSpPr>
          <p:nvPr/>
        </p:nvSpPr>
        <p:spPr bwMode="gray">
          <a:xfrm rot="10782750" flipH="1">
            <a:off x="228600" y="1905000"/>
            <a:ext cx="1660525" cy="1493838"/>
          </a:xfrm>
          <a:prstGeom prst="rightArrow">
            <a:avLst>
              <a:gd name="adj1" fmla="val 75000"/>
              <a:gd name="adj2" fmla="val 41479"/>
            </a:avLst>
          </a:prstGeom>
          <a:solidFill>
            <a:srgbClr val="E7FA86"/>
          </a:solidFill>
          <a:ln w="12700">
            <a:solidFill>
              <a:schemeClr val="tx1"/>
            </a:solidFill>
            <a:miter lim="800000"/>
            <a:headEnd/>
            <a:tailEnd/>
          </a:ln>
          <a:effectLst>
            <a:outerShdw dist="53882" dir="2700000" algn="ctr" rotWithShape="0">
              <a:schemeClr val="bg2"/>
            </a:outerShdw>
          </a:effectLst>
        </p:spPr>
        <p:txBody>
          <a:bodyPr wrap="none" anchor="ctr"/>
          <a:lstStyle/>
          <a:p>
            <a:pPr>
              <a:defRPr/>
            </a:pPr>
            <a:endParaRPr lang="en-US"/>
          </a:p>
        </p:txBody>
      </p:sp>
      <p:sp>
        <p:nvSpPr>
          <p:cNvPr id="799748" name="AutoShape 4"/>
          <p:cNvSpPr>
            <a:spLocks noChangeArrowheads="1"/>
          </p:cNvSpPr>
          <p:nvPr/>
        </p:nvSpPr>
        <p:spPr bwMode="gray">
          <a:xfrm>
            <a:off x="1600200" y="2819400"/>
            <a:ext cx="5257800" cy="2990850"/>
          </a:xfrm>
          <a:prstGeom prst="cube">
            <a:avLst>
              <a:gd name="adj" fmla="val 47671"/>
            </a:avLst>
          </a:prstGeom>
          <a:solidFill>
            <a:srgbClr val="94BCD2"/>
          </a:solidFill>
          <a:ln w="12700">
            <a:solidFill>
              <a:schemeClr val="tx1"/>
            </a:solidFill>
            <a:miter lim="800000"/>
            <a:headEnd/>
            <a:tailEnd/>
          </a:ln>
          <a:effectLst>
            <a:outerShdw dist="53882" dir="2700000" algn="ctr" rotWithShape="0">
              <a:schemeClr val="bg2"/>
            </a:outerShdw>
          </a:effectLst>
        </p:spPr>
        <p:txBody>
          <a:bodyPr wrap="none" anchor="ctr"/>
          <a:lstStyle/>
          <a:p>
            <a:pPr>
              <a:defRPr/>
            </a:pPr>
            <a:endParaRPr lang="en-US"/>
          </a:p>
        </p:txBody>
      </p:sp>
      <p:sp>
        <p:nvSpPr>
          <p:cNvPr id="2054" name="AutoShape 5"/>
          <p:cNvSpPr>
            <a:spLocks noChangeArrowheads="1"/>
          </p:cNvSpPr>
          <p:nvPr/>
        </p:nvSpPr>
        <p:spPr bwMode="gray">
          <a:xfrm>
            <a:off x="1752600" y="2057400"/>
            <a:ext cx="5105400" cy="1676400"/>
          </a:xfrm>
          <a:prstGeom prst="cube">
            <a:avLst>
              <a:gd name="adj" fmla="val 66083"/>
            </a:avLst>
          </a:prstGeom>
          <a:solidFill>
            <a:srgbClr val="618FFD"/>
          </a:solidFill>
          <a:ln w="12700">
            <a:solidFill>
              <a:schemeClr val="bg2"/>
            </a:solidFill>
            <a:miter lim="800000"/>
            <a:headEnd/>
            <a:tailEnd/>
          </a:ln>
        </p:spPr>
        <p:txBody>
          <a:bodyPr wrap="none" anchor="ctr"/>
          <a:lstStyle/>
          <a:p>
            <a:endParaRPr lang="en-US"/>
          </a:p>
        </p:txBody>
      </p:sp>
      <p:sp>
        <p:nvSpPr>
          <p:cNvPr id="2055" name="Line 6"/>
          <p:cNvSpPr>
            <a:spLocks noChangeShapeType="1"/>
          </p:cNvSpPr>
          <p:nvPr/>
        </p:nvSpPr>
        <p:spPr bwMode="gray">
          <a:xfrm>
            <a:off x="2133600" y="4495800"/>
            <a:ext cx="2819400" cy="0"/>
          </a:xfrm>
          <a:prstGeom prst="line">
            <a:avLst/>
          </a:prstGeom>
          <a:noFill/>
          <a:ln w="76200">
            <a:solidFill>
              <a:schemeClr val="tx1"/>
            </a:solidFill>
            <a:round/>
            <a:headEnd/>
            <a:tailEnd/>
          </a:ln>
        </p:spPr>
        <p:txBody>
          <a:bodyPr wrap="none" anchor="ctr"/>
          <a:lstStyle/>
          <a:p>
            <a:endParaRPr lang="en-US"/>
          </a:p>
        </p:txBody>
      </p:sp>
      <p:sp>
        <p:nvSpPr>
          <p:cNvPr id="2056" name="Line 7"/>
          <p:cNvSpPr>
            <a:spLocks noChangeShapeType="1"/>
          </p:cNvSpPr>
          <p:nvPr/>
        </p:nvSpPr>
        <p:spPr bwMode="gray">
          <a:xfrm>
            <a:off x="3276600" y="4495800"/>
            <a:ext cx="0" cy="838200"/>
          </a:xfrm>
          <a:prstGeom prst="line">
            <a:avLst/>
          </a:prstGeom>
          <a:noFill/>
          <a:ln w="76200">
            <a:solidFill>
              <a:schemeClr val="tx1"/>
            </a:solidFill>
            <a:round/>
            <a:headEnd/>
            <a:tailEnd/>
          </a:ln>
        </p:spPr>
        <p:txBody>
          <a:bodyPr wrap="none" anchor="ctr"/>
          <a:lstStyle/>
          <a:p>
            <a:endParaRPr lang="en-US"/>
          </a:p>
        </p:txBody>
      </p:sp>
      <p:sp>
        <p:nvSpPr>
          <p:cNvPr id="799752" name="AutoShape 8"/>
          <p:cNvSpPr>
            <a:spLocks noChangeArrowheads="1"/>
          </p:cNvSpPr>
          <p:nvPr/>
        </p:nvSpPr>
        <p:spPr bwMode="gray">
          <a:xfrm>
            <a:off x="7010400" y="1295400"/>
            <a:ext cx="1905000" cy="1752600"/>
          </a:xfrm>
          <a:prstGeom prst="wedgeRoundRectCallout">
            <a:avLst>
              <a:gd name="adj1" fmla="val -99250"/>
              <a:gd name="adj2" fmla="val 7426"/>
              <a:gd name="adj3" fmla="val 16667"/>
            </a:avLst>
          </a:prstGeom>
          <a:gradFill rotWithShape="0">
            <a:gsLst>
              <a:gs pos="0">
                <a:schemeClr val="accent1"/>
              </a:gs>
              <a:gs pos="50000">
                <a:srgbClr val="3350AD"/>
              </a:gs>
              <a:gs pos="100000">
                <a:schemeClr val="accent1"/>
              </a:gs>
            </a:gsLst>
            <a:lin ang="18900000" scaled="1"/>
          </a:gradFill>
          <a:ln w="12700">
            <a:solidFill>
              <a:schemeClr val="tx1"/>
            </a:solidFill>
            <a:miter lim="800000"/>
            <a:headEnd/>
            <a:tailEnd/>
          </a:ln>
          <a:effectLst/>
        </p:spPr>
        <p:txBody>
          <a:bodyPr wrap="none" anchor="ctr"/>
          <a:lstStyle/>
          <a:p>
            <a:pPr>
              <a:defRPr/>
            </a:pPr>
            <a:endParaRPr lang="en-US" b="1">
              <a:solidFill>
                <a:schemeClr val="bg1"/>
              </a:solidFill>
              <a:cs typeface="Times New Roman (Arabic)" charset="-78"/>
            </a:endParaRPr>
          </a:p>
        </p:txBody>
      </p:sp>
      <p:sp>
        <p:nvSpPr>
          <p:cNvPr id="2058" name="Rectangle 9"/>
          <p:cNvSpPr>
            <a:spLocks noChangeArrowheads="1"/>
          </p:cNvSpPr>
          <p:nvPr/>
        </p:nvSpPr>
        <p:spPr bwMode="gray">
          <a:xfrm>
            <a:off x="3352800" y="4705350"/>
            <a:ext cx="1976438" cy="555625"/>
          </a:xfrm>
          <a:prstGeom prst="rect">
            <a:avLst/>
          </a:prstGeom>
          <a:noFill/>
          <a:ln w="12700">
            <a:noFill/>
            <a:miter lim="800000"/>
            <a:headEnd/>
            <a:tailEnd/>
          </a:ln>
        </p:spPr>
        <p:txBody>
          <a:bodyPr wrap="none" lIns="66675" tIns="33338" rIns="66675" bIns="33338">
            <a:spAutoFit/>
          </a:bodyPr>
          <a:lstStyle/>
          <a:p>
            <a:pPr defTabSz="484188">
              <a:buClr>
                <a:schemeClr val="accent2"/>
              </a:buClr>
              <a:buSzPct val="80000"/>
              <a:buFontTx/>
              <a:buChar char="•"/>
            </a:pPr>
            <a:r>
              <a:rPr lang="en-US" b="1">
                <a:solidFill>
                  <a:schemeClr val="bg1"/>
                </a:solidFill>
                <a:cs typeface="Times New Roman (Arabic)" charset="-78"/>
              </a:rPr>
              <a:t> Item management</a:t>
            </a:r>
          </a:p>
          <a:p>
            <a:pPr defTabSz="484188">
              <a:buClr>
                <a:schemeClr val="accent2"/>
              </a:buClr>
              <a:buSzPct val="80000"/>
              <a:buFontTx/>
              <a:buChar char="•"/>
            </a:pPr>
            <a:r>
              <a:rPr lang="en-US" b="1">
                <a:solidFill>
                  <a:schemeClr val="bg1"/>
                </a:solidFill>
                <a:cs typeface="Times New Roman (Arabic)" charset="-78"/>
              </a:rPr>
              <a:t> Posting control...</a:t>
            </a:r>
          </a:p>
        </p:txBody>
      </p:sp>
      <p:sp>
        <p:nvSpPr>
          <p:cNvPr id="2059" name="Rectangle 10"/>
          <p:cNvSpPr>
            <a:spLocks noChangeArrowheads="1"/>
          </p:cNvSpPr>
          <p:nvPr/>
        </p:nvSpPr>
        <p:spPr bwMode="gray">
          <a:xfrm>
            <a:off x="1849438" y="4697413"/>
            <a:ext cx="1331912" cy="555625"/>
          </a:xfrm>
          <a:prstGeom prst="rect">
            <a:avLst/>
          </a:prstGeom>
          <a:noFill/>
          <a:ln w="12700">
            <a:noFill/>
            <a:miter lim="800000"/>
            <a:headEnd/>
            <a:tailEnd/>
          </a:ln>
        </p:spPr>
        <p:txBody>
          <a:bodyPr wrap="none" lIns="66675" tIns="33338" rIns="66675" bIns="33338">
            <a:spAutoFit/>
          </a:bodyPr>
          <a:lstStyle/>
          <a:p>
            <a:pPr defTabSz="484188">
              <a:buClr>
                <a:schemeClr val="accent2"/>
              </a:buClr>
              <a:buSzPct val="80000"/>
              <a:buFontTx/>
              <a:buChar char="•"/>
            </a:pPr>
            <a:r>
              <a:rPr lang="en-US" b="1">
                <a:solidFill>
                  <a:schemeClr val="bg1"/>
                </a:solidFill>
                <a:cs typeface="Times New Roman (Arabic)" charset="-78"/>
              </a:rPr>
              <a:t> Currency</a:t>
            </a:r>
          </a:p>
          <a:p>
            <a:pPr defTabSz="484188">
              <a:buClr>
                <a:schemeClr val="accent2"/>
              </a:buClr>
              <a:buSzPct val="80000"/>
              <a:buFontTx/>
              <a:buChar char="•"/>
            </a:pPr>
            <a:r>
              <a:rPr lang="en-US" b="1">
                <a:solidFill>
                  <a:schemeClr val="bg1"/>
                </a:solidFill>
                <a:cs typeface="Times New Roman (Arabic)" charset="-78"/>
              </a:rPr>
              <a:t> Tax-related</a:t>
            </a:r>
            <a:endParaRPr lang="en-US" sz="1100" b="1">
              <a:solidFill>
                <a:schemeClr val="bg1"/>
              </a:solidFill>
              <a:cs typeface="Times New Roman (Arabic)" charset="-78"/>
            </a:endParaRPr>
          </a:p>
        </p:txBody>
      </p:sp>
      <p:sp>
        <p:nvSpPr>
          <p:cNvPr id="799755" name="Rectangle 11"/>
          <p:cNvSpPr>
            <a:spLocks noChangeArrowheads="1"/>
          </p:cNvSpPr>
          <p:nvPr/>
        </p:nvSpPr>
        <p:spPr bwMode="gray">
          <a:xfrm>
            <a:off x="3057525" y="2209800"/>
            <a:ext cx="2886075" cy="387350"/>
          </a:xfrm>
          <a:prstGeom prst="rect">
            <a:avLst/>
          </a:prstGeom>
          <a:noFill/>
          <a:ln w="12700">
            <a:noFill/>
            <a:miter lim="800000"/>
            <a:headEnd/>
            <a:tailEnd/>
          </a:ln>
          <a:effectLst/>
        </p:spPr>
        <p:txBody>
          <a:bodyPr wrap="none" lIns="66675" tIns="33338" rIns="66675" bIns="33338">
            <a:spAutoFit/>
          </a:bodyPr>
          <a:lstStyle/>
          <a:p>
            <a:pPr defTabSz="484188">
              <a:defRPr/>
            </a:pPr>
            <a:r>
              <a:rPr lang="en-US" sz="2100" b="1">
                <a:solidFill>
                  <a:schemeClr val="bg1"/>
                </a:solidFill>
                <a:effectLst>
                  <a:outerShdw blurRad="38100" dist="38100" dir="2700000" algn="tl">
                    <a:srgbClr val="C0C0C0"/>
                  </a:outerShdw>
                </a:effectLst>
                <a:cs typeface="Times New Roman (Arabic)" charset="-78"/>
              </a:rPr>
              <a:t>Acct number: 119430 </a:t>
            </a:r>
          </a:p>
        </p:txBody>
      </p:sp>
      <p:sp>
        <p:nvSpPr>
          <p:cNvPr id="799756" name="Rectangle 12"/>
          <p:cNvSpPr>
            <a:spLocks noChangeArrowheads="1"/>
          </p:cNvSpPr>
          <p:nvPr/>
        </p:nvSpPr>
        <p:spPr bwMode="gray">
          <a:xfrm>
            <a:off x="2573338" y="2667000"/>
            <a:ext cx="3435350" cy="371475"/>
          </a:xfrm>
          <a:prstGeom prst="rect">
            <a:avLst/>
          </a:prstGeom>
          <a:noFill/>
          <a:ln w="12700">
            <a:noFill/>
            <a:miter lim="800000"/>
            <a:headEnd/>
            <a:tailEnd/>
          </a:ln>
          <a:effectLst/>
        </p:spPr>
        <p:txBody>
          <a:bodyPr wrap="none" lIns="66675" tIns="33338" rIns="66675" bIns="33338">
            <a:spAutoFit/>
          </a:bodyPr>
          <a:lstStyle/>
          <a:p>
            <a:pPr defTabSz="484188">
              <a:defRPr/>
            </a:pPr>
            <a:r>
              <a:rPr lang="en-US" sz="2000" b="1" i="1">
                <a:solidFill>
                  <a:schemeClr val="bg1"/>
                </a:solidFill>
                <a:effectLst>
                  <a:outerShdw blurRad="38100" dist="38100" dir="2700000" algn="tl">
                    <a:srgbClr val="C0C0C0"/>
                  </a:outerShdw>
                </a:effectLst>
                <a:cs typeface="Times New Roman (Arabic)" charset="-78"/>
              </a:rPr>
              <a:t>Inventory – Finished goods</a:t>
            </a:r>
          </a:p>
        </p:txBody>
      </p:sp>
      <p:sp>
        <p:nvSpPr>
          <p:cNvPr id="799757" name="Rectangle 13"/>
          <p:cNvSpPr>
            <a:spLocks noChangeArrowheads="1"/>
          </p:cNvSpPr>
          <p:nvPr/>
        </p:nvSpPr>
        <p:spPr bwMode="gray">
          <a:xfrm>
            <a:off x="2014538" y="3200400"/>
            <a:ext cx="1625600" cy="311150"/>
          </a:xfrm>
          <a:prstGeom prst="rect">
            <a:avLst/>
          </a:prstGeom>
          <a:noFill/>
          <a:ln w="12700">
            <a:noFill/>
            <a:miter lim="800000"/>
            <a:headEnd/>
            <a:tailEnd/>
          </a:ln>
          <a:effectLst/>
        </p:spPr>
        <p:txBody>
          <a:bodyPr wrap="none" lIns="66675" tIns="33338" rIns="66675" bIns="33338">
            <a:spAutoFit/>
          </a:bodyPr>
          <a:lstStyle/>
          <a:p>
            <a:pPr defTabSz="484188">
              <a:defRPr/>
            </a:pPr>
            <a:r>
              <a:rPr lang="en-US" b="1">
                <a:solidFill>
                  <a:schemeClr val="bg1"/>
                </a:solidFill>
                <a:effectLst>
                  <a:outerShdw blurRad="38100" dist="38100" dir="2700000" algn="tl">
                    <a:srgbClr val="C0C0C0"/>
                  </a:outerShdw>
                </a:effectLst>
                <a:cs typeface="Times New Roman (Arabic)" charset="-78"/>
              </a:rPr>
              <a:t>Bal. sheet acct:</a:t>
            </a:r>
            <a:endParaRPr lang="en-US" sz="1100" b="1">
              <a:solidFill>
                <a:schemeClr val="bg1"/>
              </a:solidFill>
              <a:effectLst>
                <a:outerShdw blurRad="38100" dist="38100" dir="2700000" algn="tl">
                  <a:srgbClr val="C0C0C0"/>
                </a:outerShdw>
              </a:effectLst>
              <a:cs typeface="Times New Roman (Arabic)" charset="-78"/>
            </a:endParaRPr>
          </a:p>
        </p:txBody>
      </p:sp>
      <p:sp>
        <p:nvSpPr>
          <p:cNvPr id="799758" name="Rectangle 14"/>
          <p:cNvSpPr>
            <a:spLocks noChangeArrowheads="1"/>
          </p:cNvSpPr>
          <p:nvPr/>
        </p:nvSpPr>
        <p:spPr bwMode="gray">
          <a:xfrm>
            <a:off x="1981200" y="3429000"/>
            <a:ext cx="1785938" cy="311150"/>
          </a:xfrm>
          <a:prstGeom prst="rect">
            <a:avLst/>
          </a:prstGeom>
          <a:noFill/>
          <a:ln w="12700">
            <a:noFill/>
            <a:miter lim="800000"/>
            <a:headEnd/>
            <a:tailEnd/>
          </a:ln>
          <a:effectLst/>
        </p:spPr>
        <p:txBody>
          <a:bodyPr wrap="none" lIns="66675" tIns="33338" rIns="66675" bIns="33338">
            <a:spAutoFit/>
          </a:bodyPr>
          <a:lstStyle/>
          <a:p>
            <a:pPr defTabSz="484188">
              <a:defRPr/>
            </a:pPr>
            <a:r>
              <a:rPr lang="en-US" b="1">
                <a:solidFill>
                  <a:schemeClr val="bg1"/>
                </a:solidFill>
                <a:effectLst>
                  <a:outerShdw blurRad="38100" dist="38100" dir="2700000" algn="tl">
                    <a:srgbClr val="C0C0C0"/>
                  </a:outerShdw>
                </a:effectLst>
                <a:cs typeface="Times New Roman (Arabic)" charset="-78"/>
              </a:rPr>
              <a:t>Inc. statem. acct:</a:t>
            </a:r>
          </a:p>
        </p:txBody>
      </p:sp>
      <p:graphicFrame>
        <p:nvGraphicFramePr>
          <p:cNvPr id="2050" name="Object 2">
            <a:hlinkClick r:id="" action="ppaction://ole?verb=0"/>
          </p:cNvPr>
          <p:cNvGraphicFramePr>
            <a:graphicFrameLocks/>
          </p:cNvGraphicFramePr>
          <p:nvPr/>
        </p:nvGraphicFramePr>
        <p:xfrm>
          <a:off x="3810000" y="3282950"/>
          <a:ext cx="228600" cy="198438"/>
        </p:xfrm>
        <a:graphic>
          <a:graphicData uri="http://schemas.openxmlformats.org/presentationml/2006/ole">
            <mc:AlternateContent xmlns:mc="http://schemas.openxmlformats.org/markup-compatibility/2006">
              <mc:Choice xmlns:v="urn:schemas-microsoft-com:vml" Requires="v">
                <p:oleObj spid="_x0000_s2088" name="Microsoft ClipArt Gallery" r:id="rId4" imgW="10334625" imgH="8791575" progId="">
                  <p:embed/>
                </p:oleObj>
              </mc:Choice>
              <mc:Fallback>
                <p:oleObj name="Microsoft ClipArt Gallery" r:id="rId4" imgW="10334625" imgH="8791575" progId="">
                  <p:embed/>
                  <p:pic>
                    <p:nvPicPr>
                      <p:cNvPr id="0" name="Picture 3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0" y="3282950"/>
                        <a:ext cx="228600" cy="19843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64" name="Freeform 16"/>
          <p:cNvSpPr>
            <a:spLocks/>
          </p:cNvSpPr>
          <p:nvPr/>
        </p:nvSpPr>
        <p:spPr bwMode="gray">
          <a:xfrm>
            <a:off x="3852863" y="3505200"/>
            <a:ext cx="185737" cy="188913"/>
          </a:xfrm>
          <a:custGeom>
            <a:avLst/>
            <a:gdLst>
              <a:gd name="T0" fmla="*/ 184150 w 117"/>
              <a:gd name="T1" fmla="*/ 187325 h 119"/>
              <a:gd name="T2" fmla="*/ 184150 w 117"/>
              <a:gd name="T3" fmla="*/ 0 h 119"/>
              <a:gd name="T4" fmla="*/ 0 w 117"/>
              <a:gd name="T5" fmla="*/ 0 h 119"/>
              <a:gd name="T6" fmla="*/ 0 w 117"/>
              <a:gd name="T7" fmla="*/ 187325 h 119"/>
              <a:gd name="T8" fmla="*/ 184150 w 117"/>
              <a:gd name="T9" fmla="*/ 187325 h 119"/>
              <a:gd name="T10" fmla="*/ 0 60000 65536"/>
              <a:gd name="T11" fmla="*/ 0 60000 65536"/>
              <a:gd name="T12" fmla="*/ 0 60000 65536"/>
              <a:gd name="T13" fmla="*/ 0 60000 65536"/>
              <a:gd name="T14" fmla="*/ 0 60000 65536"/>
              <a:gd name="T15" fmla="*/ 0 w 117"/>
              <a:gd name="T16" fmla="*/ 0 h 119"/>
              <a:gd name="T17" fmla="*/ 117 w 117"/>
              <a:gd name="T18" fmla="*/ 119 h 119"/>
            </a:gdLst>
            <a:ahLst/>
            <a:cxnLst>
              <a:cxn ang="T10">
                <a:pos x="T0" y="T1"/>
              </a:cxn>
              <a:cxn ang="T11">
                <a:pos x="T2" y="T3"/>
              </a:cxn>
              <a:cxn ang="T12">
                <a:pos x="T4" y="T5"/>
              </a:cxn>
              <a:cxn ang="T13">
                <a:pos x="T6" y="T7"/>
              </a:cxn>
              <a:cxn ang="T14">
                <a:pos x="T8" y="T9"/>
              </a:cxn>
            </a:cxnLst>
            <a:rect l="T15" t="T16" r="T17" b="T18"/>
            <a:pathLst>
              <a:path w="117" h="119">
                <a:moveTo>
                  <a:pt x="116" y="118"/>
                </a:moveTo>
                <a:lnTo>
                  <a:pt x="116" y="0"/>
                </a:lnTo>
                <a:lnTo>
                  <a:pt x="0" y="0"/>
                </a:lnTo>
                <a:lnTo>
                  <a:pt x="0" y="118"/>
                </a:lnTo>
                <a:lnTo>
                  <a:pt x="116" y="118"/>
                </a:lnTo>
              </a:path>
            </a:pathLst>
          </a:custGeom>
          <a:solidFill>
            <a:srgbClr val="000000"/>
          </a:solidFill>
          <a:ln w="12700" cap="rnd" cmpd="sng">
            <a:solidFill>
              <a:schemeClr val="tx1"/>
            </a:solidFill>
            <a:prstDash val="solid"/>
            <a:round/>
            <a:headEnd type="none" w="med" len="med"/>
            <a:tailEnd type="none" w="med" len="med"/>
          </a:ln>
        </p:spPr>
        <p:txBody>
          <a:bodyPr/>
          <a:lstStyle/>
          <a:p>
            <a:endParaRPr lang="en-US"/>
          </a:p>
        </p:txBody>
      </p:sp>
      <p:sp>
        <p:nvSpPr>
          <p:cNvPr id="799761" name="Rectangle 17"/>
          <p:cNvSpPr>
            <a:spLocks noChangeArrowheads="1"/>
          </p:cNvSpPr>
          <p:nvPr/>
        </p:nvSpPr>
        <p:spPr bwMode="gray">
          <a:xfrm>
            <a:off x="250825" y="2117725"/>
            <a:ext cx="1425575" cy="981075"/>
          </a:xfrm>
          <a:prstGeom prst="rect">
            <a:avLst/>
          </a:prstGeom>
          <a:noFill/>
          <a:ln w="12700">
            <a:noFill/>
            <a:miter lim="800000"/>
            <a:headEnd/>
            <a:tailEnd/>
          </a:ln>
          <a:effectLst/>
        </p:spPr>
        <p:txBody>
          <a:bodyPr lIns="66675" tIns="33338" rIns="66675" bIns="33338">
            <a:spAutoFit/>
          </a:bodyPr>
          <a:lstStyle/>
          <a:p>
            <a:pPr defTabSz="484188">
              <a:defRPr/>
            </a:pPr>
            <a:r>
              <a:rPr lang="en-US" sz="2000" b="1">
                <a:effectLst>
                  <a:outerShdw blurRad="38100" dist="38100" dir="2700000" algn="tl">
                    <a:srgbClr val="C0C0C0"/>
                  </a:outerShdw>
                </a:effectLst>
                <a:cs typeface="Times New Roman (Arabic)" charset="-78"/>
              </a:rPr>
              <a:t>Chart of accounts segment</a:t>
            </a:r>
            <a:endParaRPr lang="en-US" sz="1300" b="1">
              <a:effectLst>
                <a:outerShdw blurRad="38100" dist="38100" dir="2700000" algn="tl">
                  <a:srgbClr val="C0C0C0"/>
                </a:outerShdw>
              </a:effectLst>
              <a:cs typeface="Times New Roman (Arabic)" charset="-78"/>
            </a:endParaRPr>
          </a:p>
        </p:txBody>
      </p:sp>
      <p:sp>
        <p:nvSpPr>
          <p:cNvPr id="799762" name="AutoShape 18"/>
          <p:cNvSpPr>
            <a:spLocks noChangeArrowheads="1"/>
          </p:cNvSpPr>
          <p:nvPr/>
        </p:nvSpPr>
        <p:spPr bwMode="gray">
          <a:xfrm flipH="1">
            <a:off x="6934200" y="3962400"/>
            <a:ext cx="1660525" cy="1493838"/>
          </a:xfrm>
          <a:prstGeom prst="rightArrow">
            <a:avLst>
              <a:gd name="adj1" fmla="val 75000"/>
              <a:gd name="adj2" fmla="val 41479"/>
            </a:avLst>
          </a:prstGeom>
          <a:solidFill>
            <a:srgbClr val="FF9999"/>
          </a:solidFill>
          <a:ln w="12700">
            <a:solidFill>
              <a:schemeClr val="tx1"/>
            </a:solidFill>
            <a:miter lim="800000"/>
            <a:headEnd/>
            <a:tailEnd/>
          </a:ln>
          <a:effectLst>
            <a:outerShdw dist="53882" dir="2700000" algn="ctr" rotWithShape="0">
              <a:schemeClr val="bg2"/>
            </a:outerShdw>
          </a:effectLst>
        </p:spPr>
        <p:txBody>
          <a:bodyPr wrap="none" anchor="ctr"/>
          <a:lstStyle/>
          <a:p>
            <a:pPr>
              <a:defRPr/>
            </a:pPr>
            <a:endParaRPr lang="en-US"/>
          </a:p>
        </p:txBody>
      </p:sp>
      <p:sp>
        <p:nvSpPr>
          <p:cNvPr id="2067" name="Rectangle 19"/>
          <p:cNvSpPr>
            <a:spLocks noChangeArrowheads="1"/>
          </p:cNvSpPr>
          <p:nvPr/>
        </p:nvSpPr>
        <p:spPr bwMode="gray">
          <a:xfrm>
            <a:off x="7224713" y="4197350"/>
            <a:ext cx="1350962" cy="981075"/>
          </a:xfrm>
          <a:prstGeom prst="rect">
            <a:avLst/>
          </a:prstGeom>
          <a:noFill/>
          <a:ln w="12700">
            <a:noFill/>
            <a:miter lim="800000"/>
            <a:headEnd/>
            <a:tailEnd/>
          </a:ln>
        </p:spPr>
        <p:txBody>
          <a:bodyPr lIns="66675" tIns="33338" rIns="66675" bIns="33338">
            <a:spAutoFit/>
          </a:bodyPr>
          <a:lstStyle/>
          <a:p>
            <a:pPr algn="r" defTabSz="484188"/>
            <a:r>
              <a:rPr lang="en-US" sz="2000" b="1">
                <a:solidFill>
                  <a:schemeClr val="bg1"/>
                </a:solidFill>
                <a:cs typeface="Times New Roman (Arabic)" charset="-78"/>
              </a:rPr>
              <a:t>Company code segment</a:t>
            </a:r>
            <a:endParaRPr lang="en-US" sz="1300" b="1">
              <a:solidFill>
                <a:schemeClr val="bg1"/>
              </a:solidFill>
              <a:cs typeface="Times New Roman (Arabic)" charset="-78"/>
            </a:endParaRPr>
          </a:p>
        </p:txBody>
      </p:sp>
      <p:sp>
        <p:nvSpPr>
          <p:cNvPr id="799764" name="Rectangle 20"/>
          <p:cNvSpPr>
            <a:spLocks noChangeArrowheads="1"/>
          </p:cNvSpPr>
          <p:nvPr/>
        </p:nvSpPr>
        <p:spPr bwMode="gray">
          <a:xfrm>
            <a:off x="3586163" y="2462213"/>
            <a:ext cx="1466850" cy="341312"/>
          </a:xfrm>
          <a:prstGeom prst="rect">
            <a:avLst/>
          </a:prstGeom>
          <a:noFill/>
          <a:ln w="12700">
            <a:noFill/>
            <a:miter lim="800000"/>
            <a:headEnd/>
            <a:tailEnd/>
          </a:ln>
          <a:effectLst/>
        </p:spPr>
        <p:txBody>
          <a:bodyPr wrap="none" lIns="66675" tIns="33338" rIns="66675" bIns="33338">
            <a:spAutoFit/>
          </a:bodyPr>
          <a:lstStyle/>
          <a:p>
            <a:pPr defTabSz="484188">
              <a:defRPr/>
            </a:pPr>
            <a:r>
              <a:rPr lang="en-US" sz="1800" b="1">
                <a:solidFill>
                  <a:schemeClr val="bg1"/>
                </a:solidFill>
                <a:effectLst>
                  <a:outerShdw blurRad="38100" dist="38100" dir="2700000" algn="tl">
                    <a:srgbClr val="C0C0C0"/>
                  </a:outerShdw>
                </a:effectLst>
                <a:cs typeface="Times New Roman (Arabic)" charset="-78"/>
              </a:rPr>
              <a:t>Description:</a:t>
            </a:r>
          </a:p>
        </p:txBody>
      </p:sp>
      <p:sp>
        <p:nvSpPr>
          <p:cNvPr id="799765" name="Rectangle 21"/>
          <p:cNvSpPr>
            <a:spLocks noChangeArrowheads="1"/>
          </p:cNvSpPr>
          <p:nvPr/>
        </p:nvSpPr>
        <p:spPr bwMode="gray">
          <a:xfrm>
            <a:off x="4283075" y="3276600"/>
            <a:ext cx="1431925" cy="279400"/>
          </a:xfrm>
          <a:prstGeom prst="rect">
            <a:avLst/>
          </a:prstGeom>
          <a:noFill/>
          <a:ln w="12700">
            <a:noFill/>
            <a:miter lim="800000"/>
            <a:headEnd/>
            <a:tailEnd/>
          </a:ln>
          <a:effectLst/>
        </p:spPr>
        <p:txBody>
          <a:bodyPr wrap="none" lIns="66675" tIns="33338" rIns="66675" bIns="33338">
            <a:spAutoFit/>
          </a:bodyPr>
          <a:lstStyle/>
          <a:p>
            <a:pPr defTabSz="484188">
              <a:defRPr/>
            </a:pPr>
            <a:r>
              <a:rPr lang="en-US" b="1">
                <a:solidFill>
                  <a:schemeClr val="bg1"/>
                </a:solidFill>
                <a:effectLst>
                  <a:outerShdw blurRad="38100" dist="38100" dir="2700000" algn="tl">
                    <a:srgbClr val="C0C0C0"/>
                  </a:outerShdw>
                </a:effectLst>
                <a:cs typeface="Times New Roman (Arabic)" charset="-78"/>
              </a:rPr>
              <a:t>(Balance c/fwd)</a:t>
            </a:r>
          </a:p>
        </p:txBody>
      </p:sp>
      <p:sp>
        <p:nvSpPr>
          <p:cNvPr id="2070" name="Rectangle 22"/>
          <p:cNvSpPr>
            <a:spLocks noChangeArrowheads="1"/>
          </p:cNvSpPr>
          <p:nvPr/>
        </p:nvSpPr>
        <p:spPr bwMode="gray">
          <a:xfrm>
            <a:off x="7105650" y="1371600"/>
            <a:ext cx="1671638" cy="1311275"/>
          </a:xfrm>
          <a:prstGeom prst="rect">
            <a:avLst/>
          </a:prstGeom>
          <a:noFill/>
          <a:ln w="12700">
            <a:noFill/>
            <a:miter lim="800000"/>
            <a:headEnd/>
            <a:tailEnd/>
          </a:ln>
        </p:spPr>
        <p:txBody>
          <a:bodyPr wrap="none" lIns="90488" tIns="44450" rIns="90488" bIns="44450">
            <a:spAutoFit/>
          </a:bodyPr>
          <a:lstStyle/>
          <a:p>
            <a:r>
              <a:rPr lang="en-US" b="1">
                <a:solidFill>
                  <a:schemeClr val="bg1"/>
                </a:solidFill>
                <a:cs typeface="Times New Roman (Arabic)" charset="-78"/>
              </a:rPr>
              <a:t>General Ledger</a:t>
            </a:r>
            <a:endParaRPr lang="en-US" sz="800" b="1">
              <a:solidFill>
                <a:schemeClr val="bg1"/>
              </a:solidFill>
              <a:cs typeface="Times New Roman (Arabic)" charset="-78"/>
            </a:endParaRPr>
          </a:p>
          <a:p>
            <a:r>
              <a:rPr lang="en-US" b="1">
                <a:solidFill>
                  <a:schemeClr val="bg1"/>
                </a:solidFill>
                <a:cs typeface="Times New Roman (Arabic)" charset="-78"/>
              </a:rPr>
              <a:t>Balance   P&amp;L</a:t>
            </a:r>
          </a:p>
          <a:p>
            <a:r>
              <a:rPr lang="en-US" b="1">
                <a:solidFill>
                  <a:schemeClr val="bg1"/>
                </a:solidFill>
                <a:cs typeface="Times New Roman (Arabic)" charset="-78"/>
              </a:rPr>
              <a:t>T  T  T	T  T</a:t>
            </a:r>
          </a:p>
          <a:p>
            <a:r>
              <a:rPr lang="en-US" b="1">
                <a:solidFill>
                  <a:schemeClr val="bg1"/>
                </a:solidFill>
                <a:cs typeface="Times New Roman (Arabic)" charset="-78"/>
              </a:rPr>
              <a:t>T  T  T	T  T</a:t>
            </a:r>
          </a:p>
          <a:p>
            <a:r>
              <a:rPr lang="en-US" b="1">
                <a:solidFill>
                  <a:schemeClr val="bg1"/>
                </a:solidFill>
                <a:cs typeface="Times New Roman (Arabic)" charset="-78"/>
              </a:rPr>
              <a:t>T  T  T	T  T</a:t>
            </a:r>
          </a:p>
        </p:txBody>
      </p:sp>
      <p:sp>
        <p:nvSpPr>
          <p:cNvPr id="2071" name="Line 23"/>
          <p:cNvSpPr>
            <a:spLocks noChangeShapeType="1"/>
          </p:cNvSpPr>
          <p:nvPr/>
        </p:nvSpPr>
        <p:spPr bwMode="gray">
          <a:xfrm>
            <a:off x="8075613" y="1670050"/>
            <a:ext cx="1587" cy="1149350"/>
          </a:xfrm>
          <a:prstGeom prst="line">
            <a:avLst/>
          </a:prstGeom>
          <a:noFill/>
          <a:ln w="12700">
            <a:solidFill>
              <a:schemeClr val="tx1"/>
            </a:solidFill>
            <a:round/>
            <a:headEnd/>
            <a:tailEnd/>
          </a:ln>
        </p:spPr>
        <p:txBody>
          <a:bodyPr wrap="none" anchor="ctr"/>
          <a:lstStyle/>
          <a:p>
            <a:endParaRPr lang="en-US"/>
          </a:p>
        </p:txBody>
      </p:sp>
      <p:sp>
        <p:nvSpPr>
          <p:cNvPr id="799768" name="Rectangle 24"/>
          <p:cNvSpPr>
            <a:spLocks noChangeArrowheads="1"/>
          </p:cNvSpPr>
          <p:nvPr/>
        </p:nvSpPr>
        <p:spPr bwMode="gray">
          <a:xfrm>
            <a:off x="7086600" y="1670050"/>
            <a:ext cx="1658938" cy="1158875"/>
          </a:xfrm>
          <a:prstGeom prst="rect">
            <a:avLst/>
          </a:prstGeom>
          <a:solidFill>
            <a:srgbClr val="D0E7FF"/>
          </a:solidFill>
          <a:ln w="12700">
            <a:solidFill>
              <a:schemeClr val="tx1"/>
            </a:solidFill>
            <a:miter lim="800000"/>
            <a:headEnd/>
            <a:tailEnd/>
          </a:ln>
          <a:effectLst>
            <a:outerShdw dist="71842" dir="2700000" algn="ctr" rotWithShape="0">
              <a:schemeClr val="bg2"/>
            </a:outerShdw>
          </a:effectLst>
        </p:spPr>
        <p:txBody>
          <a:bodyPr wrap="none" anchor="ctr"/>
          <a:lstStyle/>
          <a:p>
            <a:pPr>
              <a:defRPr/>
            </a:pPr>
            <a:endParaRPr lang="en-US"/>
          </a:p>
        </p:txBody>
      </p:sp>
      <p:sp>
        <p:nvSpPr>
          <p:cNvPr id="799769" name="Rectangle 25"/>
          <p:cNvSpPr>
            <a:spLocks noChangeArrowheads="1"/>
          </p:cNvSpPr>
          <p:nvPr/>
        </p:nvSpPr>
        <p:spPr bwMode="gray">
          <a:xfrm>
            <a:off x="7145338" y="1444625"/>
            <a:ext cx="1535112" cy="1311275"/>
          </a:xfrm>
          <a:prstGeom prst="rect">
            <a:avLst/>
          </a:prstGeom>
          <a:noFill/>
          <a:ln w="12700">
            <a:noFill/>
            <a:miter lim="800000"/>
            <a:headEnd/>
            <a:tailEnd/>
          </a:ln>
          <a:effectLst/>
        </p:spPr>
        <p:txBody>
          <a:bodyPr wrap="none" lIns="90488" tIns="44450" rIns="90488" bIns="44450">
            <a:spAutoFit/>
          </a:bodyPr>
          <a:lstStyle/>
          <a:p>
            <a:pPr>
              <a:defRPr/>
            </a:pPr>
            <a:endParaRPr lang="en-US" sz="800" b="1">
              <a:solidFill>
                <a:schemeClr val="bg1"/>
              </a:solidFill>
              <a:cs typeface="Times New Roman (Arabic)" charset="-78"/>
            </a:endParaRPr>
          </a:p>
          <a:p>
            <a:pPr>
              <a:defRPr/>
            </a:pPr>
            <a:endParaRPr lang="en-US" sz="800" b="1">
              <a:solidFill>
                <a:schemeClr val="bg1"/>
              </a:solidFill>
              <a:cs typeface="Times New Roman (Arabic)" charset="-78"/>
            </a:endParaRPr>
          </a:p>
          <a:p>
            <a:pPr>
              <a:defRPr/>
            </a:pPr>
            <a:r>
              <a:rPr lang="en-US" b="1">
                <a:effectLst>
                  <a:outerShdw blurRad="38100" dist="38100" dir="2700000" algn="tl">
                    <a:srgbClr val="C0C0C0"/>
                  </a:outerShdw>
                </a:effectLst>
                <a:cs typeface="Times New Roman (Arabic)" charset="-78"/>
              </a:rPr>
              <a:t>Balance   P&amp;L</a:t>
            </a:r>
          </a:p>
          <a:p>
            <a:pPr>
              <a:defRPr/>
            </a:pPr>
            <a:r>
              <a:rPr lang="en-US" b="1">
                <a:effectLst>
                  <a:outerShdw blurRad="38100" dist="38100" dir="2700000" algn="tl">
                    <a:srgbClr val="C0C0C0"/>
                  </a:outerShdw>
                </a:effectLst>
                <a:cs typeface="Times New Roman (Arabic)" charset="-78"/>
              </a:rPr>
              <a:t>T  T  T	T  T</a:t>
            </a:r>
          </a:p>
          <a:p>
            <a:pPr>
              <a:defRPr/>
            </a:pPr>
            <a:r>
              <a:rPr lang="en-US" b="1">
                <a:effectLst>
                  <a:outerShdw blurRad="38100" dist="38100" dir="2700000" algn="tl">
                    <a:srgbClr val="C0C0C0"/>
                  </a:outerShdw>
                </a:effectLst>
                <a:cs typeface="Times New Roman (Arabic)" charset="-78"/>
              </a:rPr>
              <a:t>T  T  T	T  T</a:t>
            </a:r>
          </a:p>
          <a:p>
            <a:pPr>
              <a:defRPr/>
            </a:pPr>
            <a:r>
              <a:rPr lang="en-US" b="1">
                <a:effectLst>
                  <a:outerShdw blurRad="38100" dist="38100" dir="2700000" algn="tl">
                    <a:srgbClr val="C0C0C0"/>
                  </a:outerShdw>
                </a:effectLst>
                <a:cs typeface="Times New Roman (Arabic)" charset="-78"/>
              </a:rPr>
              <a:t>T  T  T	T  T</a:t>
            </a:r>
          </a:p>
        </p:txBody>
      </p:sp>
      <p:sp>
        <p:nvSpPr>
          <p:cNvPr id="2074" name="Line 26"/>
          <p:cNvSpPr>
            <a:spLocks noChangeShapeType="1"/>
          </p:cNvSpPr>
          <p:nvPr/>
        </p:nvSpPr>
        <p:spPr bwMode="gray">
          <a:xfrm>
            <a:off x="8066088" y="1670050"/>
            <a:ext cx="1587" cy="1149350"/>
          </a:xfrm>
          <a:prstGeom prst="line">
            <a:avLst/>
          </a:prstGeom>
          <a:noFill/>
          <a:ln w="12700">
            <a:solidFill>
              <a:schemeClr val="tx1"/>
            </a:solidFill>
            <a:round/>
            <a:headEnd/>
            <a:tailEnd/>
          </a:ln>
        </p:spPr>
        <p:txBody>
          <a:bodyPr wrap="none" anchor="ctr"/>
          <a:lstStyle/>
          <a:p>
            <a:endParaRPr lang="en-US"/>
          </a:p>
        </p:txBody>
      </p:sp>
      <p:sp>
        <p:nvSpPr>
          <p:cNvPr id="2075" name="Text Box 27"/>
          <p:cNvSpPr txBox="1">
            <a:spLocks noChangeArrowheads="1"/>
          </p:cNvSpPr>
          <p:nvPr/>
        </p:nvSpPr>
        <p:spPr bwMode="gray">
          <a:xfrm rot="-2702097">
            <a:off x="5603875" y="2624138"/>
            <a:ext cx="1501775" cy="517525"/>
          </a:xfrm>
          <a:prstGeom prst="rect">
            <a:avLst/>
          </a:prstGeom>
          <a:noFill/>
          <a:ln w="12700">
            <a:noFill/>
            <a:miter lim="800000"/>
            <a:headEnd/>
            <a:tailEnd/>
          </a:ln>
        </p:spPr>
        <p:txBody>
          <a:bodyPr wrap="none">
            <a:spAutoFit/>
          </a:bodyPr>
          <a:lstStyle/>
          <a:p>
            <a:r>
              <a:rPr lang="en-US" b="1">
                <a:solidFill>
                  <a:schemeClr val="bg1"/>
                </a:solidFill>
                <a:cs typeface="Times New Roman (Arabic)" charset="-78"/>
              </a:rPr>
              <a:t>Account group:</a:t>
            </a:r>
          </a:p>
          <a:p>
            <a:r>
              <a:rPr lang="en-US" b="1">
                <a:solidFill>
                  <a:schemeClr val="bg1"/>
                </a:solidFill>
                <a:cs typeface="Times New Roman (Arabic)" charset="-78"/>
              </a:rPr>
              <a:t>Material Mgmt</a:t>
            </a:r>
          </a:p>
        </p:txBody>
      </p:sp>
      <p:sp>
        <p:nvSpPr>
          <p:cNvPr id="2076" name="Text Box 28"/>
          <p:cNvSpPr txBox="1">
            <a:spLocks noChangeArrowheads="1"/>
          </p:cNvSpPr>
          <p:nvPr/>
        </p:nvSpPr>
        <p:spPr bwMode="gray">
          <a:xfrm rot="-2747542">
            <a:off x="5133975" y="3857625"/>
            <a:ext cx="2044700" cy="730250"/>
          </a:xfrm>
          <a:prstGeom prst="rect">
            <a:avLst/>
          </a:prstGeom>
          <a:noFill/>
          <a:ln w="12700">
            <a:noFill/>
            <a:miter lim="800000"/>
            <a:headEnd/>
            <a:tailEnd/>
          </a:ln>
        </p:spPr>
        <p:txBody>
          <a:bodyPr wrap="none">
            <a:spAutoFit/>
          </a:bodyPr>
          <a:lstStyle/>
          <a:p>
            <a:r>
              <a:rPr lang="en-US" b="1">
                <a:solidFill>
                  <a:schemeClr val="bg1"/>
                </a:solidFill>
                <a:cs typeface="Times New Roman (Arabic)" charset="-78"/>
              </a:rPr>
              <a:t>Bank account number</a:t>
            </a:r>
          </a:p>
          <a:p>
            <a:r>
              <a:rPr lang="en-US" b="1">
                <a:solidFill>
                  <a:schemeClr val="bg1"/>
                </a:solidFill>
                <a:cs typeface="Times New Roman (Arabic)" charset="-78"/>
              </a:rPr>
              <a:t>Aut. Posting control</a:t>
            </a:r>
          </a:p>
          <a:p>
            <a:r>
              <a:rPr lang="en-US" b="1">
                <a:solidFill>
                  <a:schemeClr val="bg1"/>
                </a:solidFill>
                <a:cs typeface="Times New Roman (Arabic)" charset="-78"/>
              </a:rPr>
              <a:t>Other reference data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381000" y="228600"/>
            <a:ext cx="9144000" cy="671513"/>
          </a:xfrm>
        </p:spPr>
        <p:txBody>
          <a:bodyPr/>
          <a:lstStyle/>
          <a:p>
            <a:r>
              <a:rPr lang="en-US" sz="3200" b="0">
                <a:solidFill>
                  <a:schemeClr val="tx1"/>
                </a:solidFill>
                <a:effectLst/>
              </a:rPr>
              <a:t>More Information On General Ledger</a:t>
            </a:r>
            <a:br>
              <a:rPr lang="en-US" sz="3200" b="0">
                <a:solidFill>
                  <a:schemeClr val="tx1"/>
                </a:solidFill>
                <a:effectLst/>
              </a:rPr>
            </a:br>
            <a:r>
              <a:rPr lang="en-US" sz="3200" b="0">
                <a:solidFill>
                  <a:schemeClr val="tx1"/>
                </a:solidFill>
                <a:effectLst/>
              </a:rPr>
              <a:t> Master Data</a:t>
            </a:r>
            <a:br>
              <a:rPr lang="en-US" sz="4000" b="0">
                <a:solidFill>
                  <a:schemeClr val="tx1"/>
                </a:solidFill>
                <a:effectLst/>
              </a:rPr>
            </a:br>
            <a:endParaRPr lang="en-US" sz="4000" b="0">
              <a:solidFill>
                <a:schemeClr val="tx1"/>
              </a:solidFill>
              <a:effectLst/>
            </a:endParaRPr>
          </a:p>
        </p:txBody>
      </p:sp>
      <p:sp>
        <p:nvSpPr>
          <p:cNvPr id="33795" name="Rectangle 7"/>
          <p:cNvSpPr>
            <a:spLocks noChangeArrowheads="1"/>
          </p:cNvSpPr>
          <p:nvPr/>
        </p:nvSpPr>
        <p:spPr bwMode="auto">
          <a:xfrm>
            <a:off x="228600" y="1295400"/>
            <a:ext cx="8763000" cy="4760913"/>
          </a:xfrm>
          <a:prstGeom prst="rect">
            <a:avLst/>
          </a:prstGeom>
          <a:noFill/>
          <a:ln w="12700" algn="ctr">
            <a:noFill/>
            <a:miter lim="800000"/>
            <a:headEnd/>
            <a:tailEnd/>
          </a:ln>
        </p:spPr>
        <p:txBody>
          <a:bodyPr>
            <a:spAutoFit/>
          </a:bodyPr>
          <a:lstStyle/>
          <a:p>
            <a:pPr algn="just"/>
            <a:r>
              <a:rPr lang="en-US" sz="1800" b="1"/>
              <a:t>line item</a:t>
            </a:r>
          </a:p>
          <a:p>
            <a:pPr algn="just"/>
            <a:r>
              <a:rPr lang="en-US" sz="1800"/>
              <a:t>The part of a document containing information on a single item. It always includes an amount, an account number, the assignment to debits or credits and further specifications which depend on the business transactions to be posted.</a:t>
            </a:r>
          </a:p>
          <a:p>
            <a:pPr algn="just"/>
            <a:endParaRPr lang="en-US" sz="1800"/>
          </a:p>
          <a:p>
            <a:pPr algn="just"/>
            <a:r>
              <a:rPr lang="en-US" sz="1800" b="1"/>
              <a:t>line item display</a:t>
            </a:r>
          </a:p>
          <a:p>
            <a:pPr algn="just"/>
            <a:r>
              <a:rPr lang="en-US" sz="1800"/>
              <a:t>Display of line items from one or more accounts. The prerequisite for this is that accounts are managed with line item display. This is preset for customer and vendor accounts; for G/L accounts, it must be set in the master record of the account.</a:t>
            </a:r>
          </a:p>
          <a:p>
            <a:pPr algn="just"/>
            <a:endParaRPr lang="en-US" sz="1800"/>
          </a:p>
          <a:p>
            <a:pPr algn="just"/>
            <a:r>
              <a:rPr lang="en-US" sz="1800" b="1"/>
              <a:t>open item management</a:t>
            </a:r>
          </a:p>
          <a:p>
            <a:pPr algn="just"/>
            <a:r>
              <a:rPr lang="en-US" sz="1800"/>
              <a:t>Specification that the items in an account must be cleared by other items in the account. The sum of items involved in the clearing procedure must be zero. The account balance is therefore always equal to the sum of the open items. This will be ticked for all clearing accounts or where the client wants clearing of line items.</a:t>
            </a:r>
          </a:p>
          <a:p>
            <a:pPr algn="just"/>
            <a:r>
              <a:rPr lang="en-US" sz="1800" b="1"/>
              <a:t>Sort Key</a:t>
            </a:r>
          </a:p>
          <a:p>
            <a:pPr algn="just"/>
            <a:r>
              <a:rPr lang="en-US" sz="1800"/>
              <a:t>Indicates the layout rule for the Allocation field in the document line item.</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81000" y="228600"/>
            <a:ext cx="9144000" cy="671513"/>
          </a:xfrm>
        </p:spPr>
        <p:txBody>
          <a:bodyPr/>
          <a:lstStyle/>
          <a:p>
            <a:r>
              <a:rPr lang="en-US" sz="2800" b="0">
                <a:solidFill>
                  <a:schemeClr val="tx1"/>
                </a:solidFill>
                <a:effectLst/>
              </a:rPr>
              <a:t>More Information On General Ledger </a:t>
            </a:r>
            <a:br>
              <a:rPr lang="en-US" sz="2800" b="0">
                <a:solidFill>
                  <a:schemeClr val="tx1"/>
                </a:solidFill>
                <a:effectLst/>
              </a:rPr>
            </a:br>
            <a:r>
              <a:rPr lang="en-US" sz="2800" b="0">
                <a:solidFill>
                  <a:schemeClr val="tx1"/>
                </a:solidFill>
                <a:effectLst/>
              </a:rPr>
              <a:t>Master Data</a:t>
            </a:r>
            <a:br>
              <a:rPr lang="en-US" sz="2800" b="0">
                <a:solidFill>
                  <a:schemeClr val="tx1"/>
                </a:solidFill>
                <a:effectLst/>
              </a:rPr>
            </a:br>
            <a:endParaRPr lang="en-US" sz="2800" b="0">
              <a:solidFill>
                <a:schemeClr val="tx1"/>
              </a:solidFill>
              <a:effectLst/>
            </a:endParaRPr>
          </a:p>
        </p:txBody>
      </p:sp>
      <p:sp>
        <p:nvSpPr>
          <p:cNvPr id="34819" name="Rectangle 3"/>
          <p:cNvSpPr>
            <a:spLocks noChangeArrowheads="1"/>
          </p:cNvSpPr>
          <p:nvPr/>
        </p:nvSpPr>
        <p:spPr bwMode="auto">
          <a:xfrm>
            <a:off x="228600" y="1143000"/>
            <a:ext cx="8915400" cy="5632450"/>
          </a:xfrm>
          <a:prstGeom prst="rect">
            <a:avLst/>
          </a:prstGeom>
          <a:noFill/>
          <a:ln w="12700" algn="ctr">
            <a:noFill/>
            <a:miter lim="800000"/>
            <a:headEnd/>
            <a:tailEnd/>
          </a:ln>
        </p:spPr>
        <p:txBody>
          <a:bodyPr>
            <a:spAutoFit/>
          </a:bodyPr>
          <a:lstStyle/>
          <a:p>
            <a:pPr algn="just">
              <a:buFontTx/>
              <a:buChar char="•"/>
            </a:pPr>
            <a:r>
              <a:rPr lang="en-US" sz="1800" b="1"/>
              <a:t>Key for Exchange Rate Differences in Foreign Currency Accts</a:t>
            </a:r>
            <a:r>
              <a:rPr lang="en-US"/>
              <a:t> </a:t>
            </a:r>
          </a:p>
          <a:p>
            <a:pPr algn="just"/>
            <a:r>
              <a:rPr lang="en-US" sz="1800"/>
              <a:t>For the </a:t>
            </a:r>
            <a:r>
              <a:rPr lang="en-US" sz="1800" b="1"/>
              <a:t>valuation</a:t>
            </a:r>
            <a:r>
              <a:rPr lang="en-US" sz="1800"/>
              <a:t> of foreign currency balances, the system uses this key to find the accounts for gains and losses from the valuation. You specify which accounts valuation differences are to be posted to under the exchange rate difference key in the system.</a:t>
            </a:r>
          </a:p>
          <a:p>
            <a:pPr algn="just">
              <a:buFontTx/>
              <a:buChar char="•"/>
            </a:pPr>
            <a:r>
              <a:rPr lang="en-US" sz="1800" b="1"/>
              <a:t>Valuation Group</a:t>
            </a:r>
          </a:p>
          <a:p>
            <a:r>
              <a:rPr lang="en-US" sz="1800"/>
              <a:t>A valuation group can include a number of different G/L accounts. The exchange rate type is determined from the foreign currency total when the valuation is carried out. The valuation groups can therefore be seen as an equivalent to the corporate group concept, except for customers and vendors.</a:t>
            </a:r>
            <a:br>
              <a:rPr lang="en-US" sz="1800"/>
            </a:br>
            <a:r>
              <a:rPr lang="en-US" sz="1800"/>
              <a:t>Valuation groups are freely definable, e.g. "Accounts at Citibank" "CITIB".</a:t>
            </a:r>
          </a:p>
          <a:p>
            <a:pPr>
              <a:buFontTx/>
              <a:buChar char="•"/>
            </a:pPr>
            <a:r>
              <a:rPr lang="en-US" sz="1800" b="1"/>
              <a:t>Posting without Tax </a:t>
            </a:r>
          </a:p>
          <a:p>
            <a:r>
              <a:rPr lang="en-US" sz="1800"/>
              <a:t>Indicates that the account can still be posted to even if a tax code has not been entered. If you do enter a tax code when posting to this account, the system checks the entry against the tax category</a:t>
            </a:r>
          </a:p>
          <a:p>
            <a:pPr>
              <a:buFontTx/>
              <a:buChar char="•"/>
            </a:pPr>
            <a:r>
              <a:rPr lang="en-US" sz="1800" b="1"/>
              <a:t>Tax Category in Account Master Record</a:t>
            </a:r>
          </a:p>
          <a:p>
            <a:r>
              <a:rPr lang="en-US" sz="1800"/>
              <a:t>Determines whether the following apply to the G/L account</a:t>
            </a:r>
          </a:p>
          <a:p>
            <a:r>
              <a:rPr lang="en-US" sz="1800"/>
              <a:t>Is it tax-relevant?</a:t>
            </a:r>
          </a:p>
          <a:p>
            <a:r>
              <a:rPr lang="en-US" sz="1800"/>
              <a:t>Is it a tax account?</a:t>
            </a:r>
          </a:p>
          <a:p>
            <a:r>
              <a:rPr lang="en-US" sz="1800"/>
              <a:t>Is it a tax-relevant G/L account?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352425" y="700088"/>
            <a:ext cx="8734425" cy="671512"/>
          </a:xfrm>
        </p:spPr>
        <p:txBody>
          <a:bodyPr/>
          <a:lstStyle/>
          <a:p>
            <a:pPr algn="ctr"/>
            <a:r>
              <a:rPr lang="en-US" sz="4000" b="0">
                <a:solidFill>
                  <a:schemeClr val="tx1"/>
                </a:solidFill>
                <a:effectLst/>
              </a:rPr>
              <a:t>Accounts in the General Ledger</a:t>
            </a:r>
          </a:p>
        </p:txBody>
      </p:sp>
      <p:sp>
        <p:nvSpPr>
          <p:cNvPr id="35843" name="Rectangle 3"/>
          <p:cNvSpPr>
            <a:spLocks noGrp="1" noChangeArrowheads="1"/>
          </p:cNvSpPr>
          <p:nvPr>
            <p:ph type="body" idx="1"/>
          </p:nvPr>
        </p:nvSpPr>
        <p:spPr>
          <a:xfrm>
            <a:off x="381000" y="1219200"/>
            <a:ext cx="8382000" cy="4876800"/>
          </a:xfrm>
        </p:spPr>
        <p:txBody>
          <a:bodyPr/>
          <a:lstStyle/>
          <a:p>
            <a:endParaRPr lang="en-US">
              <a:effectLst/>
            </a:endParaRPr>
          </a:p>
          <a:p>
            <a:endParaRPr lang="en-US">
              <a:effectLst/>
            </a:endParaRPr>
          </a:p>
        </p:txBody>
      </p:sp>
      <p:sp>
        <p:nvSpPr>
          <p:cNvPr id="35844" name="Rectangle 7"/>
          <p:cNvSpPr>
            <a:spLocks noChangeArrowheads="1"/>
          </p:cNvSpPr>
          <p:nvPr/>
        </p:nvSpPr>
        <p:spPr bwMode="auto">
          <a:xfrm>
            <a:off x="228600" y="1600200"/>
            <a:ext cx="2417763" cy="457200"/>
          </a:xfrm>
          <a:prstGeom prst="rect">
            <a:avLst/>
          </a:prstGeom>
          <a:noFill/>
          <a:ln w="12700" algn="ctr">
            <a:noFill/>
            <a:miter lim="800000"/>
            <a:headEnd/>
            <a:tailEnd/>
          </a:ln>
        </p:spPr>
        <p:txBody>
          <a:bodyPr wrap="none">
            <a:spAutoFit/>
          </a:bodyPr>
          <a:lstStyle/>
          <a:p>
            <a:pPr eaLnBrk="1" hangingPunct="1"/>
            <a:r>
              <a:rPr lang="en-US" sz="2400" b="1"/>
              <a:t>Tips and Tricks</a:t>
            </a:r>
          </a:p>
        </p:txBody>
      </p:sp>
      <p:sp>
        <p:nvSpPr>
          <p:cNvPr id="35845" name="Rectangle 8"/>
          <p:cNvSpPr>
            <a:spLocks noChangeArrowheads="1"/>
          </p:cNvSpPr>
          <p:nvPr/>
        </p:nvSpPr>
        <p:spPr bwMode="auto">
          <a:xfrm>
            <a:off x="228600" y="2236788"/>
            <a:ext cx="5334000" cy="2868612"/>
          </a:xfrm>
          <a:prstGeom prst="rect">
            <a:avLst/>
          </a:prstGeom>
          <a:noFill/>
          <a:ln w="12700" algn="ctr">
            <a:noFill/>
            <a:miter lim="800000"/>
            <a:headEnd/>
            <a:tailEnd/>
          </a:ln>
        </p:spPr>
        <p:txBody>
          <a:bodyPr>
            <a:spAutoFit/>
          </a:bodyPr>
          <a:lstStyle/>
          <a:p>
            <a:pPr marL="342900" indent="-342900" algn="just" eaLnBrk="1" hangingPunct="1">
              <a:spcBef>
                <a:spcPct val="50000"/>
              </a:spcBef>
              <a:buFontTx/>
              <a:buAutoNum type="arabicPeriod"/>
            </a:pPr>
            <a:r>
              <a:rPr lang="en-US" sz="1800" dirty="0"/>
              <a:t>In order to create similar accounts quickly, click on the “Create with Reference” button.</a:t>
            </a:r>
            <a:br>
              <a:rPr lang="en-US" sz="1800" dirty="0"/>
            </a:br>
            <a:br>
              <a:rPr lang="en-US" sz="1800" dirty="0"/>
            </a:br>
            <a:r>
              <a:rPr lang="en-US" sz="1800" dirty="0"/>
              <a:t>For example, if you are setting up multiple expense accounts, then reference a similar expense account. This will copy all of the attributes of the reference account. The user then has the option to change only the fields that are different from the reference account before saving</a:t>
            </a:r>
            <a:r>
              <a:rPr lang="en-US" sz="2000" dirty="0"/>
              <a:t>.</a:t>
            </a:r>
          </a:p>
        </p:txBody>
      </p:sp>
      <p:pic>
        <p:nvPicPr>
          <p:cNvPr id="35846" name="Picture 9" descr="bd04957_"/>
          <p:cNvPicPr>
            <a:picLocks noChangeAspect="1" noChangeArrowheads="1"/>
          </p:cNvPicPr>
          <p:nvPr/>
        </p:nvPicPr>
        <p:blipFill>
          <a:blip r:embed="rId3" cstate="print"/>
          <a:srcRect/>
          <a:stretch>
            <a:fillRect/>
          </a:stretch>
        </p:blipFill>
        <p:spPr bwMode="auto">
          <a:xfrm>
            <a:off x="6416675" y="1841500"/>
            <a:ext cx="2455863" cy="34163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352425" y="609600"/>
            <a:ext cx="8734425" cy="671513"/>
          </a:xfrm>
        </p:spPr>
        <p:txBody>
          <a:bodyPr/>
          <a:lstStyle/>
          <a:p>
            <a:pPr algn="ctr"/>
            <a:r>
              <a:rPr lang="en-US" sz="4000" b="0">
                <a:solidFill>
                  <a:schemeClr val="tx1"/>
                </a:solidFill>
                <a:effectLst/>
              </a:rPr>
              <a:t>Accounts in the General Ledger</a:t>
            </a:r>
            <a:r>
              <a:rPr lang="en-US" sz="1600">
                <a:solidFill>
                  <a:schemeClr val="tx1"/>
                </a:solidFill>
                <a:effectLst/>
              </a:rPr>
              <a:t>…Contd</a:t>
            </a:r>
          </a:p>
        </p:txBody>
      </p:sp>
      <p:sp>
        <p:nvSpPr>
          <p:cNvPr id="36867" name="Rectangle 3"/>
          <p:cNvSpPr>
            <a:spLocks noGrp="1" noChangeArrowheads="1"/>
          </p:cNvSpPr>
          <p:nvPr>
            <p:ph type="body" idx="1"/>
          </p:nvPr>
        </p:nvSpPr>
        <p:spPr>
          <a:xfrm>
            <a:off x="381000" y="1219200"/>
            <a:ext cx="8382000" cy="4876800"/>
          </a:xfrm>
        </p:spPr>
        <p:txBody>
          <a:bodyPr/>
          <a:lstStyle/>
          <a:p>
            <a:endParaRPr lang="en-US">
              <a:effectLst/>
            </a:endParaRPr>
          </a:p>
          <a:p>
            <a:endParaRPr lang="en-US">
              <a:effectLst/>
            </a:endParaRPr>
          </a:p>
        </p:txBody>
      </p:sp>
      <p:sp>
        <p:nvSpPr>
          <p:cNvPr id="36868" name="Rectangle 5"/>
          <p:cNvSpPr>
            <a:spLocks noChangeArrowheads="1"/>
          </p:cNvSpPr>
          <p:nvPr/>
        </p:nvSpPr>
        <p:spPr bwMode="auto">
          <a:xfrm>
            <a:off x="533400" y="1309688"/>
            <a:ext cx="4337050" cy="519112"/>
          </a:xfrm>
          <a:prstGeom prst="rect">
            <a:avLst/>
          </a:prstGeom>
          <a:noFill/>
          <a:ln w="12700" algn="ctr">
            <a:noFill/>
            <a:miter lim="800000"/>
            <a:headEnd/>
            <a:tailEnd/>
          </a:ln>
        </p:spPr>
        <p:txBody>
          <a:bodyPr wrap="none">
            <a:spAutoFit/>
          </a:bodyPr>
          <a:lstStyle/>
          <a:p>
            <a:r>
              <a:rPr lang="en-US" sz="2800" b="1"/>
              <a:t>Changing a G/L Account</a:t>
            </a:r>
          </a:p>
        </p:txBody>
      </p:sp>
      <p:sp>
        <p:nvSpPr>
          <p:cNvPr id="36869" name="Rectangle 6"/>
          <p:cNvSpPr>
            <a:spLocks noChangeArrowheads="1"/>
          </p:cNvSpPr>
          <p:nvPr/>
        </p:nvSpPr>
        <p:spPr bwMode="auto">
          <a:xfrm>
            <a:off x="533400" y="1981200"/>
            <a:ext cx="3581400" cy="3378200"/>
          </a:xfrm>
          <a:prstGeom prst="rect">
            <a:avLst/>
          </a:prstGeom>
          <a:noFill/>
          <a:ln w="12700" algn="ctr">
            <a:noFill/>
            <a:miter lim="800000"/>
            <a:headEnd/>
            <a:tailEnd/>
          </a:ln>
        </p:spPr>
        <p:txBody>
          <a:bodyPr>
            <a:spAutoFit/>
          </a:bodyPr>
          <a:lstStyle/>
          <a:p>
            <a:r>
              <a:rPr lang="en-US" sz="2400"/>
              <a:t>To change data in the G/L account:</a:t>
            </a:r>
          </a:p>
          <a:p>
            <a:endParaRPr lang="en-US" sz="2400"/>
          </a:p>
          <a:p>
            <a:pPr lvl="1">
              <a:buFontTx/>
              <a:buChar char="•"/>
            </a:pPr>
            <a:r>
              <a:rPr lang="en-US" sz="2400"/>
              <a:t> Enter the Account #</a:t>
            </a:r>
          </a:p>
          <a:p>
            <a:endParaRPr lang="en-US" sz="2400"/>
          </a:p>
          <a:p>
            <a:pPr lvl="1">
              <a:buFontTx/>
              <a:buChar char="•"/>
            </a:pPr>
            <a:r>
              <a:rPr lang="en-US" sz="2400"/>
              <a:t> Click on the “pencil” icon on the initial screen.</a:t>
            </a:r>
            <a:br>
              <a:rPr lang="en-US" sz="2400"/>
            </a:br>
            <a:endParaRPr lang="en-US" sz="2400"/>
          </a:p>
        </p:txBody>
      </p:sp>
      <p:pic>
        <p:nvPicPr>
          <p:cNvPr id="36870" name="Picture 7"/>
          <p:cNvPicPr>
            <a:picLocks noChangeAspect="1" noChangeArrowheads="1"/>
          </p:cNvPicPr>
          <p:nvPr/>
        </p:nvPicPr>
        <p:blipFill>
          <a:blip r:embed="rId3" cstate="print"/>
          <a:srcRect/>
          <a:stretch>
            <a:fillRect/>
          </a:stretch>
        </p:blipFill>
        <p:spPr bwMode="auto">
          <a:xfrm>
            <a:off x="4329113" y="2057400"/>
            <a:ext cx="4814887" cy="3609975"/>
          </a:xfrm>
          <a:prstGeom prst="rect">
            <a:avLst/>
          </a:prstGeom>
          <a:noFill/>
          <a:ln w="9525">
            <a:noFill/>
            <a:miter lim="800000"/>
            <a:headEnd/>
            <a:tailEnd/>
          </a:ln>
        </p:spPr>
      </p:pic>
      <p:sp>
        <p:nvSpPr>
          <p:cNvPr id="36871" name="Line 8"/>
          <p:cNvSpPr>
            <a:spLocks noChangeShapeType="1"/>
          </p:cNvSpPr>
          <p:nvPr/>
        </p:nvSpPr>
        <p:spPr bwMode="auto">
          <a:xfrm flipV="1">
            <a:off x="4267200" y="2895600"/>
            <a:ext cx="1762125" cy="676275"/>
          </a:xfrm>
          <a:prstGeom prst="line">
            <a:avLst/>
          </a:prstGeom>
          <a:noFill/>
          <a:ln w="28575">
            <a:solidFill>
              <a:schemeClr val="tx1"/>
            </a:solidFill>
            <a:round/>
            <a:headEnd/>
            <a:tailEnd type="triangle" w="med" len="med"/>
          </a:ln>
        </p:spPr>
        <p:txBody>
          <a:bodyPr/>
          <a:lstStyle/>
          <a:p>
            <a:endParaRPr lang="en-US"/>
          </a:p>
        </p:txBody>
      </p:sp>
      <p:pic>
        <p:nvPicPr>
          <p:cNvPr id="36872" name="Picture 10"/>
          <p:cNvPicPr>
            <a:picLocks noChangeAspect="1" noChangeArrowheads="1"/>
          </p:cNvPicPr>
          <p:nvPr/>
        </p:nvPicPr>
        <p:blipFill>
          <a:blip r:embed="rId4" cstate="print"/>
          <a:srcRect/>
          <a:stretch>
            <a:fillRect/>
          </a:stretch>
        </p:blipFill>
        <p:spPr bwMode="auto">
          <a:xfrm>
            <a:off x="3886200" y="3505200"/>
            <a:ext cx="373063" cy="403225"/>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352425" y="623888"/>
            <a:ext cx="8734425" cy="671512"/>
          </a:xfrm>
        </p:spPr>
        <p:txBody>
          <a:bodyPr/>
          <a:lstStyle/>
          <a:p>
            <a:pPr algn="ctr"/>
            <a:r>
              <a:rPr lang="en-US" sz="4000" b="0">
                <a:solidFill>
                  <a:schemeClr val="tx1"/>
                </a:solidFill>
                <a:effectLst/>
              </a:rPr>
              <a:t>Accounts in the General Ledger</a:t>
            </a:r>
            <a:r>
              <a:rPr lang="en-US" sz="1600">
                <a:solidFill>
                  <a:schemeClr val="tx1"/>
                </a:solidFill>
                <a:effectLst/>
              </a:rPr>
              <a:t>…Contd</a:t>
            </a:r>
          </a:p>
        </p:txBody>
      </p:sp>
      <p:sp>
        <p:nvSpPr>
          <p:cNvPr id="37891" name="Rectangle 3"/>
          <p:cNvSpPr>
            <a:spLocks noGrp="1" noChangeArrowheads="1"/>
          </p:cNvSpPr>
          <p:nvPr>
            <p:ph type="body" idx="1"/>
          </p:nvPr>
        </p:nvSpPr>
        <p:spPr>
          <a:xfrm>
            <a:off x="381000" y="1219200"/>
            <a:ext cx="8382000" cy="4876800"/>
          </a:xfrm>
        </p:spPr>
        <p:txBody>
          <a:bodyPr/>
          <a:lstStyle/>
          <a:p>
            <a:endParaRPr lang="en-US">
              <a:effectLst/>
            </a:endParaRPr>
          </a:p>
          <a:p>
            <a:endParaRPr lang="en-US">
              <a:effectLst/>
            </a:endParaRPr>
          </a:p>
        </p:txBody>
      </p:sp>
      <p:sp>
        <p:nvSpPr>
          <p:cNvPr id="37892" name="Rectangle 4"/>
          <p:cNvSpPr>
            <a:spLocks noChangeArrowheads="1"/>
          </p:cNvSpPr>
          <p:nvPr/>
        </p:nvSpPr>
        <p:spPr bwMode="auto">
          <a:xfrm>
            <a:off x="457200" y="1371600"/>
            <a:ext cx="3871913" cy="457200"/>
          </a:xfrm>
          <a:prstGeom prst="rect">
            <a:avLst/>
          </a:prstGeom>
          <a:noFill/>
          <a:ln w="12700" algn="ctr">
            <a:noFill/>
            <a:miter lim="800000"/>
            <a:headEnd/>
            <a:tailEnd/>
          </a:ln>
        </p:spPr>
        <p:txBody>
          <a:bodyPr wrap="none">
            <a:spAutoFit/>
          </a:bodyPr>
          <a:lstStyle/>
          <a:p>
            <a:r>
              <a:rPr lang="en-US" sz="2400" b="1"/>
              <a:t>Displaying a G/L Account</a:t>
            </a:r>
          </a:p>
        </p:txBody>
      </p:sp>
      <p:sp>
        <p:nvSpPr>
          <p:cNvPr id="37893" name="Rectangle 5"/>
          <p:cNvSpPr>
            <a:spLocks noChangeArrowheads="1"/>
          </p:cNvSpPr>
          <p:nvPr/>
        </p:nvSpPr>
        <p:spPr bwMode="auto">
          <a:xfrm>
            <a:off x="457200" y="2057400"/>
            <a:ext cx="4114800" cy="3378200"/>
          </a:xfrm>
          <a:prstGeom prst="rect">
            <a:avLst/>
          </a:prstGeom>
          <a:noFill/>
          <a:ln w="12700" algn="ctr">
            <a:noFill/>
            <a:miter lim="800000"/>
            <a:headEnd/>
            <a:tailEnd/>
          </a:ln>
        </p:spPr>
        <p:txBody>
          <a:bodyPr>
            <a:spAutoFit/>
          </a:bodyPr>
          <a:lstStyle/>
          <a:p>
            <a:r>
              <a:rPr lang="en-US" sz="2400"/>
              <a:t>To display data in the G/L account:</a:t>
            </a:r>
          </a:p>
          <a:p>
            <a:endParaRPr lang="en-US" sz="2400"/>
          </a:p>
          <a:p>
            <a:pPr lvl="1">
              <a:buFontTx/>
              <a:buChar char="•"/>
            </a:pPr>
            <a:r>
              <a:rPr lang="en-US" sz="2400"/>
              <a:t> Enter the Account #</a:t>
            </a:r>
          </a:p>
          <a:p>
            <a:pPr lvl="1"/>
            <a:endParaRPr lang="en-US" sz="2400"/>
          </a:p>
          <a:p>
            <a:pPr lvl="1">
              <a:buFontTx/>
              <a:buChar char="•"/>
            </a:pPr>
            <a:r>
              <a:rPr lang="en-US" sz="2400"/>
              <a:t>Click on the “eye glasses”    icon on the initial screen.</a:t>
            </a:r>
            <a:br>
              <a:rPr lang="en-US" sz="2400"/>
            </a:br>
            <a:r>
              <a:rPr lang="en-US" sz="2400"/>
              <a:t> 	</a:t>
            </a:r>
          </a:p>
        </p:txBody>
      </p:sp>
      <p:pic>
        <p:nvPicPr>
          <p:cNvPr id="37894" name="Picture 6"/>
          <p:cNvPicPr>
            <a:picLocks noChangeAspect="1" noChangeArrowheads="1"/>
          </p:cNvPicPr>
          <p:nvPr/>
        </p:nvPicPr>
        <p:blipFill>
          <a:blip r:embed="rId3" cstate="print"/>
          <a:srcRect/>
          <a:stretch>
            <a:fillRect/>
          </a:stretch>
        </p:blipFill>
        <p:spPr bwMode="auto">
          <a:xfrm>
            <a:off x="4329113" y="2438400"/>
            <a:ext cx="4814887" cy="3609975"/>
          </a:xfrm>
          <a:prstGeom prst="rect">
            <a:avLst/>
          </a:prstGeom>
          <a:noFill/>
          <a:ln w="9525">
            <a:noFill/>
            <a:miter lim="800000"/>
            <a:headEnd/>
            <a:tailEnd/>
          </a:ln>
        </p:spPr>
      </p:pic>
      <p:pic>
        <p:nvPicPr>
          <p:cNvPr id="37895" name="Picture 8"/>
          <p:cNvPicPr>
            <a:picLocks noChangeAspect="1" noChangeArrowheads="1"/>
          </p:cNvPicPr>
          <p:nvPr/>
        </p:nvPicPr>
        <p:blipFill>
          <a:blip r:embed="rId4" cstate="print"/>
          <a:srcRect/>
          <a:stretch>
            <a:fillRect/>
          </a:stretch>
        </p:blipFill>
        <p:spPr bwMode="auto">
          <a:xfrm>
            <a:off x="2209800" y="4343400"/>
            <a:ext cx="238125" cy="247650"/>
          </a:xfrm>
          <a:prstGeom prst="rect">
            <a:avLst/>
          </a:prstGeom>
          <a:noFill/>
          <a:ln w="9525">
            <a:noFill/>
            <a:miter lim="800000"/>
            <a:headEnd/>
            <a:tailEnd/>
          </a:ln>
        </p:spPr>
      </p:pic>
      <p:sp>
        <p:nvSpPr>
          <p:cNvPr id="37896" name="Line 9"/>
          <p:cNvSpPr>
            <a:spLocks noChangeShapeType="1"/>
          </p:cNvSpPr>
          <p:nvPr/>
        </p:nvSpPr>
        <p:spPr bwMode="auto">
          <a:xfrm flipV="1">
            <a:off x="2438400" y="3276600"/>
            <a:ext cx="3462338" cy="1143000"/>
          </a:xfrm>
          <a:prstGeom prst="line">
            <a:avLst/>
          </a:prstGeom>
          <a:noFill/>
          <a:ln w="28575">
            <a:solidFill>
              <a:schemeClr val="tx1"/>
            </a:solidFill>
            <a:round/>
            <a:headEnd/>
            <a:tailEnd type="triangle" w="med" len="med"/>
          </a:ln>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352425" y="623888"/>
            <a:ext cx="5133975" cy="519112"/>
          </a:xfrm>
        </p:spPr>
        <p:txBody>
          <a:bodyPr/>
          <a:lstStyle/>
          <a:p>
            <a:r>
              <a:rPr lang="en-US" sz="2400" b="0" dirty="0"/>
              <a:t>PROFIT CENTER </a:t>
            </a:r>
            <a:r>
              <a:rPr lang="en-US" sz="2400" dirty="0"/>
              <a:t>:</a:t>
            </a:r>
            <a:endParaRPr lang="en-US" sz="2400" dirty="0">
              <a:solidFill>
                <a:schemeClr val="tx1"/>
              </a:solidFill>
              <a:effectLst/>
            </a:endParaRPr>
          </a:p>
        </p:txBody>
      </p:sp>
      <p:sp>
        <p:nvSpPr>
          <p:cNvPr id="37891" name="Rectangle 3"/>
          <p:cNvSpPr>
            <a:spLocks noGrp="1" noChangeArrowheads="1"/>
          </p:cNvSpPr>
          <p:nvPr>
            <p:ph type="body" idx="1"/>
          </p:nvPr>
        </p:nvSpPr>
        <p:spPr>
          <a:xfrm>
            <a:off x="381000" y="1219200"/>
            <a:ext cx="8382000" cy="4876800"/>
          </a:xfrm>
        </p:spPr>
        <p:txBody>
          <a:bodyPr/>
          <a:lstStyle/>
          <a:p>
            <a:endParaRPr lang="en-US" dirty="0">
              <a:effectLst/>
            </a:endParaRPr>
          </a:p>
          <a:p>
            <a:endParaRPr lang="en-US" sz="1800" kern="1200" dirty="0">
              <a:latin typeface="Arial" charset="0"/>
            </a:endParaRPr>
          </a:p>
          <a:p>
            <a:endParaRPr lang="en-US" sz="1800" kern="1200" dirty="0">
              <a:latin typeface="Arial" charset="0"/>
            </a:endParaRPr>
          </a:p>
          <a:p>
            <a:endParaRPr lang="en-US" sz="1800" kern="1200" dirty="0">
              <a:latin typeface="Arial" charset="0"/>
            </a:endParaRPr>
          </a:p>
          <a:p>
            <a:endParaRPr lang="en-US" sz="1800" kern="1200" dirty="0">
              <a:latin typeface="Arial" charset="0"/>
            </a:endParaRPr>
          </a:p>
        </p:txBody>
      </p:sp>
      <p:sp>
        <p:nvSpPr>
          <p:cNvPr id="3" name="Rectangle 2">
            <a:extLst>
              <a:ext uri="{FF2B5EF4-FFF2-40B4-BE49-F238E27FC236}">
                <a16:creationId xmlns:a16="http://schemas.microsoft.com/office/drawing/2014/main" id="{5B1E3785-DA1D-4CBA-9242-26A24B8C8795}"/>
              </a:ext>
            </a:extLst>
          </p:cNvPr>
          <p:cNvSpPr/>
          <p:nvPr/>
        </p:nvSpPr>
        <p:spPr>
          <a:xfrm>
            <a:off x="390524" y="1190625"/>
            <a:ext cx="8296276" cy="4616648"/>
          </a:xfrm>
          <a:prstGeom prst="rect">
            <a:avLst/>
          </a:prstGeom>
        </p:spPr>
        <p:txBody>
          <a:bodyPr wrap="square">
            <a:spAutoFit/>
          </a:bodyPr>
          <a:lstStyle/>
          <a:p>
            <a:r>
              <a:rPr lang="en-US" dirty="0"/>
              <a:t>A profit center is an organizational unit in accounting that reflects a management-oriented structure of the organization for the purpose of internal control.</a:t>
            </a:r>
          </a:p>
          <a:p>
            <a:endParaRPr lang="en-US" dirty="0"/>
          </a:p>
          <a:p>
            <a:r>
              <a:rPr lang="en-US" dirty="0"/>
              <a:t>You can analyze operating results for profit centers using either the cost-of-sales or the period accounting approach. By calculating the fixed capital as well, you can use your profit centers as investment centers.</a:t>
            </a:r>
          </a:p>
          <a:p>
            <a:endParaRPr lang="en-US" dirty="0"/>
          </a:p>
          <a:p>
            <a:r>
              <a:rPr lang="en-US" dirty="0"/>
              <a:t>Profit center Accounting at the profit center level is based on costs and revenues. These are assigned statistically by multiple parallel updating to all logistical activities and other allocations of relevance for a profit center.</a:t>
            </a:r>
          </a:p>
          <a:p>
            <a:endParaRPr lang="en-US" dirty="0"/>
          </a:p>
          <a:p>
            <a:r>
              <a:rPr lang="en-US" dirty="0"/>
              <a:t>The exchange of goods and services between profit centers can be valuated using the same valuation approach as financial accounting or another approach</a:t>
            </a:r>
          </a:p>
          <a:p>
            <a:endParaRPr lang="en-US" dirty="0"/>
          </a:p>
          <a:p>
            <a:r>
              <a:rPr lang="en-US" dirty="0"/>
              <a:t>The master data of a profit center includes the name of the profit center, the controlling area it is assigned to, and the profit center’s period of validity, as well as information about the person responsible for the profit center, the profit center’s assignment to a node of the standard hierarchy, and data required for communication (address, telephone number and so on).</a:t>
            </a:r>
          </a:p>
          <a:p>
            <a:endParaRPr lang="en-US" dirty="0"/>
          </a:p>
          <a:p>
            <a:r>
              <a:rPr lang="en-US" dirty="0"/>
              <a:t>Every profit center is assigned to the organizational unit controlling area. This assignment is necessary because Profit Center Accounting displays values in G/L accounts.</a:t>
            </a:r>
          </a:p>
        </p:txBody>
      </p:sp>
      <mc:AlternateContent xmlns:mc="http://schemas.openxmlformats.org/markup-compatibility/2006">
        <mc:Choice xmlns:pslz="http://schemas.microsoft.com/office/powerpoint/2016/slidezoom" Requires="pslz">
          <p:graphicFrame>
            <p:nvGraphicFramePr>
              <p:cNvPr id="5" name="Slide Zoom 4">
                <a:extLst>
                  <a:ext uri="{FF2B5EF4-FFF2-40B4-BE49-F238E27FC236}">
                    <a16:creationId xmlns:a16="http://schemas.microsoft.com/office/drawing/2014/main" id="{61EBD984-F39B-4E4F-92CE-E7039AB0C31D}"/>
                  </a:ext>
                </a:extLst>
              </p:cNvPr>
              <p:cNvGraphicFramePr>
                <a:graphicFrameLocks noChangeAspect="1"/>
              </p:cNvGraphicFramePr>
              <p:nvPr>
                <p:extLst>
                  <p:ext uri="{D42A27DB-BD31-4B8C-83A1-F6EECF244321}">
                    <p14:modId xmlns:p14="http://schemas.microsoft.com/office/powerpoint/2010/main" val="2062137282"/>
                  </p:ext>
                </p:extLst>
              </p:nvPr>
            </p:nvGraphicFramePr>
            <p:xfrm>
              <a:off x="-3533775" y="1952625"/>
              <a:ext cx="2286000" cy="1714500"/>
            </p:xfrm>
            <a:graphic>
              <a:graphicData uri="http://schemas.microsoft.com/office/powerpoint/2016/slidezoom">
                <pslz:sldZm>
                  <pslz:sldZmObj sldId="456" cId="3198436757">
                    <pslz:zmPr id="{6D070591-379F-4C72-8508-11829F274454}" returnToParent="0" transitionDur="1000">
                      <p166:blipFill xmlns:p166="http://schemas.microsoft.com/office/powerpoint/2016/6/main">
                        <a:blip r:embed="rId3"/>
                        <a:stretch>
                          <a:fillRect/>
                        </a:stretch>
                      </p166:blipFill>
                      <p166:spPr xmlns:p166="http://schemas.microsoft.com/office/powerpoint/2016/6/main">
                        <a:xfrm>
                          <a:off x="0" y="0"/>
                          <a:ext cx="2286000" cy="1714500"/>
                        </a:xfrm>
                        <a:prstGeom prst="rect">
                          <a:avLst/>
                        </a:prstGeom>
                        <a:ln w="3175">
                          <a:solidFill>
                            <a:prstClr val="ltGray"/>
                          </a:solidFill>
                        </a:ln>
                      </p166:spPr>
                    </pslz:zmPr>
                  </pslz:sldZmObj>
                </pslz:sldZm>
              </a:graphicData>
            </a:graphic>
          </p:graphicFrame>
        </mc:Choice>
        <mc:Fallback>
          <p:pic>
            <p:nvPicPr>
              <p:cNvPr id="5" name="Slide Zoom 4">
                <a:hlinkClick r:id="rId4" action="ppaction://hlinksldjump"/>
                <a:extLst>
                  <a:ext uri="{FF2B5EF4-FFF2-40B4-BE49-F238E27FC236}">
                    <a16:creationId xmlns:a16="http://schemas.microsoft.com/office/drawing/2014/main" id="{61EBD984-F39B-4E4F-92CE-E7039AB0C31D}"/>
                  </a:ext>
                </a:extLst>
              </p:cNvPr>
              <p:cNvPicPr>
                <a:picLocks noGrp="1" noRot="1" noChangeAspect="1" noMove="1" noResize="1" noEditPoints="1" noAdjustHandles="1" noChangeArrowheads="1" noChangeShapeType="1"/>
              </p:cNvPicPr>
              <p:nvPr/>
            </p:nvPicPr>
            <p:blipFill>
              <a:blip r:embed="rId3"/>
              <a:stretch>
                <a:fillRect/>
              </a:stretch>
            </p:blipFill>
            <p:spPr>
              <a:xfrm>
                <a:off x="-3533775" y="1952625"/>
                <a:ext cx="2286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31984367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352425" y="623888"/>
            <a:ext cx="5133975" cy="519112"/>
          </a:xfrm>
        </p:spPr>
        <p:txBody>
          <a:bodyPr/>
          <a:lstStyle/>
          <a:p>
            <a:r>
              <a:rPr lang="en-US" sz="2400" b="0" dirty="0"/>
              <a:t>PROFIT CENTER </a:t>
            </a:r>
            <a:r>
              <a:rPr lang="en-US" sz="1200" b="0" dirty="0"/>
              <a:t>Cont..</a:t>
            </a:r>
            <a:endParaRPr lang="en-US" sz="1200" b="0" dirty="0">
              <a:solidFill>
                <a:schemeClr val="tx1"/>
              </a:solidFill>
              <a:effectLst/>
            </a:endParaRPr>
          </a:p>
        </p:txBody>
      </p:sp>
      <p:sp>
        <p:nvSpPr>
          <p:cNvPr id="37891" name="Rectangle 3"/>
          <p:cNvSpPr>
            <a:spLocks noGrp="1" noChangeArrowheads="1"/>
          </p:cNvSpPr>
          <p:nvPr>
            <p:ph type="body" idx="1"/>
          </p:nvPr>
        </p:nvSpPr>
        <p:spPr>
          <a:xfrm>
            <a:off x="381000" y="1219200"/>
            <a:ext cx="8382000" cy="4876800"/>
          </a:xfrm>
        </p:spPr>
        <p:txBody>
          <a:bodyPr/>
          <a:lstStyle/>
          <a:p>
            <a:endParaRPr lang="en-US" dirty="0">
              <a:effectLst/>
            </a:endParaRPr>
          </a:p>
          <a:p>
            <a:endParaRPr lang="en-US" sz="1800" kern="1200" dirty="0">
              <a:latin typeface="Arial" charset="0"/>
            </a:endParaRPr>
          </a:p>
          <a:p>
            <a:endParaRPr lang="en-US" sz="1800" kern="1200" dirty="0">
              <a:latin typeface="Arial" charset="0"/>
            </a:endParaRPr>
          </a:p>
          <a:p>
            <a:endParaRPr lang="en-US" sz="1800" kern="1200" dirty="0">
              <a:latin typeface="Arial" charset="0"/>
            </a:endParaRPr>
          </a:p>
          <a:p>
            <a:endParaRPr lang="en-US" sz="1800" kern="1200" dirty="0">
              <a:latin typeface="Arial" charset="0"/>
            </a:endParaRPr>
          </a:p>
        </p:txBody>
      </p:sp>
      <p:sp>
        <p:nvSpPr>
          <p:cNvPr id="3" name="Rectangle 2">
            <a:extLst>
              <a:ext uri="{FF2B5EF4-FFF2-40B4-BE49-F238E27FC236}">
                <a16:creationId xmlns:a16="http://schemas.microsoft.com/office/drawing/2014/main" id="{5B1E3785-DA1D-4CBA-9242-26A24B8C8795}"/>
              </a:ext>
            </a:extLst>
          </p:cNvPr>
          <p:cNvSpPr/>
          <p:nvPr/>
        </p:nvSpPr>
        <p:spPr>
          <a:xfrm>
            <a:off x="390524" y="1190625"/>
            <a:ext cx="8296276" cy="3754874"/>
          </a:xfrm>
          <a:prstGeom prst="rect">
            <a:avLst/>
          </a:prstGeom>
        </p:spPr>
        <p:txBody>
          <a:bodyPr wrap="square">
            <a:spAutoFit/>
          </a:bodyPr>
          <a:lstStyle/>
          <a:p>
            <a:r>
              <a:rPr lang="en-US" b="1" dirty="0"/>
              <a:t>Define Profit Center</a:t>
            </a:r>
          </a:p>
          <a:p>
            <a:r>
              <a:rPr lang="en-US" b="1" dirty="0"/>
              <a:t>PATH: </a:t>
            </a:r>
            <a:r>
              <a:rPr lang="en-US" dirty="0"/>
              <a:t>SPRO -  Controlling  -  Profit Center Accounting  - Master Data - Profit Center -  Define Profit Center </a:t>
            </a:r>
            <a:r>
              <a:rPr lang="en-US" b="1" dirty="0"/>
              <a:t>Transaction Code: </a:t>
            </a:r>
            <a:r>
              <a:rPr lang="en-US" dirty="0"/>
              <a:t>KE51</a:t>
            </a:r>
          </a:p>
          <a:p>
            <a:endParaRPr lang="en-US" dirty="0"/>
          </a:p>
          <a:p>
            <a:r>
              <a:rPr lang="en-US" dirty="0"/>
              <a:t>Click on “Execute”, the following window will display:</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Double click on “EC-PCA: Create Profit Center” or select that and click on              button</a:t>
            </a:r>
          </a:p>
          <a:p>
            <a:endParaRPr lang="en-US" dirty="0"/>
          </a:p>
          <a:p>
            <a:endParaRPr lang="en-US" dirty="0"/>
          </a:p>
        </p:txBody>
      </p:sp>
      <p:pic>
        <p:nvPicPr>
          <p:cNvPr id="2" name="Picture 1">
            <a:extLst>
              <a:ext uri="{FF2B5EF4-FFF2-40B4-BE49-F238E27FC236}">
                <a16:creationId xmlns:a16="http://schemas.microsoft.com/office/drawing/2014/main" id="{075A2431-8098-48CE-AD11-E5593DBD34F3}"/>
              </a:ext>
            </a:extLst>
          </p:cNvPr>
          <p:cNvPicPr>
            <a:picLocks noChangeAspect="1"/>
          </p:cNvPicPr>
          <p:nvPr/>
        </p:nvPicPr>
        <p:blipFill>
          <a:blip r:embed="rId3"/>
          <a:stretch>
            <a:fillRect/>
          </a:stretch>
        </p:blipFill>
        <p:spPr>
          <a:xfrm>
            <a:off x="533400" y="2462050"/>
            <a:ext cx="4572000" cy="1652750"/>
          </a:xfrm>
          <a:prstGeom prst="rect">
            <a:avLst/>
          </a:prstGeom>
        </p:spPr>
      </p:pic>
      <p:pic>
        <p:nvPicPr>
          <p:cNvPr id="4" name="Picture 3">
            <a:extLst>
              <a:ext uri="{FF2B5EF4-FFF2-40B4-BE49-F238E27FC236}">
                <a16:creationId xmlns:a16="http://schemas.microsoft.com/office/drawing/2014/main" id="{A6A2C385-0E79-457B-ABF1-5D7D27847257}"/>
              </a:ext>
            </a:extLst>
          </p:cNvPr>
          <p:cNvPicPr>
            <a:picLocks noChangeAspect="1"/>
          </p:cNvPicPr>
          <p:nvPr/>
        </p:nvPicPr>
        <p:blipFill>
          <a:blip r:embed="rId4"/>
          <a:stretch>
            <a:fillRect/>
          </a:stretch>
        </p:blipFill>
        <p:spPr>
          <a:xfrm>
            <a:off x="6248400" y="4191000"/>
            <a:ext cx="609600" cy="228601"/>
          </a:xfrm>
          <a:prstGeom prst="rect">
            <a:avLst/>
          </a:prstGeom>
        </p:spPr>
      </p:pic>
      <p:pic>
        <p:nvPicPr>
          <p:cNvPr id="5" name="Picture 4">
            <a:extLst>
              <a:ext uri="{FF2B5EF4-FFF2-40B4-BE49-F238E27FC236}">
                <a16:creationId xmlns:a16="http://schemas.microsoft.com/office/drawing/2014/main" id="{C81F9D7A-A200-4D57-A868-9BAC0E7D975C}"/>
              </a:ext>
            </a:extLst>
          </p:cNvPr>
          <p:cNvPicPr>
            <a:picLocks noChangeAspect="1"/>
          </p:cNvPicPr>
          <p:nvPr/>
        </p:nvPicPr>
        <p:blipFill>
          <a:blip r:embed="rId5"/>
          <a:stretch>
            <a:fillRect/>
          </a:stretch>
        </p:blipFill>
        <p:spPr>
          <a:xfrm>
            <a:off x="533400" y="4584050"/>
            <a:ext cx="3568950" cy="1873400"/>
          </a:xfrm>
          <a:prstGeom prst="rect">
            <a:avLst/>
          </a:prstGeom>
        </p:spPr>
      </p:pic>
    </p:spTree>
    <p:extLst>
      <p:ext uri="{BB962C8B-B14F-4D97-AF65-F5344CB8AC3E}">
        <p14:creationId xmlns:p14="http://schemas.microsoft.com/office/powerpoint/2010/main" val="27012975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352425" y="623888"/>
            <a:ext cx="5133975" cy="519112"/>
          </a:xfrm>
        </p:spPr>
        <p:txBody>
          <a:bodyPr/>
          <a:lstStyle/>
          <a:p>
            <a:r>
              <a:rPr lang="en-US" sz="2400" b="0" dirty="0"/>
              <a:t>PROFIT CENTER </a:t>
            </a:r>
            <a:r>
              <a:rPr lang="en-US" sz="1200" b="0" dirty="0"/>
              <a:t>Cont..</a:t>
            </a:r>
            <a:endParaRPr lang="en-US" sz="1200" b="0" dirty="0">
              <a:solidFill>
                <a:schemeClr val="tx1"/>
              </a:solidFill>
              <a:effectLst/>
            </a:endParaRPr>
          </a:p>
        </p:txBody>
      </p:sp>
      <p:sp>
        <p:nvSpPr>
          <p:cNvPr id="37891" name="Rectangle 3"/>
          <p:cNvSpPr>
            <a:spLocks noGrp="1" noChangeArrowheads="1"/>
          </p:cNvSpPr>
          <p:nvPr>
            <p:ph type="body" idx="1"/>
          </p:nvPr>
        </p:nvSpPr>
        <p:spPr>
          <a:xfrm>
            <a:off x="381000" y="1219200"/>
            <a:ext cx="8382000" cy="4876800"/>
          </a:xfrm>
        </p:spPr>
        <p:txBody>
          <a:bodyPr/>
          <a:lstStyle/>
          <a:p>
            <a:endParaRPr lang="en-US" dirty="0">
              <a:effectLst/>
            </a:endParaRPr>
          </a:p>
          <a:p>
            <a:endParaRPr lang="en-US" sz="1800" kern="1200" dirty="0">
              <a:latin typeface="Arial" charset="0"/>
            </a:endParaRPr>
          </a:p>
          <a:p>
            <a:endParaRPr lang="en-US" sz="1800" kern="1200" dirty="0">
              <a:latin typeface="Arial" charset="0"/>
            </a:endParaRPr>
          </a:p>
          <a:p>
            <a:endParaRPr lang="en-US" sz="1800" kern="1200" dirty="0">
              <a:latin typeface="Arial" charset="0"/>
            </a:endParaRPr>
          </a:p>
          <a:p>
            <a:endParaRPr lang="en-US" sz="1800" kern="1200" dirty="0">
              <a:latin typeface="Arial" charset="0"/>
            </a:endParaRPr>
          </a:p>
        </p:txBody>
      </p:sp>
      <p:sp>
        <p:nvSpPr>
          <p:cNvPr id="3" name="Rectangle 2">
            <a:extLst>
              <a:ext uri="{FF2B5EF4-FFF2-40B4-BE49-F238E27FC236}">
                <a16:creationId xmlns:a16="http://schemas.microsoft.com/office/drawing/2014/main" id="{5B1E3785-DA1D-4CBA-9242-26A24B8C8795}"/>
              </a:ext>
            </a:extLst>
          </p:cNvPr>
          <p:cNvSpPr/>
          <p:nvPr/>
        </p:nvSpPr>
        <p:spPr>
          <a:xfrm>
            <a:off x="390524" y="1190625"/>
            <a:ext cx="8296276" cy="2677656"/>
          </a:xfrm>
          <a:prstGeom prst="rect">
            <a:avLst/>
          </a:prstGeom>
        </p:spPr>
        <p:txBody>
          <a:bodyPr wrap="square">
            <a:spAutoFit/>
          </a:bodyPr>
          <a:lstStyle/>
          <a:p>
            <a:r>
              <a:rPr lang="en-US" dirty="0"/>
              <a:t>In Profit center field any number and click on Master Data button, it will take to following screen:</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5">
            <a:extLst>
              <a:ext uri="{FF2B5EF4-FFF2-40B4-BE49-F238E27FC236}">
                <a16:creationId xmlns:a16="http://schemas.microsoft.com/office/drawing/2014/main" id="{2ECA8B00-FD47-4574-88D3-2713101C356C}"/>
              </a:ext>
            </a:extLst>
          </p:cNvPr>
          <p:cNvPicPr>
            <a:picLocks noChangeAspect="1"/>
          </p:cNvPicPr>
          <p:nvPr/>
        </p:nvPicPr>
        <p:blipFill>
          <a:blip r:embed="rId3"/>
          <a:stretch>
            <a:fillRect/>
          </a:stretch>
        </p:blipFill>
        <p:spPr>
          <a:xfrm>
            <a:off x="492225" y="1600200"/>
            <a:ext cx="5984775" cy="3505200"/>
          </a:xfrm>
          <a:prstGeom prst="rect">
            <a:avLst/>
          </a:prstGeom>
        </p:spPr>
      </p:pic>
      <p:sp>
        <p:nvSpPr>
          <p:cNvPr id="7" name="Rectangle 6">
            <a:extLst>
              <a:ext uri="{FF2B5EF4-FFF2-40B4-BE49-F238E27FC236}">
                <a16:creationId xmlns:a16="http://schemas.microsoft.com/office/drawing/2014/main" id="{454F5AAE-68B6-4ADA-BF89-EC9B0323540A}"/>
              </a:ext>
            </a:extLst>
          </p:cNvPr>
          <p:cNvSpPr/>
          <p:nvPr/>
        </p:nvSpPr>
        <p:spPr>
          <a:xfrm>
            <a:off x="428624" y="5218093"/>
            <a:ext cx="8639176" cy="738664"/>
          </a:xfrm>
          <a:prstGeom prst="rect">
            <a:avLst/>
          </a:prstGeom>
        </p:spPr>
        <p:txBody>
          <a:bodyPr wrap="square">
            <a:spAutoFit/>
          </a:bodyPr>
          <a:lstStyle/>
          <a:p>
            <a:r>
              <a:rPr lang="en-US" dirty="0">
                <a:latin typeface="TimesNewRomanPSMT"/>
              </a:rPr>
              <a:t>After maintaining above all parameters click on Active Button.         So it will save automatically.</a:t>
            </a:r>
          </a:p>
          <a:p>
            <a:endParaRPr lang="en-US" dirty="0">
              <a:latin typeface="TimesNewRomanPSMT"/>
            </a:endParaRPr>
          </a:p>
          <a:p>
            <a:r>
              <a:rPr lang="en-US" dirty="0">
                <a:latin typeface="TimesNewRomanPSMT"/>
              </a:rPr>
              <a:t>Note: like above process you can create any number of profit centers as per client or project requirement.</a:t>
            </a:r>
            <a:endParaRPr lang="en-US" dirty="0"/>
          </a:p>
        </p:txBody>
      </p:sp>
      <p:pic>
        <p:nvPicPr>
          <p:cNvPr id="8" name="Picture 7">
            <a:extLst>
              <a:ext uri="{FF2B5EF4-FFF2-40B4-BE49-F238E27FC236}">
                <a16:creationId xmlns:a16="http://schemas.microsoft.com/office/drawing/2014/main" id="{7B7AE3E3-3625-48B3-B2FD-E1D1AD8955CD}"/>
              </a:ext>
            </a:extLst>
          </p:cNvPr>
          <p:cNvPicPr>
            <a:picLocks noChangeAspect="1"/>
          </p:cNvPicPr>
          <p:nvPr/>
        </p:nvPicPr>
        <p:blipFill>
          <a:blip r:embed="rId4"/>
          <a:stretch>
            <a:fillRect/>
          </a:stretch>
        </p:blipFill>
        <p:spPr>
          <a:xfrm flipH="1" flipV="1">
            <a:off x="5105400" y="4966605"/>
            <a:ext cx="228600" cy="719820"/>
          </a:xfrm>
          <a:prstGeom prst="rect">
            <a:avLst/>
          </a:prstGeom>
        </p:spPr>
      </p:pic>
    </p:spTree>
    <p:extLst>
      <p:ext uri="{BB962C8B-B14F-4D97-AF65-F5344CB8AC3E}">
        <p14:creationId xmlns:p14="http://schemas.microsoft.com/office/powerpoint/2010/main" val="11133984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352425" y="623888"/>
            <a:ext cx="2543175" cy="671512"/>
          </a:xfrm>
        </p:spPr>
        <p:txBody>
          <a:bodyPr/>
          <a:lstStyle/>
          <a:p>
            <a:pPr algn="ctr"/>
            <a:r>
              <a:rPr lang="en-US" sz="4000" b="0" dirty="0">
                <a:solidFill>
                  <a:schemeClr val="tx1"/>
                </a:solidFill>
                <a:effectLst/>
              </a:rPr>
              <a:t>Segments</a:t>
            </a:r>
            <a:endParaRPr lang="en-US" sz="1600" dirty="0">
              <a:solidFill>
                <a:schemeClr val="tx1"/>
              </a:solidFill>
              <a:effectLst/>
            </a:endParaRPr>
          </a:p>
        </p:txBody>
      </p:sp>
      <p:sp>
        <p:nvSpPr>
          <p:cNvPr id="37891" name="Rectangle 3"/>
          <p:cNvSpPr>
            <a:spLocks noGrp="1" noChangeArrowheads="1"/>
          </p:cNvSpPr>
          <p:nvPr>
            <p:ph type="body" idx="1"/>
          </p:nvPr>
        </p:nvSpPr>
        <p:spPr>
          <a:xfrm>
            <a:off x="381000" y="1219200"/>
            <a:ext cx="8382000" cy="4876800"/>
          </a:xfrm>
        </p:spPr>
        <p:txBody>
          <a:bodyPr/>
          <a:lstStyle/>
          <a:p>
            <a:endParaRPr lang="en-US" dirty="0">
              <a:effectLst/>
            </a:endParaRPr>
          </a:p>
          <a:p>
            <a:endParaRPr lang="en-US" sz="1800" kern="1200" dirty="0">
              <a:latin typeface="Arial" charset="0"/>
            </a:endParaRPr>
          </a:p>
        </p:txBody>
      </p:sp>
      <p:sp>
        <p:nvSpPr>
          <p:cNvPr id="2" name="Rectangle 1">
            <a:extLst>
              <a:ext uri="{FF2B5EF4-FFF2-40B4-BE49-F238E27FC236}">
                <a16:creationId xmlns:a16="http://schemas.microsoft.com/office/drawing/2014/main" id="{2FD47EE7-1FD3-4A6A-8F42-CB6EFD0306E3}"/>
              </a:ext>
            </a:extLst>
          </p:cNvPr>
          <p:cNvSpPr/>
          <p:nvPr/>
        </p:nvSpPr>
        <p:spPr>
          <a:xfrm>
            <a:off x="381000" y="1447800"/>
            <a:ext cx="8305800" cy="4462760"/>
          </a:xfrm>
          <a:prstGeom prst="rect">
            <a:avLst/>
          </a:prstGeom>
        </p:spPr>
        <p:txBody>
          <a:bodyPr wrap="square">
            <a:spAutoFit/>
          </a:bodyPr>
          <a:lstStyle/>
          <a:p>
            <a:r>
              <a:rPr lang="en-US" sz="1800" b="1" dirty="0"/>
              <a:t>Define Segment:</a:t>
            </a:r>
          </a:p>
          <a:p>
            <a:endParaRPr lang="en-US" sz="1800" dirty="0"/>
          </a:p>
          <a:p>
            <a:r>
              <a:rPr lang="en-US" sz="1800" dirty="0"/>
              <a:t>Division of a company for which you can create financial statements for external reporting.</a:t>
            </a:r>
          </a:p>
          <a:p>
            <a:endParaRPr lang="en-US" sz="1800" dirty="0"/>
          </a:p>
          <a:p>
            <a:r>
              <a:rPr lang="en-US" sz="1800" dirty="0"/>
              <a:t>You can enter a segment in the master record of a profit center. The characteristic Segment is only released in combination with the characteristic Profit Center. If no segment is specified manually during posting (only possible for transactions in Financial Accounting), the segment is determined from the master record of the profit center. This profit center can also be assigned manually or derived. If you want to apply different rules to derive the segment during posting, you can define your own rules for this.</a:t>
            </a:r>
            <a:r>
              <a:rPr lang="en-US" b="1" dirty="0"/>
              <a:t> </a:t>
            </a:r>
          </a:p>
          <a:p>
            <a:endParaRPr lang="en-US" b="1" dirty="0"/>
          </a:p>
          <a:p>
            <a:r>
              <a:rPr lang="en-US" sz="1800" dirty="0"/>
              <a:t>IAS requires for segment reporting primary and secondary segmentation, which have different reporting depth. A distinction is made between the following types of segment:</a:t>
            </a:r>
          </a:p>
        </p:txBody>
      </p:sp>
    </p:spTree>
    <p:extLst>
      <p:ext uri="{BB962C8B-B14F-4D97-AF65-F5344CB8AC3E}">
        <p14:creationId xmlns:p14="http://schemas.microsoft.com/office/powerpoint/2010/main" val="18610568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352425" y="623888"/>
            <a:ext cx="3305175" cy="671512"/>
          </a:xfrm>
        </p:spPr>
        <p:txBody>
          <a:bodyPr/>
          <a:lstStyle/>
          <a:p>
            <a:pPr algn="ctr"/>
            <a:r>
              <a:rPr lang="en-US" sz="4000" b="0" dirty="0">
                <a:solidFill>
                  <a:schemeClr val="tx1"/>
                </a:solidFill>
                <a:effectLst/>
              </a:rPr>
              <a:t>Segments  </a:t>
            </a:r>
            <a:r>
              <a:rPr lang="en-US" sz="1800" b="0" dirty="0">
                <a:solidFill>
                  <a:schemeClr val="tx1"/>
                </a:solidFill>
                <a:effectLst/>
              </a:rPr>
              <a:t>cont..</a:t>
            </a:r>
            <a:endParaRPr lang="en-US" sz="1800" dirty="0">
              <a:solidFill>
                <a:schemeClr val="tx1"/>
              </a:solidFill>
              <a:effectLst/>
            </a:endParaRPr>
          </a:p>
        </p:txBody>
      </p:sp>
      <p:sp>
        <p:nvSpPr>
          <p:cNvPr id="37891" name="Rectangle 3"/>
          <p:cNvSpPr>
            <a:spLocks noGrp="1" noChangeArrowheads="1"/>
          </p:cNvSpPr>
          <p:nvPr>
            <p:ph type="body" idx="1"/>
          </p:nvPr>
        </p:nvSpPr>
        <p:spPr>
          <a:xfrm>
            <a:off x="381000" y="1219200"/>
            <a:ext cx="8382000" cy="4876800"/>
          </a:xfrm>
        </p:spPr>
        <p:txBody>
          <a:bodyPr/>
          <a:lstStyle/>
          <a:p>
            <a:endParaRPr lang="en-US" dirty="0">
              <a:effectLst/>
            </a:endParaRPr>
          </a:p>
          <a:p>
            <a:endParaRPr lang="en-US" sz="1800" kern="1200" dirty="0">
              <a:latin typeface="Arial" charset="0"/>
            </a:endParaRPr>
          </a:p>
        </p:txBody>
      </p:sp>
      <p:sp>
        <p:nvSpPr>
          <p:cNvPr id="2" name="Rectangle 1">
            <a:extLst>
              <a:ext uri="{FF2B5EF4-FFF2-40B4-BE49-F238E27FC236}">
                <a16:creationId xmlns:a16="http://schemas.microsoft.com/office/drawing/2014/main" id="{2FD47EE7-1FD3-4A6A-8F42-CB6EFD0306E3}"/>
              </a:ext>
            </a:extLst>
          </p:cNvPr>
          <p:cNvSpPr/>
          <p:nvPr/>
        </p:nvSpPr>
        <p:spPr>
          <a:xfrm>
            <a:off x="381000" y="1447800"/>
            <a:ext cx="8305800" cy="4524315"/>
          </a:xfrm>
          <a:prstGeom prst="rect">
            <a:avLst/>
          </a:prstGeom>
        </p:spPr>
        <p:txBody>
          <a:bodyPr wrap="square">
            <a:spAutoFit/>
          </a:bodyPr>
          <a:lstStyle/>
          <a:p>
            <a:r>
              <a:rPr lang="en-US" sz="1800" b="1" dirty="0"/>
              <a:t>Business segment</a:t>
            </a:r>
          </a:p>
          <a:p>
            <a:r>
              <a:rPr lang="en-US" sz="1800" dirty="0"/>
              <a:t>A business segment is a distinguishable sub activity of a company that relates to the manufacture of a product or the provision of a service and that has risks and revenues that differ from those in other business segments.</a:t>
            </a:r>
          </a:p>
          <a:p>
            <a:endParaRPr lang="en-US" sz="1800" dirty="0"/>
          </a:p>
          <a:p>
            <a:r>
              <a:rPr lang="en-US" sz="1800" b="1" dirty="0"/>
              <a:t>Geographical segment</a:t>
            </a:r>
          </a:p>
          <a:p>
            <a:r>
              <a:rPr lang="en-US" sz="1800" dirty="0"/>
              <a:t>A geographical segment is a distinguishable sub activity of a company that relates to the manufacture of a product or the provision of a service within a specific field of business. The risks and revenues of a geographical segment differ from the sub activities in other fields of business.</a:t>
            </a:r>
          </a:p>
          <a:p>
            <a:endParaRPr lang="en-US" sz="1800" dirty="0"/>
          </a:p>
          <a:p>
            <a:r>
              <a:rPr lang="en-US" sz="1800" dirty="0"/>
              <a:t>You can choose which segment type you want to have as the primary or the secondary segmentation. You can use the Segment dimension for the primary segmentation. You can represent the secondary segmentation in your system. You can do this by including a user-defined field Region in your general ledger accounting, for example.</a:t>
            </a:r>
          </a:p>
        </p:txBody>
      </p:sp>
    </p:spTree>
    <p:extLst>
      <p:ext uri="{BB962C8B-B14F-4D97-AF65-F5344CB8AC3E}">
        <p14:creationId xmlns:p14="http://schemas.microsoft.com/office/powerpoint/2010/main" val="32299697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352425" y="623888"/>
            <a:ext cx="4067175" cy="671512"/>
          </a:xfrm>
        </p:spPr>
        <p:txBody>
          <a:bodyPr/>
          <a:lstStyle/>
          <a:p>
            <a:pPr algn="ctr"/>
            <a:r>
              <a:rPr lang="en-US" sz="4000" b="0" dirty="0">
                <a:solidFill>
                  <a:schemeClr val="tx1"/>
                </a:solidFill>
                <a:effectLst/>
              </a:rPr>
              <a:t>Segments  </a:t>
            </a:r>
            <a:r>
              <a:rPr lang="en-US" sz="1800" b="0" dirty="0">
                <a:solidFill>
                  <a:schemeClr val="tx1"/>
                </a:solidFill>
                <a:effectLst/>
              </a:rPr>
              <a:t>cont..</a:t>
            </a:r>
            <a:endParaRPr lang="en-US" sz="1800" dirty="0">
              <a:solidFill>
                <a:schemeClr val="tx1"/>
              </a:solidFill>
              <a:effectLst/>
            </a:endParaRPr>
          </a:p>
        </p:txBody>
      </p:sp>
      <p:sp>
        <p:nvSpPr>
          <p:cNvPr id="37891" name="Rectangle 3"/>
          <p:cNvSpPr>
            <a:spLocks noGrp="1" noChangeArrowheads="1"/>
          </p:cNvSpPr>
          <p:nvPr>
            <p:ph type="body" idx="1"/>
          </p:nvPr>
        </p:nvSpPr>
        <p:spPr>
          <a:xfrm>
            <a:off x="457200" y="1447800"/>
            <a:ext cx="8305800" cy="4648200"/>
          </a:xfrm>
        </p:spPr>
        <p:txBody>
          <a:bodyPr/>
          <a:lstStyle/>
          <a:p>
            <a:pPr>
              <a:spcBef>
                <a:spcPct val="0"/>
              </a:spcBef>
            </a:pPr>
            <a:r>
              <a:rPr lang="en-US" sz="1800" b="0" kern="1200" dirty="0">
                <a:latin typeface="Arial" charset="0"/>
              </a:rPr>
              <a:t>PATH: SPRO-&gt;Enterprise Structure-&gt;Definition-&gt;financial Accounting-&gt; Define Segment</a:t>
            </a:r>
          </a:p>
          <a:p>
            <a:pPr>
              <a:spcBef>
                <a:spcPct val="0"/>
              </a:spcBef>
            </a:pPr>
            <a:endParaRPr lang="en-US" sz="1800" b="0" kern="1200" dirty="0">
              <a:latin typeface="Arial" charset="0"/>
            </a:endParaRPr>
          </a:p>
          <a:p>
            <a:pPr>
              <a:spcBef>
                <a:spcPct val="0"/>
              </a:spcBef>
            </a:pPr>
            <a:r>
              <a:rPr lang="en-US" sz="1800" b="0" kern="1200" dirty="0">
                <a:latin typeface="Arial" charset="0"/>
              </a:rPr>
              <a:t>Click on IMG activity and click on New Entries in displayed window so it give following window.</a:t>
            </a:r>
          </a:p>
        </p:txBody>
      </p:sp>
      <p:sp>
        <p:nvSpPr>
          <p:cNvPr id="2" name="Rectangle 1">
            <a:extLst>
              <a:ext uri="{FF2B5EF4-FFF2-40B4-BE49-F238E27FC236}">
                <a16:creationId xmlns:a16="http://schemas.microsoft.com/office/drawing/2014/main" id="{2FD47EE7-1FD3-4A6A-8F42-CB6EFD0306E3}"/>
              </a:ext>
            </a:extLst>
          </p:cNvPr>
          <p:cNvSpPr/>
          <p:nvPr/>
        </p:nvSpPr>
        <p:spPr>
          <a:xfrm>
            <a:off x="381000" y="1447800"/>
            <a:ext cx="8305800" cy="369332"/>
          </a:xfrm>
          <a:prstGeom prst="rect">
            <a:avLst/>
          </a:prstGeom>
        </p:spPr>
        <p:txBody>
          <a:bodyPr wrap="square">
            <a:spAutoFit/>
          </a:bodyPr>
          <a:lstStyle/>
          <a:p>
            <a:endParaRPr lang="en-US" sz="1800" dirty="0"/>
          </a:p>
        </p:txBody>
      </p:sp>
      <p:pic>
        <p:nvPicPr>
          <p:cNvPr id="3" name="Picture 2">
            <a:extLst>
              <a:ext uri="{FF2B5EF4-FFF2-40B4-BE49-F238E27FC236}">
                <a16:creationId xmlns:a16="http://schemas.microsoft.com/office/drawing/2014/main" id="{5FDE960D-1EA9-4CE2-9368-CF681FAADF30}"/>
              </a:ext>
            </a:extLst>
          </p:cNvPr>
          <p:cNvPicPr>
            <a:picLocks noChangeAspect="1"/>
          </p:cNvPicPr>
          <p:nvPr/>
        </p:nvPicPr>
        <p:blipFill>
          <a:blip r:embed="rId3" cstate="print"/>
          <a:stretch>
            <a:fillRect/>
          </a:stretch>
        </p:blipFill>
        <p:spPr>
          <a:xfrm>
            <a:off x="4267200" y="2512262"/>
            <a:ext cx="1016925" cy="615048"/>
          </a:xfrm>
          <a:prstGeom prst="rect">
            <a:avLst/>
          </a:prstGeom>
        </p:spPr>
      </p:pic>
      <p:pic>
        <p:nvPicPr>
          <p:cNvPr id="4" name="Picture 3">
            <a:extLst>
              <a:ext uri="{FF2B5EF4-FFF2-40B4-BE49-F238E27FC236}">
                <a16:creationId xmlns:a16="http://schemas.microsoft.com/office/drawing/2014/main" id="{D5B37CEC-B667-4038-82CD-62F54FDB874E}"/>
              </a:ext>
            </a:extLst>
          </p:cNvPr>
          <p:cNvPicPr>
            <a:picLocks noChangeAspect="1"/>
          </p:cNvPicPr>
          <p:nvPr/>
        </p:nvPicPr>
        <p:blipFill>
          <a:blip r:embed="rId4" cstate="print"/>
          <a:stretch>
            <a:fillRect/>
          </a:stretch>
        </p:blipFill>
        <p:spPr>
          <a:xfrm>
            <a:off x="856050" y="3279710"/>
            <a:ext cx="5163750" cy="2511490"/>
          </a:xfrm>
          <a:prstGeom prst="rect">
            <a:avLst/>
          </a:prstGeom>
        </p:spPr>
      </p:pic>
      <p:sp>
        <p:nvSpPr>
          <p:cNvPr id="5" name="Rectangle 4">
            <a:extLst>
              <a:ext uri="{FF2B5EF4-FFF2-40B4-BE49-F238E27FC236}">
                <a16:creationId xmlns:a16="http://schemas.microsoft.com/office/drawing/2014/main" id="{36374656-A338-4D5C-9653-EEE263FC7631}"/>
              </a:ext>
            </a:extLst>
          </p:cNvPr>
          <p:cNvSpPr/>
          <p:nvPr/>
        </p:nvSpPr>
        <p:spPr>
          <a:xfrm>
            <a:off x="712124" y="6007951"/>
            <a:ext cx="7822275" cy="523220"/>
          </a:xfrm>
          <a:prstGeom prst="rect">
            <a:avLst/>
          </a:prstGeom>
        </p:spPr>
        <p:txBody>
          <a:bodyPr wrap="square">
            <a:spAutoFit/>
          </a:bodyPr>
          <a:lstStyle/>
          <a:p>
            <a:r>
              <a:rPr lang="en-US" dirty="0">
                <a:latin typeface="TimesNewRomanPSMT"/>
              </a:rPr>
              <a:t>Now click save button and click on back button to go back to SPRO screen.</a:t>
            </a:r>
          </a:p>
          <a:p>
            <a:endParaRPr lang="en-US" dirty="0"/>
          </a:p>
        </p:txBody>
      </p:sp>
    </p:spTree>
    <p:extLst>
      <p:ext uri="{BB962C8B-B14F-4D97-AF65-F5344CB8AC3E}">
        <p14:creationId xmlns:p14="http://schemas.microsoft.com/office/powerpoint/2010/main" val="1418198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352425" y="623888"/>
            <a:ext cx="4067175" cy="671512"/>
          </a:xfrm>
        </p:spPr>
        <p:txBody>
          <a:bodyPr/>
          <a:lstStyle/>
          <a:p>
            <a:pPr algn="ctr"/>
            <a:r>
              <a:rPr lang="en-US" sz="4000" b="0" dirty="0">
                <a:solidFill>
                  <a:schemeClr val="tx1"/>
                </a:solidFill>
                <a:effectLst/>
              </a:rPr>
              <a:t>Segments  </a:t>
            </a:r>
            <a:r>
              <a:rPr lang="en-US" sz="1800" b="0" dirty="0">
                <a:solidFill>
                  <a:schemeClr val="tx1"/>
                </a:solidFill>
                <a:effectLst/>
              </a:rPr>
              <a:t>cont..</a:t>
            </a:r>
            <a:endParaRPr lang="en-US" sz="1800" dirty="0">
              <a:solidFill>
                <a:schemeClr val="tx1"/>
              </a:solidFill>
              <a:effectLst/>
            </a:endParaRPr>
          </a:p>
        </p:txBody>
      </p:sp>
      <p:sp>
        <p:nvSpPr>
          <p:cNvPr id="37891" name="Rectangle 3"/>
          <p:cNvSpPr>
            <a:spLocks noGrp="1" noChangeArrowheads="1"/>
          </p:cNvSpPr>
          <p:nvPr>
            <p:ph type="body" idx="1"/>
          </p:nvPr>
        </p:nvSpPr>
        <p:spPr>
          <a:xfrm>
            <a:off x="457200" y="1447800"/>
            <a:ext cx="8305800" cy="4648200"/>
          </a:xfrm>
        </p:spPr>
        <p:txBody>
          <a:bodyPr/>
          <a:lstStyle/>
          <a:p>
            <a:pPr>
              <a:spcBef>
                <a:spcPct val="0"/>
              </a:spcBef>
            </a:pPr>
            <a:r>
              <a:rPr lang="en-US" sz="1800" b="0" kern="1200" dirty="0">
                <a:latin typeface="Arial" charset="0"/>
              </a:rPr>
              <a:t>PATH: SPRO-&gt;Enterprise Structure-&gt;Definition-&gt;financial Accounting-&gt; Define Segment</a:t>
            </a:r>
          </a:p>
          <a:p>
            <a:pPr>
              <a:spcBef>
                <a:spcPct val="0"/>
              </a:spcBef>
            </a:pPr>
            <a:endParaRPr lang="en-US" sz="1800" b="0" kern="1200" dirty="0">
              <a:latin typeface="Arial" charset="0"/>
            </a:endParaRPr>
          </a:p>
          <a:p>
            <a:pPr>
              <a:spcBef>
                <a:spcPct val="0"/>
              </a:spcBef>
            </a:pPr>
            <a:r>
              <a:rPr lang="en-US" sz="1800" b="0" kern="1200" dirty="0">
                <a:latin typeface="Arial" charset="0"/>
              </a:rPr>
              <a:t>Click on IMG activity and click on New Entries in displayed window so it give following window.</a:t>
            </a:r>
          </a:p>
        </p:txBody>
      </p:sp>
      <p:sp>
        <p:nvSpPr>
          <p:cNvPr id="2" name="Rectangle 1">
            <a:extLst>
              <a:ext uri="{FF2B5EF4-FFF2-40B4-BE49-F238E27FC236}">
                <a16:creationId xmlns:a16="http://schemas.microsoft.com/office/drawing/2014/main" id="{2FD47EE7-1FD3-4A6A-8F42-CB6EFD0306E3}"/>
              </a:ext>
            </a:extLst>
          </p:cNvPr>
          <p:cNvSpPr/>
          <p:nvPr/>
        </p:nvSpPr>
        <p:spPr>
          <a:xfrm>
            <a:off x="381000" y="1447800"/>
            <a:ext cx="8305800" cy="369332"/>
          </a:xfrm>
          <a:prstGeom prst="rect">
            <a:avLst/>
          </a:prstGeom>
        </p:spPr>
        <p:txBody>
          <a:bodyPr wrap="square">
            <a:spAutoFit/>
          </a:bodyPr>
          <a:lstStyle/>
          <a:p>
            <a:endParaRPr lang="en-US" sz="1800" dirty="0"/>
          </a:p>
        </p:txBody>
      </p:sp>
      <p:pic>
        <p:nvPicPr>
          <p:cNvPr id="3" name="Picture 2">
            <a:extLst>
              <a:ext uri="{FF2B5EF4-FFF2-40B4-BE49-F238E27FC236}">
                <a16:creationId xmlns:a16="http://schemas.microsoft.com/office/drawing/2014/main" id="{5FDE960D-1EA9-4CE2-9368-CF681FAADF30}"/>
              </a:ext>
            </a:extLst>
          </p:cNvPr>
          <p:cNvPicPr>
            <a:picLocks noChangeAspect="1"/>
          </p:cNvPicPr>
          <p:nvPr/>
        </p:nvPicPr>
        <p:blipFill>
          <a:blip r:embed="rId3" cstate="print"/>
          <a:stretch>
            <a:fillRect/>
          </a:stretch>
        </p:blipFill>
        <p:spPr>
          <a:xfrm>
            <a:off x="4267200" y="2512262"/>
            <a:ext cx="1016925" cy="615048"/>
          </a:xfrm>
          <a:prstGeom prst="rect">
            <a:avLst/>
          </a:prstGeom>
        </p:spPr>
      </p:pic>
      <p:pic>
        <p:nvPicPr>
          <p:cNvPr id="4" name="Picture 3">
            <a:extLst>
              <a:ext uri="{FF2B5EF4-FFF2-40B4-BE49-F238E27FC236}">
                <a16:creationId xmlns:a16="http://schemas.microsoft.com/office/drawing/2014/main" id="{D5B37CEC-B667-4038-82CD-62F54FDB874E}"/>
              </a:ext>
            </a:extLst>
          </p:cNvPr>
          <p:cNvPicPr>
            <a:picLocks noChangeAspect="1"/>
          </p:cNvPicPr>
          <p:nvPr/>
        </p:nvPicPr>
        <p:blipFill>
          <a:blip r:embed="rId4" cstate="print"/>
          <a:stretch>
            <a:fillRect/>
          </a:stretch>
        </p:blipFill>
        <p:spPr>
          <a:xfrm>
            <a:off x="856050" y="3279710"/>
            <a:ext cx="5163750" cy="2511490"/>
          </a:xfrm>
          <a:prstGeom prst="rect">
            <a:avLst/>
          </a:prstGeom>
        </p:spPr>
      </p:pic>
      <p:sp>
        <p:nvSpPr>
          <p:cNvPr id="5" name="Rectangle 4">
            <a:extLst>
              <a:ext uri="{FF2B5EF4-FFF2-40B4-BE49-F238E27FC236}">
                <a16:creationId xmlns:a16="http://schemas.microsoft.com/office/drawing/2014/main" id="{36374656-A338-4D5C-9653-EEE263FC7631}"/>
              </a:ext>
            </a:extLst>
          </p:cNvPr>
          <p:cNvSpPr/>
          <p:nvPr/>
        </p:nvSpPr>
        <p:spPr>
          <a:xfrm>
            <a:off x="712124" y="6007951"/>
            <a:ext cx="7822275" cy="523220"/>
          </a:xfrm>
          <a:prstGeom prst="rect">
            <a:avLst/>
          </a:prstGeom>
        </p:spPr>
        <p:txBody>
          <a:bodyPr wrap="square">
            <a:spAutoFit/>
          </a:bodyPr>
          <a:lstStyle/>
          <a:p>
            <a:r>
              <a:rPr lang="en-US" dirty="0">
                <a:latin typeface="TimesNewRomanPSMT"/>
              </a:rPr>
              <a:t>Now click save button and click on back button to go back to SPRO screen.</a:t>
            </a:r>
          </a:p>
          <a:p>
            <a:endParaRPr lang="en-US" dirty="0"/>
          </a:p>
        </p:txBody>
      </p:sp>
    </p:spTree>
    <p:extLst>
      <p:ext uri="{BB962C8B-B14F-4D97-AF65-F5344CB8AC3E}">
        <p14:creationId xmlns:p14="http://schemas.microsoft.com/office/powerpoint/2010/main" val="36942691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sz="4000">
                <a:effectLst/>
              </a:rPr>
              <a:t>Help me</a:t>
            </a:r>
          </a:p>
        </p:txBody>
      </p:sp>
      <p:sp>
        <p:nvSpPr>
          <p:cNvPr id="56323" name="Rectangle 3"/>
          <p:cNvSpPr>
            <a:spLocks noGrp="1" noChangeArrowheads="1"/>
          </p:cNvSpPr>
          <p:nvPr>
            <p:ph type="body" idx="1"/>
          </p:nvPr>
        </p:nvSpPr>
        <p:spPr>
          <a:xfrm>
            <a:off x="381000" y="1828800"/>
            <a:ext cx="8382000" cy="4191000"/>
          </a:xfrm>
        </p:spPr>
        <p:txBody>
          <a:bodyPr/>
          <a:lstStyle/>
          <a:p>
            <a:pPr indent="-231775" algn="ctr">
              <a:buFontTx/>
              <a:buNone/>
            </a:pPr>
            <a:r>
              <a:rPr lang="en-US" sz="1800">
                <a:effectLst/>
              </a:rPr>
              <a:t>Tips and Tricks</a:t>
            </a:r>
          </a:p>
          <a:p>
            <a:pPr indent="-231775">
              <a:buFontTx/>
              <a:buNone/>
            </a:pPr>
            <a:r>
              <a:rPr lang="en-US" sz="1800" b="0">
                <a:effectLst/>
              </a:rPr>
              <a:t>List of sites where SAP functional &amp; help documentation is available:</a:t>
            </a:r>
          </a:p>
          <a:p>
            <a:pPr indent="-231775"/>
            <a:r>
              <a:rPr lang="en-US" sz="1800">
                <a:effectLst/>
                <a:hlinkClick r:id="rId2"/>
              </a:rPr>
              <a:t>http://help.sap.com/saphelp_47x200/helpdata/en/e1/8e51341a06084de10000009b38f83b/frameset.htm/</a:t>
            </a:r>
            <a:r>
              <a:rPr lang="en-US" sz="1800" b="0">
                <a:effectLst/>
              </a:rPr>
              <a:t> provides detailed help on R/3 core modules.</a:t>
            </a:r>
          </a:p>
          <a:p>
            <a:pPr indent="-231775"/>
            <a:r>
              <a:rPr lang="en-US" sz="1800" b="0">
                <a:effectLst/>
              </a:rPr>
              <a:t>Sap releases notes and updates on various functionalities which are available at </a:t>
            </a:r>
            <a:r>
              <a:rPr lang="en-US" sz="1800">
                <a:effectLst/>
                <a:hlinkClick r:id="rId3"/>
              </a:rPr>
              <a:t>https://websmp209.sap-ag.de/</a:t>
            </a:r>
            <a:r>
              <a:rPr lang="en-US" sz="1800" b="0">
                <a:effectLst/>
              </a:rPr>
              <a:t> (sap market place) site of SAP.</a:t>
            </a:r>
          </a:p>
          <a:p>
            <a:pPr indent="-231775"/>
            <a:r>
              <a:rPr lang="en-US" sz="1800" b="0">
                <a:effectLst/>
              </a:rPr>
              <a:t>OSS login: Each SAP corporate client is provided with login for</a:t>
            </a:r>
          </a:p>
          <a:p>
            <a:pPr indent="-231775">
              <a:buFontTx/>
              <a:buNone/>
            </a:pPr>
            <a:r>
              <a:rPr lang="en-US" sz="1800" b="0">
                <a:effectLst/>
              </a:rPr>
              <a:t>	support and maintenance to </a:t>
            </a:r>
            <a:r>
              <a:rPr lang="en-US" sz="1800">
                <a:effectLst/>
                <a:hlinkClick r:id="rId3"/>
              </a:rPr>
              <a:t>https://websmp209.sap-ag.de/</a:t>
            </a:r>
            <a:r>
              <a:rPr lang="en-US" sz="1800" b="0">
                <a:effectLst/>
              </a:rPr>
              <a:t> sap service marketplace site by SAP.  Any critical issues with respect to specific application can be discussed with SAP itself through OSS login.</a:t>
            </a:r>
          </a:p>
          <a:p>
            <a:pPr indent="-231775"/>
            <a:r>
              <a:rPr lang="en-US" sz="1800" b="0">
                <a:effectLst/>
              </a:rPr>
              <a:t>Various other sites storing SAP information are </a:t>
            </a:r>
            <a:r>
              <a:rPr lang="en-US" sz="1800">
                <a:effectLst/>
                <a:hlinkClick r:id="rId4"/>
              </a:rPr>
              <a:t>http://erpgenie.com/</a:t>
            </a:r>
            <a:r>
              <a:rPr lang="en-US" sz="1800">
                <a:effectLst/>
              </a:rPr>
              <a:t> ; </a:t>
            </a:r>
            <a:r>
              <a:rPr lang="en-US" sz="1800">
                <a:effectLst/>
                <a:hlinkClick r:id="rId5"/>
              </a:rPr>
              <a:t>http://www.sapfans.com/</a:t>
            </a:r>
            <a:r>
              <a:rPr lang="en-US" sz="1800">
                <a:effectLst/>
              </a:rPr>
              <a:t> </a:t>
            </a:r>
          </a:p>
        </p:txBody>
      </p:sp>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CFFFF">
            <a:alpha val="50000"/>
          </a:srgbClr>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rgbClr val="CCFFFF">
            <a:alpha val="50000"/>
          </a:srgbClr>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2940159531F9840AD110D230F87C98E" ma:contentTypeVersion="0" ma:contentTypeDescription="Create a new document." ma:contentTypeScope="" ma:versionID="0f60984163e91ec47d50b5e84dfa9869">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EFA2E84-CFE6-45A1-995F-900B1651E4B2}">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773B0EF5-C401-4E4C-A570-A31C9AFF0D89}">
  <ds:schemaRefs>
    <ds:schemaRef ds:uri="http://schemas.microsoft.com/sharepoint/v3/contenttype/forms"/>
  </ds:schemaRefs>
</ds:datastoreItem>
</file>

<file path=customXml/itemProps3.xml><?xml version="1.0" encoding="utf-8"?>
<ds:datastoreItem xmlns:ds="http://schemas.openxmlformats.org/officeDocument/2006/customXml" ds:itemID="{D319804A-AF66-4F3B-AFAC-3E1E6DD87A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6282</TotalTime>
  <Words>2425</Words>
  <Application>Microsoft Office PowerPoint</Application>
  <PresentationFormat>On-screen Show (4:3)</PresentationFormat>
  <Paragraphs>294</Paragraphs>
  <Slides>25</Slides>
  <Notes>22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25</vt:i4>
      </vt:variant>
    </vt:vector>
  </HeadingPairs>
  <TitlesOfParts>
    <vt:vector size="34" baseType="lpstr">
      <vt:lpstr>Arial</vt:lpstr>
      <vt:lpstr>Symbol</vt:lpstr>
      <vt:lpstr>Times New Roman</vt:lpstr>
      <vt:lpstr>Times New Roman (Arabic)</vt:lpstr>
      <vt:lpstr>TimesNewRomanPSMT</vt:lpstr>
      <vt:lpstr>Wingdings</vt:lpstr>
      <vt:lpstr>Default Design</vt:lpstr>
      <vt:lpstr>Worksheet</vt:lpstr>
      <vt:lpstr>Microsoft ClipArt Gallery</vt:lpstr>
      <vt:lpstr>PowerPoint Presentation</vt:lpstr>
      <vt:lpstr>Overview </vt:lpstr>
      <vt:lpstr>Use</vt:lpstr>
      <vt:lpstr>Chart of Accounts</vt:lpstr>
      <vt:lpstr>Define Chart of Accounts-Transaction Code – OB13</vt:lpstr>
      <vt:lpstr>Chart of Accounts…Contd</vt:lpstr>
      <vt:lpstr>General Ledger Account Groups</vt:lpstr>
      <vt:lpstr>GL Master Data</vt:lpstr>
      <vt:lpstr>G/L Master Data</vt:lpstr>
      <vt:lpstr>GL Account Groups</vt:lpstr>
      <vt:lpstr>FI-SL: Assignment of GL accounts  to Group Accounts-Transaction Code FS00</vt:lpstr>
      <vt:lpstr>GL Account Master Record</vt:lpstr>
      <vt:lpstr>More Information On General Ledger  Master Data </vt:lpstr>
      <vt:lpstr>More Information On General Ledger  Master Data </vt:lpstr>
      <vt:lpstr>Accounts in the General Ledger</vt:lpstr>
      <vt:lpstr>Accounts in the General Ledger…Contd</vt:lpstr>
      <vt:lpstr>Accounts in the General Ledger…Contd</vt:lpstr>
      <vt:lpstr>PROFIT CENTER :</vt:lpstr>
      <vt:lpstr>PROFIT CENTER Cont..</vt:lpstr>
      <vt:lpstr>PROFIT CENTER Cont..</vt:lpstr>
      <vt:lpstr>Segments</vt:lpstr>
      <vt:lpstr>Segments  cont..</vt:lpstr>
      <vt:lpstr>Segments  cont..</vt:lpstr>
      <vt:lpstr>Segments  cont..</vt:lpstr>
      <vt:lpstr>Help 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 SAP CoE</dc:title>
  <dc:subject>Training User Manual-FI</dc:subject>
  <dc:creator>Prashant Deshmukh</dc:creator>
  <cp:lastModifiedBy>Pratap Reddy</cp:lastModifiedBy>
  <cp:revision>819</cp:revision>
  <cp:lastPrinted>1998-05-07T19:57:38Z</cp:lastPrinted>
  <dcterms:created xsi:type="dcterms:W3CDTF">1998-04-30T19:10:22Z</dcterms:created>
  <dcterms:modified xsi:type="dcterms:W3CDTF">2018-02-05T07:29:09Z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0x01010002940159531F9840AD110D230F87C98E</vt:lpwstr>
  </property>
</Properties>
</file>